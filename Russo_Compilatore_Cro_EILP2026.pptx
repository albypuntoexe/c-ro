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89" r:id="rId14"/>
    <p:sldId id="290" r:id="rId15"/>
    <p:sldId id="267" r:id="rId16"/>
    <p:sldId id="268" r:id="rId17"/>
    <p:sldId id="270" r:id="rId18"/>
    <p:sldId id="271" r:id="rId19"/>
    <p:sldId id="272" r:id="rId20"/>
    <p:sldId id="273" r:id="rId21"/>
    <p:sldId id="274" r:id="rId22"/>
    <p:sldId id="275" r:id="rId23"/>
    <p:sldId id="288" r:id="rId24"/>
    <p:sldId id="276" r:id="rId25"/>
    <p:sldId id="291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58" y="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2415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Buongiorno Professore, sono Alberto Russo. Oggi le presento il mio Progetto A per il corso EILP: il compilatore per il linguaggio C-ro. C-ro è un sottoinsieme del linguaggio C, ma con una particolarità: utilizza parole chiave ispirate al dialetto napoletano.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compilatore è interamente scritto in Python in un unico file di circa 1130 righe. La sua architettura segue una pipeline classica in 5 fasi: Lexer e Parser tramite la libreria Lark, costruzione dell'AST, analisi semantica per scoping e type-checking, generazione del codice tramite Visitor pattern, output in C standard compilabile con gcc.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il parsing ho scelto l'algoritmo Earley rispetto a LALR(1). Questa scelta mi ha permesso di risolvere nativamente l'ambiguità del dangling else senza dover stravolgere la grammatica.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 notare che ppe (for) non è usato nella calcolatrice — per varietà, si potrebbe menzionare che è comunque testato in test_suite.py (test_for).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Spiegare la 'grammatica a strati': ogni livello di precedenza è una regola che chiama solo il livello immediatamente sottostante, garantendo precedenza corretta senza ambiguità e senza bisogno di dichiarazioni esplicite di precedenza (diversamente da yacc/bison). Il prefisso ? non è usato su assign_expr per evitare conflitti con gli alias (commento esplicito a riga 124 del 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deviazione importante che ho dovuto fare rispetto alle specifiche iniziali è stata l'introduzione dell'operatore unario &amp; (indirizzo). Senza questo, la funzione di input scanef non avrebbe potuto comportarsi come la scanf del C, rendendo impossibile scrivere programmi interattivi reali.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 scelto di implementare i nodi dell'AST come @dataclass di Python. Questa scelta rende i nodi dei semplici contenitori di dati privi di logica, delegando tutto il lavoro intelligente alle fasi successive e riducendo drasticamente il codice boilerplate.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L'analizzatore semantico si occupa dello scoping e del type checking. Lo scoping è gestito con una catena di tabelle dei simboli. A differenza della specifica originale, ho deciso che ogni blocco {} apre un nuovo scope, replicando esattamente il comportamento del C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Spiegare il motivo dell'eccezione per il corpo diretto della funzione: parametri formali e variabili locali di primo livello condividono lo stesso ambiente, evitando un livello di annidamento ridondante (altrimenti un parametro e una variabile locale dichiarati con lo stesso nome non darebbero errore, il che sarebbe contro-intuitivo). Mostrare l'esempio: if in un ramo e else nell'altro possono avere variabili omonime senza conflitto, perché sono in scope distinti.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47AE9-2370-1EE1-3DCA-C00EFE7C0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F1E04A-BE64-700B-CB34-1564F1012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6D4B96-51FE-346C-518E-D0FC001AA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deviazione importante che ho dovuto fare rispetto alle specifiche iniziali è stata l'introduzione dell'operatore unario &amp; (indirizzo). Senza questo, la funzione di input scanef non avrebbe potuto comportarsi come la scanf del C, rendendo impossibile scrivere programmi interattivi reali.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40AB7-0DC1-932F-3204-E1761B8562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441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scelta di cui vado fiero è l'error reporting: il compilatore non si ferma al primo errore, ma analizza tutto l'AST e accumula gli errori per fornire un report completo allo sviluppatore.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 preparato un file errore.cro che contiene 9 errori semantici intenzionali, uno per ogni categoria. Mostrare come il compilatore stampi in un colpo solo tutte le righe di errore.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Utilizzo il Visitor Pattern con riflessione tramite getattr. Questo mi evita di scrivere lunghi switch o metodi accept nei nodi.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risolvere il problema dell'indentazione del codice C (che rischiava di raddoppiarsi nei cicli annidati), ho implementato un sistema di indentazione relativa: ogni blocco si formatta da solo partendo da colonna 0, e viene poi traslato rigidamente dal nodo chiamante.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Adesso le mostro la compilazione del programma obbligatorio: la Calcolatrice. Fai una rapida interazione: 1 per sommare, metti due numeri, poi digita 0 per uscire.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garantire la robustezza del compilatore ho scritto una suite automatizzata in test_suite.py. Lanciare il comando e lasciare scorrere l'output verde dei test superati.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conclusione, il compilatore copre pienamente le specifiche richieste. Tra le limitazioni note, in coerenza con la complessità del progetto, mancano gli array, le struct e l'allocazione dinamica della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 discusso nella Relazione sull'AI, l'uso degli LLM mi è stato utilissimo come 'tutor' per esplorare conflitti di grammatica e velocizzare la scrittura dei test e del boilerplate, ma ho personalmente verificato ed eseguito ogni logica semantica e regola di parsing. Vi ringrazio per l'attenzione, sono a disposizione per le domande!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18288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0" b="1" dirty="0">
                <a:solidFill>
                  <a:srgbClr val="18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C-ro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Compilatore C-ro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sottoinsieme del C con parole chiave in dialetto napoletano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Russo Alberto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Matricola 0512119718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Prof. Gennaro Costagliola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Elementi di Ingegneria dei Linguaggi di Programmazione — A.A. 2025/26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Cos'è C-ro?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93B"/>
                </a:solidFill>
              </a:rPr>
              <a:t>C-ro è un sottoinsieme del linguaggio C con sintassi in dialetto napoletano.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3931920" cy="3383282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standard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nummero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carattere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114800" cy="3383282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standard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s'invece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Architettura: Pipeline in 5 Fasi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22376" y="1188720"/>
            <a:ext cx="822960" cy="8229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22376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81912" y="1591056"/>
            <a:ext cx="4206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20040" y="21031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Lexer + Parser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48716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Lark — algoritmo Earley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1188720"/>
            <a:ext cx="822960" cy="8229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441448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00984" y="1591056"/>
            <a:ext cx="4206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039112" y="21031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Costruzione AST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39112" y="248716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CroTransformer (bottom-up)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1188720"/>
            <a:ext cx="822960" cy="8229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16052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20056" y="1591056"/>
            <a:ext cx="4206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758184" y="21031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Analisi Semantica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58184" y="248716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Scoping + Type Checking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79592" y="1188720"/>
            <a:ext cx="822960" cy="8229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879592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739128" y="1591056"/>
            <a:ext cx="4206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477256" y="21031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Generazione Codice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77256" y="248716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Visitor Pattern con riflessione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98664" y="118872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598664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96328" y="21031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C Standard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96328" y="248716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Compilabile con gcc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91440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</a:rPr>
              <a:t>Sorgente .cro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91440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Codice C standard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~1130 righe di Python  ·  unico file compilatore_cro.py  ·  libreria: Lark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Esempio: C-ro vs C standard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</a:rPr>
              <a:t>C-ro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</a:rPr>
              <a:t>C standard (output del compilatore)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funzion nummero doppio(nummero x)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torn x + 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nummero capo()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nummero n = 5;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stambf("Doppio di %d: %d\n",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n, doppio(n));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torn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892040" y="137160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&lt;stdbool.h&gt;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doppio(int x)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 + 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n = 5;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printf("Doppio di %d: %d\n",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n, doppio(n));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0B981"/>
                </a:solidFill>
              </a:rPr>
              <a:t>Output: Doppio di 5: 10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del Progetto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4747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compilatore_cro.py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Compilatore completo (lexer, parser, AST, semantica, codegen) — ~1130 righe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calcolatrice.cro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Programma di test obbligatorio: calcolatrice a menu interattivo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test_suite.py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 di 43 test automatizzati (unitari + integrazione end-to-end)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errore.cro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di test negativo: 9 errori semantici intenzionali (uno per categoria)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README.md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Guida all'installazione, uso e dipendenze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Dipendenza unica: pip install lark   ·   Opzionale: gcc (test integrazione)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Completo delle Keyword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Tipi &amp; Costanti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99032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int → nummero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float → comm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char → carattere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bool → bull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void → a vacant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true → over / false → favz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892040" y="10515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Controllo &amp; Cicli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399032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if → si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else → s'invece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else if → else if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while → trament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for → ppe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do → faje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switch → facimm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case → cas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Funzioni &amp; I/O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364992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main → capo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function → funzion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return → torn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printf → stambf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scanf → scanef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892040" y="30175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Operatori Logici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364992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and → 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or → 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not → non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break → spacc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continue → vaje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D34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Grammatica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A5E9"/>
                </a:solidFill>
              </a:rPr>
              <a:t>Slide 7 – 14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Scelta dell'Algoritmo: Earley vs LALR(1)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2004294"/>
          </a:xfrm>
          <a:prstGeom prst="roundRect">
            <a:avLst>
              <a:gd name="adj" fmla="val 270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</a:rPr>
              <a:t>✓ Earley (scelto)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Gestisce grammatiche ambigue nativamente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Risolve il dangling else senza riscrivere la grammatica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ambiguity='resolve' → s'invece si associa al si più vicino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Supporto nativo per grammatiche context-free generali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2004294"/>
          </a:xfrm>
          <a:prstGeom prst="roundRect">
            <a:avLst>
              <a:gd name="adj" fmla="val 2703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80060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</a:rPr>
              <a:t>✗ LALR(1) (scartato)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14630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Richiederebbe eliminare il dangling else dalla grammatica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Grammatica più complessa e meno leggibile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Conflitti shift/reduce da risolvere manualmente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C088284-402C-7E80-95FC-E8D5E39BE1EB}"/>
              </a:ext>
            </a:extLst>
          </p:cNvPr>
          <p:cNvSpPr/>
          <p:nvPr/>
        </p:nvSpPr>
        <p:spPr>
          <a:xfrm>
            <a:off x="2525151" y="3086100"/>
            <a:ext cx="4058529" cy="1856232"/>
          </a:xfrm>
          <a:prstGeom prst="roundRect">
            <a:avLst>
              <a:gd name="adj" fmla="val 3636"/>
            </a:avLst>
          </a:prstGeom>
          <a:solidFill>
            <a:srgbClr val="0E1320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24D7CB8-F67B-6385-919C-30316AC6141F}"/>
              </a:ext>
            </a:extLst>
          </p:cNvPr>
          <p:cNvSpPr/>
          <p:nvPr/>
        </p:nvSpPr>
        <p:spPr>
          <a:xfrm>
            <a:off x="2753751" y="31958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compilatore_cro.py · riga 921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DFF59B2-A095-EC18-3A9D-1B8C79C75FC1}"/>
              </a:ext>
            </a:extLst>
          </p:cNvPr>
          <p:cNvSpPr/>
          <p:nvPr/>
        </p:nvSpPr>
        <p:spPr>
          <a:xfrm>
            <a:off x="2753751" y="3497580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build_parser() -&gt; Lark: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Lark(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GRAMMATICA_CRO,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parser='earley',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ambiguity='resolve',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 del Dangling Else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93B"/>
                </a:solidFill>
              </a:rPr>
              <a:t>Un s'invece a quale si appartiene?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572000" cy="2057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(a &gt; 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 (b &gt; 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stambf("entrambi positivi\n");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s'invece           ← a quale 'si' appartiene?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stambf("ramo else\n");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208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Soluzione con Earley + ambiguity='resolve'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783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Il s'invece si associa al si più vicino (comportamento standard C)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Nessuna riscrittura della grammatica necessaria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Regole ausiliarie introdotte per i vincoli di Lark: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12080" y="329184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349240" y="33832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if_stmt: "si" "(" expr ")" statement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elif_clause* else_clause?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elif_clause: "else" "if" "(" expr ")" statement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else_clause: "s'invece" statement</a:t>
            </a:r>
            <a:endParaRPr lang="en-US" sz="11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198952CA-064A-9590-5DFE-7C1491C5A438}"/>
              </a:ext>
            </a:extLst>
          </p:cNvPr>
          <p:cNvSpPr/>
          <p:nvPr/>
        </p:nvSpPr>
        <p:spPr>
          <a:xfrm>
            <a:off x="66822" y="4050792"/>
            <a:ext cx="4364501" cy="973836"/>
          </a:xfrm>
          <a:prstGeom prst="roundRect">
            <a:avLst>
              <a:gd name="adj" fmla="val 4324"/>
            </a:avLst>
          </a:prstGeom>
          <a:solidFill>
            <a:srgbClr val="FDEC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CA36713-D95A-05AB-20B5-AEDEF14A2B9B}"/>
              </a:ext>
            </a:extLst>
          </p:cNvPr>
          <p:cNvSpPr/>
          <p:nvPr/>
        </p:nvSpPr>
        <p:spPr>
          <a:xfrm>
            <a:off x="295422" y="4050792"/>
            <a:ext cx="40797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elif_clause E else_clause SONO REGOLE SEPARATE</a:t>
            </a:r>
            <a:endParaRPr lang="en-US" sz="105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7688233A-F9B3-CC6F-2362-097271BBA590}"/>
              </a:ext>
            </a:extLst>
          </p:cNvPr>
          <p:cNvSpPr/>
          <p:nvPr/>
        </p:nvSpPr>
        <p:spPr>
          <a:xfrm>
            <a:off x="295422" y="4389120"/>
            <a:ext cx="40797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scrittura </a:t>
            </a:r>
            <a:r>
              <a:rPr lang="en-US" sz="1050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diretta</a:t>
            </a:r>
            <a:r>
              <a:rPr lang="en-US" sz="1050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(KW_ELSEIF ... statement)* non è supportata da Lark quando combinata con un gruppo opzionale adiacente: genera un conflitto interno “Rules defined twice”. 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Adattamenti ai Vincoli di Lark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</a:rPr>
              <a:t>Lark non supporta gruppi ripetuti multi-simbolo nella stessa regola → regole ausiliarie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Grammatica originale (non funziona)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Lark genera "Rules defined twice":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if_stmt: KW_IF LPAR expr RPAR statement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(KW_ELSEIF LPAR expr RPAR statement)*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(KW_ELSE statement)?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Grammatica adattata (con regole ausiliarie)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800600" y="178308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if_stmt:    "si" "(" expr ")" statement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elif_clause* else_clause?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elif_clause: "else" "if" "(" expr ")" statement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else_clause: "s'invece" statement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383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Nodi passthrough nel Transformer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Le regole ausiliarie generano nodi Tree intermedi → il CroTransformer implementa metodi passthrough che restituiscono il figlio già trasformato, appiattendo i nodi nell'AST finale.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338328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349240" y="347472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elif_clause(self, items):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items[0]  # passthrough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else_clause(self, items):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items[0]  # passthrough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Grammatica: Programma e Dichiarazioni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Regole principali (EBNF con Lark)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36576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8138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Struttura top-level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program: (var_decl | function_decl)*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Dichiarazione variabili: nummero x = 5;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var_decl: type ID (ASSIGN expr)? SEMI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Dichiarazione funzioni: funzion tipo nome(params) { corpo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function_decl: KW_FUNCTION type ID LPAR params? RPAR block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| type KW_MAIN LPAR RPAR block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params: param (COMMA param)*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param:  type ID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Tipi: nummero, comm, carattere, bull, a vacant, const tipo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KW_INT | KW_FLOAT | KW_CHAR | KW_BOOL | KW_VOID | KW_CONST type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Strutture di Controllo e Cicli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si (if)  ·  s'invece (else)  ·  facimm (switch)  ·  trament (while)  ·  ppe (for)  ·  faje (do-while)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81381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Selezione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if_stmt:    KW_IF LPAR expr RPAR statement elif_clause* else_clause?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switch_stmt: KW_SWITCH LPAR expr RPAR LBRACE case_stmt* default_stmt? RBRACE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case_stmt:  KW_CASE expr COLON statement*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Iterazione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while_stmt:    KW_WHILE LPAR expr RPAR statement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for_stmt:      KW_FOR LPAR for_init expr? SEMI expr? RPAR statement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do_while_stmt: KW_DO statement KW_WHILE LPAR expr RPAR SEMI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Salto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return_stmt:   KW_RETURN expr? SEMI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break_stmt:    KW_BREAK SEMI       // spacc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continue_stmt: KW_CONTINUE SEMI    // vaje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6451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for_init: regola ausiliaria introdotta per gestire i 3 casi dell'inizializzatore (var_decl | expr SEMI | SEMI)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332470" y="260604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4855464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Compilatore C-ro · Progetto EILP 2025/26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8435340" y="4855464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11480" y="288036"/>
            <a:ext cx="4800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b="1" kern="0" spc="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SINTASSI — ITERAZIONE</a:t>
            </a:r>
            <a:endParaRPr lang="en-US" sz="863" dirty="0"/>
          </a:p>
        </p:txBody>
      </p:sp>
      <p:sp>
        <p:nvSpPr>
          <p:cNvPr id="8" name="Text 6"/>
          <p:cNvSpPr/>
          <p:nvPr/>
        </p:nvSpPr>
        <p:spPr>
          <a:xfrm>
            <a:off x="411480" y="466344"/>
            <a:ext cx="7955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6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Cicli: trament, ppe, faje...trament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11480" y="1097280"/>
            <a:ext cx="4800600" cy="2331720"/>
          </a:xfrm>
          <a:prstGeom prst="roundRect">
            <a:avLst>
              <a:gd name="adj" fmla="val 2353"/>
            </a:avLst>
          </a:prstGeom>
          <a:solidFill>
            <a:srgbClr val="0E1320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sz="1350"/>
          </a:p>
        </p:txBody>
      </p:sp>
      <p:sp>
        <p:nvSpPr>
          <p:cNvPr id="10" name="Text 8"/>
          <p:cNvSpPr/>
          <p:nvPr/>
        </p:nvSpPr>
        <p:spPr>
          <a:xfrm>
            <a:off x="582930" y="1179576"/>
            <a:ext cx="4457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8B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GRAMMATICA_CRO · righe 103–108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82930" y="1405890"/>
            <a:ext cx="445770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050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while_stmt: "trament" "(" expr ")" statement</a:t>
            </a:r>
            <a:endParaRPr lang="en-US" sz="1050" dirty="0"/>
          </a:p>
          <a:p>
            <a:pPr>
              <a:lnSpc>
                <a:spcPct val="112000"/>
              </a:lnSpc>
            </a:pPr>
            <a:r>
              <a:rPr lang="en-US" sz="1050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>
              <a:lnSpc>
                <a:spcPct val="112000"/>
              </a:lnSpc>
            </a:pPr>
            <a:r>
              <a:rPr lang="en-US" sz="1050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for_stmt: "ppe" "(" for_init expr? ";"</a:t>
            </a:r>
            <a:endParaRPr lang="en-US" sz="1050" dirty="0"/>
          </a:p>
          <a:p>
            <a:pPr>
              <a:lnSpc>
                <a:spcPct val="112000"/>
              </a:lnSpc>
            </a:pPr>
            <a:r>
              <a:rPr lang="en-US" sz="1050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expr? ")" statement</a:t>
            </a:r>
            <a:endParaRPr lang="en-US" sz="1050" dirty="0"/>
          </a:p>
          <a:p>
            <a:pPr>
              <a:lnSpc>
                <a:spcPct val="112000"/>
              </a:lnSpc>
            </a:pPr>
            <a:r>
              <a:rPr lang="en-US" sz="1050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for_init: var_decl</a:t>
            </a:r>
            <a:endParaRPr lang="en-US" sz="1050" dirty="0"/>
          </a:p>
          <a:p>
            <a:pPr>
              <a:lnSpc>
                <a:spcPct val="112000"/>
              </a:lnSpc>
            </a:pPr>
            <a:r>
              <a:rPr lang="en-US" sz="1050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 expr ";" -&gt; for_init_expr</a:t>
            </a:r>
            <a:endParaRPr lang="en-US" sz="1050" dirty="0"/>
          </a:p>
          <a:p>
            <a:pPr>
              <a:lnSpc>
                <a:spcPct val="112000"/>
              </a:lnSpc>
            </a:pPr>
            <a:r>
              <a:rPr lang="en-US" sz="1050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 ";"      -&gt; for_init_empty</a:t>
            </a:r>
            <a:endParaRPr lang="en-US" sz="1050" dirty="0"/>
          </a:p>
          <a:p>
            <a:pPr>
              <a:lnSpc>
                <a:spcPct val="112000"/>
              </a:lnSpc>
            </a:pPr>
            <a:r>
              <a:rPr lang="en-US" sz="1050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>
              <a:lnSpc>
                <a:spcPct val="112000"/>
              </a:lnSpc>
            </a:pPr>
            <a:r>
              <a:rPr lang="en-US" sz="1050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do_while_stmt: "faje" statement</a:t>
            </a:r>
            <a:endParaRPr lang="en-US" sz="1050" dirty="0"/>
          </a:p>
          <a:p>
            <a:pPr>
              <a:lnSpc>
                <a:spcPct val="112000"/>
              </a:lnSpc>
            </a:pPr>
            <a:r>
              <a:rPr lang="en-US" sz="1050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"trament" "(" expr ")" ";"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17820" y="1165860"/>
            <a:ext cx="3291840" cy="2263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1050"/>
              </a:spcAft>
              <a:buSzPct val="100000"/>
              <a:buChar char="•"/>
            </a:pPr>
            <a:r>
              <a:rPr lang="en-US" sz="1013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for_init</a:t>
            </a:r>
            <a:r>
              <a:rPr lang="en-US" sz="1013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</a:t>
            </a:r>
            <a:r>
              <a:rPr lang="en-US" sz="1013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l’if</a:t>
            </a:r>
            <a:r>
              <a:rPr lang="en-US" sz="1013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else è </a:t>
            </a:r>
            <a:r>
              <a:rPr lang="en-US" sz="1013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013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13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</a:t>
            </a:r>
            <a:r>
              <a:rPr lang="en-US" sz="1013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13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apparte</a:t>
            </a:r>
            <a:r>
              <a:rPr lang="en-US" sz="1013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13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gestisce</a:t>
            </a:r>
            <a:r>
              <a:rPr lang="en-US" sz="1013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tre forme dell'inizializzatore del ppe (for): dichiarazione, espressione, o </a:t>
            </a:r>
            <a:r>
              <a:rPr lang="en-US" sz="1013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vuoto</a:t>
            </a:r>
            <a:endParaRPr lang="en-US" sz="1013" dirty="0">
              <a:solidFill>
                <a:srgbClr val="161B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57175" indent="-257175">
              <a:spcAft>
                <a:spcPts val="1050"/>
              </a:spcAft>
              <a:buSzPct val="100000"/>
              <a:buChar char="•"/>
            </a:pPr>
            <a:r>
              <a:rPr lang="en-GB" sz="1050" dirty="0" err="1"/>
              <a:t>for_stmt</a:t>
            </a:r>
            <a:r>
              <a:rPr lang="en-GB" sz="1050" dirty="0"/>
              <a:t>: </a:t>
            </a:r>
            <a:r>
              <a:rPr lang="en-GB" sz="1050" dirty="0" err="1"/>
              <a:t>supporta</a:t>
            </a:r>
            <a:r>
              <a:rPr lang="en-GB" sz="1050" dirty="0"/>
              <a:t> </a:t>
            </a:r>
            <a:r>
              <a:rPr lang="en-GB" sz="1050" dirty="0" err="1"/>
              <a:t>l’opzionalità</a:t>
            </a:r>
            <a:r>
              <a:rPr lang="en-GB" sz="1050" dirty="0"/>
              <a:t> delle </a:t>
            </a:r>
            <a:r>
              <a:rPr lang="en-GB" sz="1050" dirty="0" err="1"/>
              <a:t>condizioni</a:t>
            </a:r>
            <a:r>
              <a:rPr lang="en-GB" sz="1050" dirty="0"/>
              <a:t>, il </a:t>
            </a:r>
            <a:r>
              <a:rPr lang="en-GB" sz="1050" dirty="0" err="1"/>
              <a:t>caso</a:t>
            </a:r>
            <a:r>
              <a:rPr lang="en-GB" sz="1050" dirty="0"/>
              <a:t> base è: </a:t>
            </a:r>
            <a:r>
              <a:rPr lang="en-GB" sz="1050" dirty="0" err="1"/>
              <a:t>ppe</a:t>
            </a:r>
            <a:r>
              <a:rPr lang="en-GB" sz="1050" dirty="0"/>
              <a:t>( ; ; ; )</a:t>
            </a:r>
            <a:endParaRPr lang="en-US" sz="1013" dirty="0"/>
          </a:p>
          <a:p>
            <a:pPr marL="257175" indent="-257175">
              <a:buSzPct val="100000"/>
              <a:buChar char="•"/>
            </a:pPr>
            <a:r>
              <a:rPr lang="en-US" sz="1013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Transformer, il nodo ForNode ricostruisce condition/update come opzionali filtrando i Token vuoti residui (metodo for_stmt, Sezione 3)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411480" y="3566160"/>
            <a:ext cx="8298180" cy="857250"/>
          </a:xfrm>
          <a:prstGeom prst="roundRect">
            <a:avLst>
              <a:gd name="adj" fmla="val 6400"/>
            </a:avLst>
          </a:prstGeom>
          <a:solidFill>
            <a:srgbClr val="CFFAF3"/>
          </a:solidFill>
          <a:ln/>
        </p:spPr>
        <p:txBody>
          <a:bodyPr/>
          <a:lstStyle/>
          <a:p>
            <a:endParaRPr lang="en-GB" sz="1350"/>
          </a:p>
        </p:txBody>
      </p:sp>
      <p:sp>
        <p:nvSpPr>
          <p:cNvPr id="14" name="Text 12"/>
          <p:cNvSpPr/>
          <p:nvPr/>
        </p:nvSpPr>
        <p:spPr>
          <a:xfrm>
            <a:off x="582930" y="3689604"/>
            <a:ext cx="7955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PRONTA: calcolatrice.cro usa trament per il ciclo di continuazione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82930" y="3943350"/>
            <a:ext cx="7955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938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trament (continua == CONTINUA) { ... }  — vedi Sezione 6 di questa guida per il walkthrough completo.</a:t>
            </a:r>
            <a:endParaRPr lang="en-US" sz="93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11480" y="4855464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Compilatore C-ro · Progetto EILP 2025/26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8435340" y="4855464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11480" y="288036"/>
            <a:ext cx="4800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b="1" kern="0" spc="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SINTASSI — ESPRESSIONI</a:t>
            </a:r>
            <a:endParaRPr lang="en-US" sz="863" dirty="0"/>
          </a:p>
        </p:txBody>
      </p:sp>
      <p:sp>
        <p:nvSpPr>
          <p:cNvPr id="8" name="Text 6"/>
          <p:cNvSpPr/>
          <p:nvPr/>
        </p:nvSpPr>
        <p:spPr>
          <a:xfrm>
            <a:off x="411480" y="466344"/>
            <a:ext cx="7955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6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Precedenza degli operatori a strati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11480" y="1062990"/>
            <a:ext cx="3017520" cy="274320"/>
          </a:xfrm>
          <a:prstGeom prst="rect">
            <a:avLst/>
          </a:prstGeom>
          <a:solidFill>
            <a:srgbClr val="FDECC8"/>
          </a:solidFill>
          <a:ln/>
        </p:spPr>
        <p:txBody>
          <a:bodyPr/>
          <a:lstStyle/>
          <a:p>
            <a:endParaRPr lang="en-GB" sz="1350"/>
          </a:p>
        </p:txBody>
      </p:sp>
      <p:sp>
        <p:nvSpPr>
          <p:cNvPr id="10" name="Text 8"/>
          <p:cNvSpPr/>
          <p:nvPr/>
        </p:nvSpPr>
        <p:spPr>
          <a:xfrm>
            <a:off x="480060" y="106299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6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assign_expr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473202" y="1378458"/>
            <a:ext cx="2894076" cy="274320"/>
          </a:xfrm>
          <a:prstGeom prst="rect">
            <a:avLst/>
          </a:prstGeom>
          <a:solidFill>
            <a:srgbClr val="CFFAF3"/>
          </a:solidFill>
          <a:ln/>
        </p:spPr>
        <p:txBody>
          <a:bodyPr/>
          <a:lstStyle/>
          <a:p>
            <a:endParaRPr lang="en-GB" sz="1350"/>
          </a:p>
        </p:txBody>
      </p:sp>
      <p:sp>
        <p:nvSpPr>
          <p:cNvPr id="12" name="Text 10"/>
          <p:cNvSpPr/>
          <p:nvPr/>
        </p:nvSpPr>
        <p:spPr>
          <a:xfrm>
            <a:off x="541782" y="1378458"/>
            <a:ext cx="2756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6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logical_or_expr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534924" y="1693926"/>
            <a:ext cx="2770632" cy="274320"/>
          </a:xfrm>
          <a:prstGeom prst="rect">
            <a:avLst/>
          </a:prstGeom>
          <a:solidFill>
            <a:srgbClr val="CFFAF3"/>
          </a:solidFill>
          <a:ln/>
        </p:spPr>
        <p:txBody>
          <a:bodyPr/>
          <a:lstStyle/>
          <a:p>
            <a:endParaRPr lang="en-GB" sz="1350"/>
          </a:p>
        </p:txBody>
      </p:sp>
      <p:sp>
        <p:nvSpPr>
          <p:cNvPr id="14" name="Text 12"/>
          <p:cNvSpPr/>
          <p:nvPr/>
        </p:nvSpPr>
        <p:spPr>
          <a:xfrm>
            <a:off x="603504" y="169392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6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logical_and_expr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596646" y="2009394"/>
            <a:ext cx="2647188" cy="274320"/>
          </a:xfrm>
          <a:prstGeom prst="rect">
            <a:avLst/>
          </a:prstGeom>
          <a:solidFill>
            <a:srgbClr val="CFFAF3"/>
          </a:solidFill>
          <a:ln/>
        </p:spPr>
        <p:txBody>
          <a:bodyPr/>
          <a:lstStyle/>
          <a:p>
            <a:endParaRPr lang="en-GB" sz="1350"/>
          </a:p>
        </p:txBody>
      </p:sp>
      <p:sp>
        <p:nvSpPr>
          <p:cNvPr id="16" name="Text 14"/>
          <p:cNvSpPr/>
          <p:nvPr/>
        </p:nvSpPr>
        <p:spPr>
          <a:xfrm>
            <a:off x="665226" y="2009394"/>
            <a:ext cx="2510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6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equality_expr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658368" y="2324862"/>
            <a:ext cx="2523744" cy="274320"/>
          </a:xfrm>
          <a:prstGeom prst="rect">
            <a:avLst/>
          </a:prstGeom>
          <a:solidFill>
            <a:srgbClr val="CFFAF3"/>
          </a:solidFill>
          <a:ln/>
        </p:spPr>
        <p:txBody>
          <a:bodyPr/>
          <a:lstStyle/>
          <a:p>
            <a:endParaRPr lang="en-GB" sz="1350"/>
          </a:p>
        </p:txBody>
      </p:sp>
      <p:sp>
        <p:nvSpPr>
          <p:cNvPr id="18" name="Text 16"/>
          <p:cNvSpPr/>
          <p:nvPr/>
        </p:nvSpPr>
        <p:spPr>
          <a:xfrm>
            <a:off x="726948" y="232486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6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relational_expr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720090" y="2640330"/>
            <a:ext cx="2400300" cy="274320"/>
          </a:xfrm>
          <a:prstGeom prst="rect">
            <a:avLst/>
          </a:prstGeom>
          <a:solidFill>
            <a:srgbClr val="CFFAF3"/>
          </a:solidFill>
          <a:ln/>
        </p:spPr>
        <p:txBody>
          <a:bodyPr/>
          <a:lstStyle/>
          <a:p>
            <a:endParaRPr lang="en-GB" sz="1350"/>
          </a:p>
        </p:txBody>
      </p:sp>
      <p:sp>
        <p:nvSpPr>
          <p:cNvPr id="20" name="Text 18"/>
          <p:cNvSpPr/>
          <p:nvPr/>
        </p:nvSpPr>
        <p:spPr>
          <a:xfrm>
            <a:off x="788670" y="264033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6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add_expr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781812" y="2955798"/>
            <a:ext cx="2276856" cy="274320"/>
          </a:xfrm>
          <a:prstGeom prst="rect">
            <a:avLst/>
          </a:prstGeom>
          <a:solidFill>
            <a:srgbClr val="CFFAF3"/>
          </a:solidFill>
          <a:ln/>
        </p:spPr>
        <p:txBody>
          <a:bodyPr/>
          <a:lstStyle/>
          <a:p>
            <a:endParaRPr lang="en-GB" sz="1350"/>
          </a:p>
        </p:txBody>
      </p:sp>
      <p:sp>
        <p:nvSpPr>
          <p:cNvPr id="22" name="Text 20"/>
          <p:cNvSpPr/>
          <p:nvPr/>
        </p:nvSpPr>
        <p:spPr>
          <a:xfrm>
            <a:off x="850392" y="295579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6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mul_expr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843534" y="3271266"/>
            <a:ext cx="2153412" cy="274320"/>
          </a:xfrm>
          <a:prstGeom prst="rect">
            <a:avLst/>
          </a:prstGeom>
          <a:solidFill>
            <a:srgbClr val="CFFAF3"/>
          </a:solidFill>
          <a:ln/>
        </p:spPr>
        <p:txBody>
          <a:bodyPr/>
          <a:lstStyle/>
          <a:p>
            <a:endParaRPr lang="en-GB" sz="1350"/>
          </a:p>
        </p:txBody>
      </p:sp>
      <p:sp>
        <p:nvSpPr>
          <p:cNvPr id="24" name="Text 22"/>
          <p:cNvSpPr/>
          <p:nvPr/>
        </p:nvSpPr>
        <p:spPr>
          <a:xfrm>
            <a:off x="912114" y="3271266"/>
            <a:ext cx="2016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6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unary_expr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905256" y="3586734"/>
            <a:ext cx="2029968" cy="274320"/>
          </a:xfrm>
          <a:prstGeom prst="rect">
            <a:avLst/>
          </a:prstGeom>
          <a:solidFill>
            <a:srgbClr val="CFFAF3"/>
          </a:solidFill>
          <a:ln/>
        </p:spPr>
        <p:txBody>
          <a:bodyPr/>
          <a:lstStyle/>
          <a:p>
            <a:endParaRPr lang="en-GB" sz="1350"/>
          </a:p>
        </p:txBody>
      </p:sp>
      <p:sp>
        <p:nvSpPr>
          <p:cNvPr id="26" name="Text 24"/>
          <p:cNvSpPr/>
          <p:nvPr/>
        </p:nvSpPr>
        <p:spPr>
          <a:xfrm>
            <a:off x="973836" y="3586734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6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primary_expr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566160" y="106299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6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06340" y="106299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destra-assoc.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566160" y="137845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6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(||)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06340" y="137845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566160" y="169392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6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(&amp;&amp;)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06340" y="169392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566160" y="200939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6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!=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06340" y="200939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566160" y="232486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6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&lt;= &gt; &gt;=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06340" y="232486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566160" y="264033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6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06340" y="264033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566160" y="295579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6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/ 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06340" y="295579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566160" y="327126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6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 - &amp;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06340" y="327126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prefissi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566160" y="358673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6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literal, ID, ( 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06340" y="358673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precedenza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515100" y="1097280"/>
            <a:ext cx="2194560" cy="2489454"/>
          </a:xfrm>
          <a:prstGeom prst="roundRect">
            <a:avLst>
              <a:gd name="adj" fmla="val 2500"/>
            </a:avLst>
          </a:prstGeom>
          <a:solidFill>
            <a:srgbClr val="0E1320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sz="1350"/>
          </a:p>
        </p:txBody>
      </p:sp>
      <p:sp>
        <p:nvSpPr>
          <p:cNvPr id="46" name="Text 44"/>
          <p:cNvSpPr/>
          <p:nvPr/>
        </p:nvSpPr>
        <p:spPr>
          <a:xfrm>
            <a:off x="6686550" y="1179576"/>
            <a:ext cx="18516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8B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righe 125–135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686550" y="1405890"/>
            <a:ext cx="1851660" cy="277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788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assign_expr: logical_or_expr "="</a:t>
            </a:r>
            <a:endParaRPr lang="en-US" sz="788" dirty="0"/>
          </a:p>
          <a:p>
            <a:pPr>
              <a:lnSpc>
                <a:spcPct val="112000"/>
              </a:lnSpc>
            </a:pPr>
            <a:r>
              <a:rPr lang="en-US" sz="788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assign_expr -&gt; assign_expr</a:t>
            </a:r>
            <a:endParaRPr lang="en-US" sz="788" dirty="0"/>
          </a:p>
          <a:p>
            <a:pPr>
              <a:lnSpc>
                <a:spcPct val="112000"/>
              </a:lnSpc>
            </a:pPr>
            <a:r>
              <a:rPr lang="en-US" sz="788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| logical_or_expr</a:t>
            </a:r>
            <a:endParaRPr lang="en-US" sz="788" dirty="0"/>
          </a:p>
          <a:p>
            <a:pPr>
              <a:lnSpc>
                <a:spcPct val="112000"/>
              </a:lnSpc>
            </a:pPr>
            <a:r>
              <a:rPr lang="en-US" sz="788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-&gt; passthrough</a:t>
            </a:r>
            <a:endParaRPr lang="en-US" sz="788" dirty="0"/>
          </a:p>
          <a:p>
            <a:pPr>
              <a:lnSpc>
                <a:spcPct val="112000"/>
              </a:lnSpc>
            </a:pPr>
            <a:r>
              <a:rPr lang="en-US" sz="788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88" dirty="0"/>
          </a:p>
          <a:p>
            <a:pPr>
              <a:lnSpc>
                <a:spcPct val="112000"/>
              </a:lnSpc>
            </a:pPr>
            <a:r>
              <a:rPr lang="en-US" sz="788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logical_or_expr: logical_and_expr</a:t>
            </a:r>
            <a:endParaRPr lang="en-US" sz="788" dirty="0"/>
          </a:p>
          <a:p>
            <a:pPr>
              <a:lnSpc>
                <a:spcPct val="112000"/>
              </a:lnSpc>
            </a:pPr>
            <a:r>
              <a:rPr lang="en-US" sz="788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("o" logical_and_expr)* -&gt; or_expr</a:t>
            </a:r>
            <a:endParaRPr lang="en-US" sz="788" dirty="0"/>
          </a:p>
          <a:p>
            <a:pPr>
              <a:lnSpc>
                <a:spcPct val="112000"/>
              </a:lnSpc>
            </a:pPr>
            <a:r>
              <a:rPr lang="en-US" sz="788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88" dirty="0"/>
          </a:p>
          <a:p>
            <a:pPr>
              <a:lnSpc>
                <a:spcPct val="112000"/>
              </a:lnSpc>
            </a:pPr>
            <a:r>
              <a:rPr lang="en-US" sz="788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mul_expr: unary_expr</a:t>
            </a:r>
            <a:endParaRPr lang="en-US" sz="788" dirty="0"/>
          </a:p>
          <a:p>
            <a:pPr>
              <a:lnSpc>
                <a:spcPct val="112000"/>
              </a:lnSpc>
            </a:pPr>
            <a:r>
              <a:rPr lang="en-US" sz="788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(MULOP unary_expr)* -&gt; mul_expr</a:t>
            </a:r>
            <a:endParaRPr lang="en-US" sz="788" dirty="0"/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FF0B2AE7-4123-A4C1-5970-AE7612131F8F}"/>
              </a:ext>
            </a:extLst>
          </p:cNvPr>
          <p:cNvSpPr/>
          <p:nvPr/>
        </p:nvSpPr>
        <p:spPr>
          <a:xfrm>
            <a:off x="5314950" y="3943350"/>
            <a:ext cx="3566160" cy="953262"/>
          </a:xfrm>
          <a:prstGeom prst="roundRect">
            <a:avLst>
              <a:gd name="adj" fmla="val 6154"/>
            </a:avLst>
          </a:prstGeom>
          <a:solidFill>
            <a:srgbClr val="FDECC8"/>
          </a:solidFill>
          <a:ln/>
        </p:spPr>
        <p:txBody>
          <a:bodyPr/>
          <a:lstStyle/>
          <a:p>
            <a:endParaRPr lang="en-GB" sz="1350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70CB1CEF-20F6-3E7B-618F-01FC88839634}"/>
              </a:ext>
            </a:extLst>
          </p:cNvPr>
          <p:cNvSpPr/>
          <p:nvPr/>
        </p:nvSpPr>
        <p:spPr>
          <a:xfrm>
            <a:off x="5486400" y="4066794"/>
            <a:ext cx="32232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assign_expr</a:t>
            </a:r>
            <a:endParaRPr lang="en-US" sz="975" dirty="0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091B57DF-42C5-2D91-E3C8-5C570488134F}"/>
              </a:ext>
            </a:extLst>
          </p:cNvPr>
          <p:cNvSpPr/>
          <p:nvPr/>
        </p:nvSpPr>
        <p:spPr>
          <a:xfrm>
            <a:off x="5486400" y="4320540"/>
            <a:ext cx="32232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938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Richiama</a:t>
            </a:r>
            <a:r>
              <a:rPr lang="en-US" sz="938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938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</a:t>
            </a:r>
            <a:r>
              <a:rPr lang="en-US" sz="938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938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forzare</a:t>
            </a:r>
            <a:r>
              <a:rPr lang="en-US" sz="938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938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lettura</a:t>
            </a:r>
            <a:r>
              <a:rPr lang="en-US" sz="938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938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destra</a:t>
            </a:r>
            <a:r>
              <a:rPr lang="en-US" sz="938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verso sinistra. Se </a:t>
            </a:r>
            <a:r>
              <a:rPr lang="en-US" sz="938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invece</a:t>
            </a:r>
            <a:r>
              <a:rPr lang="en-US" sz="938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938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c’è</a:t>
            </a:r>
            <a:r>
              <a:rPr lang="en-US" sz="938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8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assegnazione</a:t>
            </a:r>
            <a:r>
              <a:rPr lang="en-US" sz="938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8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r>
              <a:rPr lang="en-US" sz="938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8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passthrought</a:t>
            </a:r>
            <a:r>
              <a:rPr lang="en-US" sz="938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938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procedere</a:t>
            </a:r>
            <a:r>
              <a:rPr lang="en-US" sz="938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 </a:t>
            </a:r>
            <a:r>
              <a:rPr lang="en-US" sz="938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</a:t>
            </a:r>
            <a:r>
              <a:rPr lang="en-US" sz="938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8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successivo</a:t>
            </a:r>
            <a:endParaRPr lang="en-US" sz="93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Espressioni: Grammatica a Strati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</a:rPr>
              <a:t>La precedenza degli operatori è codificata nella struttura della grammatica stessa (stratified grammar).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3429000"/>
          </a:xfrm>
          <a:prstGeom prst="roundRect">
            <a:avLst>
              <a:gd name="adj" fmla="val 2133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8138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?expr:            assign_expr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?assign_expr:     logical_or_expr  (ASSIGN assign_expr)?      // destra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?logical_or_expr: logical_and_expr (KW_OR  logical_and_expr)* // 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?logical_and_expr:equality_expr    (KW_AND equality_expr)*    // 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?equality_expr:   relational_expr  ((EQ | NEQ) relational_expr)*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?relational_expr: add_expr         ((LT | LE | GT | GE) add_expr)*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?add_expr:        mul_expr         ((PLUS | MINUS) mul_expr)*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?mul_expr:        unary_expr       ((STAR | SLASH | MOD) unary_expr)*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?unary_expr:      (KW_NOT | MINUS) unary_expr | primary_expr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?primary_expr:    ID | INT_CONST | FLOAT_CONST | ... | LPAR expr RPAR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6451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Il prefisso ? di Lark (inlining) appiattisce i nodi a figlio unico nell'AST, evitando nodi intermedi ridondanti.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Deviazione dalla Spec: Operatore &amp; per scanef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La grammatica originale non prevedeva un operatore di indirizzo. Senza &amp;, scanef non può comportarsi come scanf del C.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Soluzione implementata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unary_expr: "non" unary_expr -&gt; not_expr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 "-"   unary_expr -&gt; neg_expr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 "&amp;"   ID         -&gt; addr_of  // NUOVO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 primary_expr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520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Vincoli semantici aggiuntivi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886200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L'identificatore deve essere dichiarato (altrimenti: "identificatore non dichiarato")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Non può essere una costante const (altrimenti: "indirizzo di costante")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Gli argomenti di scanef dopo la stringa di formato devono essere obbligatoriamente &amp;variabile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17373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440680" y="182880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corretto: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nummero 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scanef("%d", &amp;x);   // OK → scanf("%d", &amp;x);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Errore semantico: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scanef("%d", x);    // ERRORE: argomento senza &amp;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D34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 e Transformer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A5E9"/>
                </a:solidFill>
              </a:rPr>
              <a:t>Slide 15 – 18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Nodi AST: @dataclass di Python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</a:rPr>
              <a:t>I nodi sono semplici contenitori di dati — zero logica propria. Tutta la logica di analisi è nelle </a:t>
            </a:r>
            <a:r>
              <a:rPr lang="en-US" sz="1300" i="1" dirty="0" err="1">
                <a:solidFill>
                  <a:srgbClr val="1E293B"/>
                </a:solidFill>
              </a:rPr>
              <a:t>fasi</a:t>
            </a:r>
            <a:r>
              <a:rPr lang="en-US" sz="1300" i="1" dirty="0">
                <a:solidFill>
                  <a:srgbClr val="1E293B"/>
                </a:solidFill>
              </a:rPr>
              <a:t> successive(Visitor).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@dataclass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VarDeclNode(ASTNode):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var_type: str        # es. 'nummero'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const: bool          # True se 'const'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            # es. 'x'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ASTNode|None  # espressione inizializzatore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@dataclass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IfNode(ASTNode):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condition:  ASTNode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      ASTNode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elifs:      list       # lista di ElifNode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else_body:  ASTNode|None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@dataclass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BinOpNode(ASTNode):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op:    str      # '+', '-', '*', '/', '%', '==', !=',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left:  ASTNode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right: ASTNode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dtype: str|None # tipo inferito dall'analisi semantica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325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Vantaggi rispetto a __init__ manuale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719072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Costruttore __init__ generato automaticamente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__repr__ e __eq__ inclusi senza codice boilerplate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Nodi leggibili e confrontabili nei test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Filosofia: dati separati dalla logica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3931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La specifica originale mostrava classi con __init__ manuale (Sezione 5.1 del documento). L'implementazione usa @dataclass per ridurre il boilerplate.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CroTransformer: Da Parse Tree ad AST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</a:rPr>
              <a:t>Lark Transformer → visita bottom-up. I figli sono già trasformati quando il nodo padre viene elaborato.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79"/>
            <a:ext cx="5669280" cy="3731455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394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CroTransformer(Transformer):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var_decl(self, items):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items già trasformati dai figli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type_node, *rest = items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 = str(rest[0])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 = rest[1] if len(rest) &gt; 1 else None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VarDeclNode(type_node.base, type_node.const, name, value)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_left_fold(self, items, op=None):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"""Associatività sinistra per operatori binari."""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items[0]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ops = iter(items[1:])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right in ops: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 = BinOpNode(op or str(next(ops)), result, right)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result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add_expr = lambda self, items: self._left_fold(items)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mul_expr = lambda self, items: self._left_fold(items)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13258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Caratteristiche chiave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719072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Bottom-up: foglie prima, radice dopo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left_fold garantisce associatività sinistra (a+b+c → (a+b)+c)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Passthrough per nodi intermedi Lark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Token Lark → str/int/float Python nativi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Flusso: Parse Tree → AST → Output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Parse Tree (Lark)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Albero concreto con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tutti i nodi grammaticali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178308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291840" y="1143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AST (CroTransformer)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5727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Nodi @dataclass Python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Struttura snella e tipata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97880" y="178308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126480" y="1143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Codice 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15727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Stringa C standard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compilabile con gcc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6334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Cosa semplifica il Transformer rispetto al Parse Tree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01752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Nodi grammaticali di pura struttura eliminati (es. params, args come wrapper)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Token eliminati (KW_IF, LPAR, RPAR, SEMI diventano impliciti nel nodo IfNode)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Nodi passthrough appiattiti (elif_clause, else_clause → figli diretti di IfNode)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Stringhe letterali Lark → tipi Python nativi (Token → str, int, float)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D34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 Semantica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A5E9"/>
                </a:solidFill>
              </a:rPr>
              <a:t>Slide 19 – 23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Scoping: Catena di Symbol Table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SymbolTable: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parent=None):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self.symbols: dict[str, SymbolInfo] = {}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self.parent: SymbolTable | None = parent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declare(self, name, info):   # Scrittura nello scope corrente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name in self.symbols: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SemanticError(f"'{name}' già dichiarato in questo scope")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self.symbols[name] = info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lookup(self, name):          # Lookup: risale la catena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name in self.symbols: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self.symbols[name]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self.parent: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self.parent.lookup(name)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SemanticError(f"'{name}': identificatore non dichiarato")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2160" y="9601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Regole di scoping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1353312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Ogni blocco {} apre un nuovo scope 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Lookup risale la catena fino al globale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Dichiarazione doppia nello stesso scope → errore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define() </a:t>
            </a:r>
            <a:r>
              <a:rPr lang="en-US" sz="1200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solleva</a:t>
            </a:r>
            <a:r>
              <a:rPr lang="en-US" sz="1200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SemanticError</a:t>
            </a:r>
            <a:r>
              <a:rPr lang="en-US" sz="1200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00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l'identificatore</a:t>
            </a:r>
            <a:r>
              <a:rPr lang="en-US" sz="1200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esiste</a:t>
            </a:r>
            <a:r>
              <a:rPr lang="en-US" sz="1200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</a:t>
            </a:r>
            <a:r>
              <a:rPr lang="en-US" sz="1200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</a:t>
            </a:r>
            <a:r>
              <a:rPr lang="en-US" sz="1200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scope CORRENTE (non in </a:t>
            </a:r>
            <a:r>
              <a:rPr lang="en-US" sz="1200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quelli</a:t>
            </a:r>
            <a:r>
              <a:rPr lang="en-US" sz="1200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superiori</a:t>
            </a:r>
            <a:r>
              <a:rPr lang="en-US" sz="1200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 shadowing è </a:t>
            </a:r>
            <a:r>
              <a:rPr lang="en-US" sz="1200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permesso</a:t>
            </a:r>
            <a:r>
              <a:rPr lang="en-US" sz="1200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36576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Rispetto alla spec (Sez. 4.1): generalizzato a ogni {}, non solo ai costrutti capo/funzion/si/facimm/cicli. Coerente con C standard.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32470" y="260604"/>
            <a:ext cx="342900" cy="3429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GB" sz="1350"/>
          </a:p>
        </p:txBody>
      </p:sp>
      <p:sp>
        <p:nvSpPr>
          <p:cNvPr id="3" name="Text 1"/>
          <p:cNvSpPr/>
          <p:nvPr/>
        </p:nvSpPr>
        <p:spPr>
          <a:xfrm>
            <a:off x="8332470" y="260604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16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897880" y="342900"/>
            <a:ext cx="23317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88" b="1" kern="0" spc="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SEMANTICA</a:t>
            </a:r>
            <a:endParaRPr lang="en-US" sz="788" dirty="0"/>
          </a:p>
        </p:txBody>
      </p:sp>
      <p:sp>
        <p:nvSpPr>
          <p:cNvPr id="5" name="Text 3"/>
          <p:cNvSpPr/>
          <p:nvPr/>
        </p:nvSpPr>
        <p:spPr>
          <a:xfrm>
            <a:off x="411480" y="4855464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Compilatore C-ro · Progetto EILP 2025/26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8435340" y="4855464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11480" y="288036"/>
            <a:ext cx="4800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b="1" kern="0" spc="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DEVIAZIONE DALLA SPECIFICA</a:t>
            </a:r>
            <a:endParaRPr lang="en-US" sz="863" dirty="0"/>
          </a:p>
        </p:txBody>
      </p:sp>
      <p:sp>
        <p:nvSpPr>
          <p:cNvPr id="8" name="Text 6"/>
          <p:cNvSpPr/>
          <p:nvPr/>
        </p:nvSpPr>
        <p:spPr>
          <a:xfrm>
            <a:off x="411480" y="466344"/>
            <a:ext cx="7955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6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si apre un nuovo scope?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11480" y="1097280"/>
            <a:ext cx="4011930" cy="1543050"/>
          </a:xfrm>
          <a:prstGeom prst="roundRect">
            <a:avLst>
              <a:gd name="adj" fmla="val 3556"/>
            </a:avLst>
          </a:prstGeom>
          <a:solidFill>
            <a:srgbClr val="EDF1F5"/>
          </a:solidFill>
          <a:ln/>
        </p:spPr>
        <p:txBody>
          <a:bodyPr/>
          <a:lstStyle/>
          <a:p>
            <a:endParaRPr lang="en-GB" sz="1350"/>
          </a:p>
        </p:txBody>
      </p:sp>
      <p:sp>
        <p:nvSpPr>
          <p:cNvPr id="10" name="Text 8"/>
          <p:cNvSpPr/>
          <p:nvPr/>
        </p:nvSpPr>
        <p:spPr>
          <a:xfrm>
            <a:off x="582930" y="1220724"/>
            <a:ext cx="36690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 ORIGINALE (pdf §4.1)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82930" y="1474470"/>
            <a:ext cx="366903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938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 un nuovo scope SOLO: capo, funzion, trament/ppe, </a:t>
            </a:r>
            <a:r>
              <a:rPr lang="en-US" sz="938" dirty="0" err="1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938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/facimm — un elenco chiuso di costrutti specifici.</a:t>
            </a:r>
            <a:endParaRPr lang="en-US" sz="938" dirty="0"/>
          </a:p>
        </p:txBody>
      </p:sp>
      <p:sp>
        <p:nvSpPr>
          <p:cNvPr id="12" name="Shape 10"/>
          <p:cNvSpPr/>
          <p:nvPr/>
        </p:nvSpPr>
        <p:spPr>
          <a:xfrm>
            <a:off x="4526280" y="1097280"/>
            <a:ext cx="4183380" cy="1543050"/>
          </a:xfrm>
          <a:prstGeom prst="roundRect">
            <a:avLst>
              <a:gd name="adj" fmla="val 3556"/>
            </a:avLst>
          </a:prstGeom>
          <a:solidFill>
            <a:srgbClr val="FDECC8"/>
          </a:solidFill>
          <a:ln/>
        </p:spPr>
        <p:txBody>
          <a:bodyPr/>
          <a:lstStyle/>
          <a:p>
            <a:endParaRPr lang="en-GB" sz="1350"/>
          </a:p>
        </p:txBody>
      </p:sp>
      <p:sp>
        <p:nvSpPr>
          <p:cNvPr id="13" name="Text 11"/>
          <p:cNvSpPr/>
          <p:nvPr/>
        </p:nvSpPr>
        <p:spPr>
          <a:xfrm>
            <a:off x="4697730" y="1220724"/>
            <a:ext cx="38404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 REALE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697730" y="1474470"/>
            <a:ext cx="3840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938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BlockNode ({ }) apre un nuovo scope, indipendentemente dal costrutto che lo contiene — generalizzazione coerente con la semantica del C standard, dove anche un blocco “nudo” introduce visibilità locale.</a:t>
            </a:r>
            <a:endParaRPr lang="en-US" sz="938" dirty="0"/>
          </a:p>
        </p:txBody>
      </p:sp>
      <p:sp>
        <p:nvSpPr>
          <p:cNvPr id="15" name="Shape 13"/>
          <p:cNvSpPr/>
          <p:nvPr/>
        </p:nvSpPr>
        <p:spPr>
          <a:xfrm>
            <a:off x="411480" y="2846070"/>
            <a:ext cx="8298180" cy="1783080"/>
          </a:xfrm>
          <a:prstGeom prst="roundRect">
            <a:avLst>
              <a:gd name="adj" fmla="val 3077"/>
            </a:avLst>
          </a:prstGeom>
          <a:solidFill>
            <a:srgbClr val="0E1320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sz="1350"/>
          </a:p>
        </p:txBody>
      </p:sp>
      <p:sp>
        <p:nvSpPr>
          <p:cNvPr id="16" name="Text 14"/>
          <p:cNvSpPr/>
          <p:nvPr/>
        </p:nvSpPr>
        <p:spPr>
          <a:xfrm>
            <a:off x="582930" y="2928366"/>
            <a:ext cx="7955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8B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righe 565–584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82930" y="3154680"/>
            <a:ext cx="795528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938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_v_FunctionDeclNode(self, node):</a:t>
            </a:r>
            <a:endParaRPr lang="en-US" sz="938" dirty="0"/>
          </a:p>
          <a:p>
            <a:pPr>
              <a:lnSpc>
                <a:spcPct val="112000"/>
              </a:lnSpc>
            </a:pPr>
            <a:r>
              <a:rPr lang="en-US" sz="938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self.current_table = SymbolTable(</a:t>
            </a:r>
            <a:endParaRPr lang="en-US" sz="938" dirty="0"/>
          </a:p>
          <a:p>
            <a:pPr>
              <a:lnSpc>
                <a:spcPct val="112000"/>
              </a:lnSpc>
            </a:pPr>
            <a:r>
              <a:rPr lang="en-US" sz="938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parent=prev_table,</a:t>
            </a:r>
            <a:endParaRPr lang="en-US" sz="938" dirty="0"/>
          </a:p>
          <a:p>
            <a:pPr>
              <a:lnSpc>
                <a:spcPct val="112000"/>
              </a:lnSpc>
            </a:pPr>
            <a:r>
              <a:rPr lang="en-US" sz="938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scope_name=f'fun:{node.name}')</a:t>
            </a:r>
            <a:endParaRPr lang="en-US" sz="938" dirty="0"/>
          </a:p>
          <a:p>
            <a:pPr>
              <a:lnSpc>
                <a:spcPct val="112000"/>
              </a:lnSpc>
            </a:pPr>
            <a:r>
              <a:rPr lang="en-US" sz="938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 in node.params:</a:t>
            </a:r>
            <a:endParaRPr lang="en-US" sz="938" dirty="0"/>
          </a:p>
          <a:p>
            <a:pPr>
              <a:lnSpc>
                <a:spcPct val="112000"/>
              </a:lnSpc>
            </a:pPr>
            <a:r>
              <a:rPr lang="en-US" sz="938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self.current_table.define(p.name, ...)</a:t>
            </a:r>
            <a:endParaRPr lang="en-US" sz="938" dirty="0"/>
          </a:p>
          <a:p>
            <a:pPr>
              <a:lnSpc>
                <a:spcPct val="112000"/>
              </a:lnSpc>
            </a:pPr>
            <a:r>
              <a:rPr lang="en-US" sz="938" i="1" dirty="0">
                <a:solidFill>
                  <a:srgbClr val="8B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scope GIA' aperto: non aprirne un altro</a:t>
            </a:r>
            <a:endParaRPr lang="en-US" sz="938" dirty="0"/>
          </a:p>
          <a:p>
            <a:pPr>
              <a:lnSpc>
                <a:spcPct val="112000"/>
              </a:lnSpc>
            </a:pPr>
            <a:r>
              <a:rPr lang="en-US" sz="938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self._v_BlockNode(node.body,</a:t>
            </a:r>
            <a:endParaRPr lang="en-US" sz="938" dirty="0"/>
          </a:p>
          <a:p>
            <a:pPr>
              <a:lnSpc>
                <a:spcPct val="112000"/>
              </a:lnSpc>
            </a:pPr>
            <a:r>
              <a:rPr lang="en-US" sz="938" dirty="0">
                <a:solidFill>
                  <a:srgbClr val="D7F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new_scope=False)</a:t>
            </a:r>
            <a:endParaRPr lang="en-US" sz="938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Checking: Regole di Inferenza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Operazioni aritmetiche (+, -, *, /)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nummero OP nummero → nummero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comm OP comm → comm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nummero OP comm → comm  (type promotion)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892040" y="10515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Operatori logici (e, o, non)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3716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Operandi compatibili con bull → risultato bull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non accetta solo espressioni booleane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02920" y="24414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Assegnazione (=)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tipo(lhs) == tipo(rhs) → OK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nummero ← comm → Type Mismatch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Promozione implicita: nummero → comm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350008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892040" y="24414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Condizioni (si, trament, ppe)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76148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L'espressione di guardia deve restituire bull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(o essere compatibile con bull)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739896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920" y="383133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Chiamate a funzione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151376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Firma posizionale verificata: tipo e numero degli argomenti effettivi == parametri formali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tipo di ritorno → tipo del nodo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739896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892040" y="383133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Operatore &amp;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151376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Applicabile solo a ID dichiarati non-const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Argomenti di scanef: obbligatoriamente &amp;var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9A50C-91A1-68BA-7593-F0E5892FE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667959-F162-BC31-E258-B8F88916FAE5}"/>
              </a:ext>
            </a:extLst>
          </p:cNvPr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Nummero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+ comm : come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viene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gestita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AF2BDC-7FBB-38F9-B743-93C63271500C}"/>
              </a:ext>
            </a:extLst>
          </p:cNvPr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CD535A-CD90-515D-178B-5CB180815AD3}"/>
              </a:ext>
            </a:extLst>
          </p:cNvPr>
          <p:cNvSpPr/>
          <p:nvPr/>
        </p:nvSpPr>
        <p:spPr>
          <a:xfrm>
            <a:off x="365760" y="9144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Nella SEZIONE 4 – ANALISI SEMANTICA, la classe </a:t>
            </a:r>
            <a:r>
              <a:rPr kumimoji="0" lang="it-IT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SemanticAnalyzer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utilizza due metodi di supporto per valutare i tipi durante un'operazione binaria (come l'addizione o la sottrazione):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BDB430A-81AD-63D2-BC5C-6807FF7CA477}"/>
              </a:ext>
            </a:extLst>
          </p:cNvPr>
          <p:cNvSpPr/>
          <p:nvPr/>
        </p:nvSpPr>
        <p:spPr>
          <a:xfrm>
            <a:off x="36576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Soluzione implementata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E39CAF9-F316-F221-3A7D-BEB1C4D8387A}"/>
              </a:ext>
            </a:extLst>
          </p:cNvPr>
          <p:cNvSpPr/>
          <p:nvPr/>
        </p:nvSpPr>
        <p:spPr>
          <a:xfrm>
            <a:off x="365760" y="173736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F4C9636-45DA-3C11-25BD-FD0E80D725B3}"/>
              </a:ext>
            </a:extLst>
          </p:cNvPr>
          <p:cNvSpPr/>
          <p:nvPr/>
        </p:nvSpPr>
        <p:spPr>
          <a:xfrm>
            <a:off x="502920" y="182880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_compatible(self, t1: str, t2: str) -&gt; bool:        	numeric = {'int', 'float'}        </a:t>
            </a:r>
          </a:p>
          <a:p>
            <a:pPr lvl="0"/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if t1 == t2:          return True        </a:t>
            </a:r>
          </a:p>
          <a:p>
            <a:pPr lvl="0"/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if t1 in numeric and t2 in numeric: return True return False    </a:t>
            </a:r>
          </a:p>
          <a:p>
            <a:pPr lvl="0"/>
            <a:endParaRPr lang="en-US" sz="1100" dirty="0">
              <a:solidFill>
                <a:srgbClr val="4ADE8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0"/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</a:t>
            </a:r>
            <a:r>
              <a:rPr lang="en-US" sz="110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result_type</a:t>
            </a: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t1: str, t2: str) -&gt; str:        return 'float' if 'float' in (t1, t2) else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27B5F6E-3FF3-B29C-FAF5-177357E4D752}"/>
              </a:ext>
            </a:extLst>
          </p:cNvPr>
          <p:cNvSpPr/>
          <p:nvPr/>
        </p:nvSpPr>
        <p:spPr>
          <a:xfrm>
            <a:off x="365760" y="3520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00" b="1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Dove genera il codice "senza fare il cast"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3AA790D-9F3E-7C3B-D072-6E751554F90E}"/>
              </a:ext>
            </a:extLst>
          </p:cNvPr>
          <p:cNvSpPr/>
          <p:nvPr/>
        </p:nvSpPr>
        <p:spPr>
          <a:xfrm>
            <a:off x="365760" y="3886200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Nella SEZIONE 5 – GENERATORE DI CODICE C, la classe </a:t>
            </a:r>
            <a:r>
              <a:rPr kumimoji="0" lang="it-I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CodeGenerator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si occupa di stampare il codice finale.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Quando arriva il momento di tradurre il </a:t>
            </a:r>
            <a:r>
              <a:rPr kumimoji="0" lang="it-I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BinOpNode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il generatore si limita a incollare l'operando sinistro, l'operatore e l'operando destro dentro due parentesi tonde, senza aggiungere alcun operatore di cast esplicito come (float)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A081597-A1E9-334B-4503-5B6B7A30EA58}"/>
              </a:ext>
            </a:extLst>
          </p:cNvPr>
          <p:cNvSpPr/>
          <p:nvPr/>
        </p:nvSpPr>
        <p:spPr>
          <a:xfrm>
            <a:off x="5532120" y="3818415"/>
            <a:ext cx="3474720" cy="1091913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22E5AAE-A413-AA98-8AB4-F7711C64B7B7}"/>
              </a:ext>
            </a:extLst>
          </p:cNvPr>
          <p:cNvSpPr/>
          <p:nvPr/>
        </p:nvSpPr>
        <p:spPr>
          <a:xfrm>
            <a:off x="5669280" y="3909855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</a:t>
            </a:r>
            <a:r>
              <a:rPr lang="en-US" sz="110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v_BinOpNode</a:t>
            </a: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node: </a:t>
            </a:r>
            <a:r>
              <a:rPr lang="en-US" sz="110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BinOpNode</a:t>
            </a: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str:</a:t>
            </a:r>
          </a:p>
          <a:p>
            <a:pPr lvl="0"/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lvl="0"/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f"({</a:t>
            </a:r>
            <a:r>
              <a:rPr lang="en-US" sz="110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self._v</a:t>
            </a: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node.left</a:t>
            </a: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 {</a:t>
            </a:r>
            <a:r>
              <a:rPr lang="en-US" sz="110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node.op</a:t>
            </a: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{</a:t>
            </a:r>
            <a:r>
              <a:rPr lang="en-US" sz="110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self._v</a:t>
            </a: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node.right</a:t>
            </a: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)})"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1AC24D-8C30-334D-173E-4F8E0F116CBA}"/>
              </a:ext>
            </a:extLst>
          </p:cNvPr>
          <p:cNvSpPr txBox="1"/>
          <p:nvPr/>
        </p:nvSpPr>
        <p:spPr>
          <a:xfrm>
            <a:off x="5532120" y="1898374"/>
            <a:ext cx="3108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/>
              <a:t>ll</a:t>
            </a:r>
            <a:r>
              <a:rPr lang="en-GB" sz="1400" dirty="0"/>
              <a:t> </a:t>
            </a:r>
            <a:r>
              <a:rPr lang="en-GB" sz="1400" dirty="0" err="1"/>
              <a:t>compilatore</a:t>
            </a:r>
            <a:r>
              <a:rPr lang="en-GB" sz="1400" dirty="0"/>
              <a:t> </a:t>
            </a:r>
            <a:r>
              <a:rPr lang="en-GB" dirty="0" err="1"/>
              <a:t>gcc</a:t>
            </a:r>
            <a:r>
              <a:rPr lang="en-GB" sz="1400"/>
              <a:t> converte</a:t>
            </a:r>
            <a:r>
              <a:rPr lang="en-GB" sz="1400" dirty="0"/>
              <a:t> </a:t>
            </a:r>
            <a:r>
              <a:rPr lang="en-GB" sz="1400" dirty="0" err="1"/>
              <a:t>automaticamente</a:t>
            </a:r>
            <a:r>
              <a:rPr lang="en-GB" sz="1400" dirty="0"/>
              <a:t> </a:t>
            </a:r>
            <a:r>
              <a:rPr lang="en-GB" sz="1400" dirty="0" err="1"/>
              <a:t>l'intero</a:t>
            </a:r>
            <a:r>
              <a:rPr lang="en-GB" sz="1400" dirty="0"/>
              <a:t> in </a:t>
            </a:r>
            <a:r>
              <a:rPr lang="en-GB" sz="1400" dirty="0" err="1"/>
              <a:t>virgola</a:t>
            </a:r>
            <a:r>
              <a:rPr lang="en-GB" sz="1400" dirty="0"/>
              <a:t> mobile prima di </a:t>
            </a:r>
            <a:r>
              <a:rPr lang="en-GB" sz="1400" dirty="0" err="1"/>
              <a:t>eseguire</a:t>
            </a:r>
            <a:r>
              <a:rPr lang="en-GB" sz="1400" dirty="0"/>
              <a:t> il </a:t>
            </a:r>
            <a:r>
              <a:rPr lang="en-GB" sz="1400" dirty="0" err="1"/>
              <a:t>calcolo</a:t>
            </a:r>
            <a:r>
              <a:rPr lang="en-GB" sz="1400" dirty="0"/>
              <a:t> a </a:t>
            </a:r>
            <a:r>
              <a:rPr lang="en-GB" sz="1400" dirty="0" err="1"/>
              <a:t>livello</a:t>
            </a:r>
            <a:r>
              <a:rPr lang="en-GB" sz="1400" dirty="0"/>
              <a:t> </a:t>
            </a:r>
            <a:r>
              <a:rPr lang="en-GB" sz="1400" dirty="0" err="1"/>
              <a:t>macchina</a:t>
            </a:r>
            <a:r>
              <a:rPr lang="en-GB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55302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Reporting: Accumulo di Tutti gli Errori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Il compilatore NON si ferma al primo errore — analizza tutto l'AST e riporta un elenco completo.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SemanticAnalyzer: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self.errors: list[SemanticError] = []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error(self, msg, line=None):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self.errors.append(SemanticError(msg, line))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Non lancia eccezione → l'analisi continua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analyze(self, ast):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self.visit(ast)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self.errors: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e in self.errors: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print(f"[ERRORE] Riga {e.line}: {e.msg}")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CompilationError(f"{len(self.errors)} errori trovati")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325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9 categorie di errore rilevate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719072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Identificatore non dichiarato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Dichiarazione multipla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Type Mismatch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Condizione non booleana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Numero argomenti errato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Tipo argomento errato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Assegnazione a costante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Indirizzo di costante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scanef senza &amp;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3384" y="4416552"/>
            <a:ext cx="4691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Comportamento analogo a gcc: il developer riceve tutto il feedback in una sola compilazione.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errore.cro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A5E9"/>
                </a:solidFill>
              </a:rPr>
              <a:t>File di test negativo: 9 errori semantici intenzionali (uno per categoria)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Comando da lanciare: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compilatore_cro.py errore.cro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Output atteso (esempio):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2212848"/>
          </a:xfrm>
          <a:prstGeom prst="roundRect">
            <a:avLst>
              <a:gd name="adj" fmla="val 3306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79552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[ERRORE] Riga  3: 'z': identificatore non dichiarato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[ERRORE] Riga  8: 'x': già dichiarato in questo scope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[ERRORE] Riga 12: Type Mismatch: assegnazione 'comm' a variabile 'nummero'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[ERRORE] Riga 17: Condizione 'si' non booleana (tipo: nummero)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[ERRORE] Riga 22: 'somma': numero argomenti errato (attesi 2, forniti 3)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[ERRORE] Riga 27: Tipo argomento errato (atteso 'nummero', ricevuto 'comm')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[ERRORE] Riga 31: Assegnazione a costante 'MAX'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[ERRORE] Riga 35: '&amp;MAX': impossibile prendere l'indirizzo di una costante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[ERRORE] Riga 39: scanef: l'argomento deve essere '&amp;variabile', non 'x'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Compilazione fallita: 9 errori trovati.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D34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Generazione del Codice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A5E9"/>
                </a:solidFill>
              </a:rPr>
              <a:t>Slide 24 – 27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Visitor Pattern con Riflessione Python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</a:rPr>
              <a:t>Nessun metodo accept() nei nodi. Il dispatch avviene tramite getattr — zero boilerplate.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669280" cy="36576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CodeGenerator: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visit(self, node):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"""Dispatch generico tramite riflessione."""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method_name = f'visit_{node.__class__.__name__}'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method = getattr(self, method_name, self.generic_visit)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method(node)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generic_visit(self, node):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Exception(f'Nessun visitor per {node.__class__.__name__}')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visit_VarDeclNode(self, node):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type_map = {'nummero':'int','comm':'float',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'carattere':'char','bull':'bool','a vacant':'void'}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c_type = ('const ' if node.const else '') + type_map[node.var_type]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 = self.visit(node.value) if node.value else ''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f'{c_type} {node.name}' + (f' = {val}' if val else '') + ';'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visit_BinOpNode(self, node):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op_map = {'e':'&amp;&amp;', 'o':'||', 'non':'!'}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 = op_map.get(node.op, node.op)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f'({self.visit(node.left)} {op} {self.visit(node.right)})'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Vantaggi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69164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Nodi AST rimangono semplici data class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Tutta la logica di traduzione in un'unica classe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Facile aggiungere nuovi nodi: basta un nuovo metodo visit_NomeNode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Nessun double dispatch né metodo accept nei nodi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Indentazione Relativa: Soluzione al Raddoppio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</a:rPr>
              <a:t>Problema: con un contatore di profondità globale, i costrutti annidati raddoppiano l'indentazione.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EF4444"/>
                </a:solidFill>
              </a:rPr>
              <a:t>Approccio</a:t>
            </a:r>
            <a:r>
              <a:rPr lang="en-US" sz="1300" b="1" dirty="0">
                <a:solidFill>
                  <a:srgbClr val="EF4444"/>
                </a:solidFill>
              </a:rPr>
              <a:t> con contatore globale (bug)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 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visit_WhileNode(node):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depth += 1                     # profondità +1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 = visit(node.body)        # già indentato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code = indent(f'while(...){{')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code += body   # ← doppia indentazione!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depth -=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0B981"/>
                </a:solidFill>
              </a:rPr>
              <a:t>Indentazione</a:t>
            </a:r>
            <a:r>
              <a:rPr lang="en-US" sz="1300" b="1" dirty="0">
                <a:solidFill>
                  <a:srgbClr val="10B981"/>
                </a:solidFill>
              </a:rPr>
              <a:t> relativa (implementato)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411480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800600" y="178308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_indent(code: str) -&gt; str: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'\n'.join('    '+l for l in code.split('\n'))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visit_WhileNode(self, node):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 = self.visit(node.condition)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 = self.visit(node.body)  # parte da col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inner = self._indent(body)    # traslazione +1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f'while ({cond}) {{\n{inner}\n}}'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886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Principio: ogni metodo produce una stringa con prima riga a colonna 0. Il contenuto interno è indentato di un livello. Il nodo padre applica un'ulteriore traslazione rigida sull'intero blocco — senza contatore condiviso.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5537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Risultato: il codice C generato è correttamente indentato anche per switch annidati in for annidati in capo (n livelli).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DEMO — calcolatrice.cro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A5E9"/>
                </a:solidFill>
              </a:rPr>
              <a:t>Programma obbligatorio: esercita quasi tutti i costrutti del linguaggio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Step 1 — Compila C-ro → 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17190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compilatore_cro.py calcolatrice.cro -o calcolatrice.c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Step 2 — Compila C con gcc (zero warning!)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8775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26791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-Wall -Wextra -o calcolatrice calcolatrice.c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Step 3 — Esegui il programma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47872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94360" y="363931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 Mac/Linux: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./calcolatrice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 Windows: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.\calcolatrice.exe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3200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Costrutti dimostrati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356616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funzioni, capo, torn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si / else if / s'invece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facimm / cas / default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trament (con do-while implicito)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stambf / scanef + operatore &amp;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const, operatori logici e relazionali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D34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Suite &amp; Conclusioni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A5E9"/>
                </a:solidFill>
              </a:rPr>
              <a:t>Slide 28 – 32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Suite: 43 Test Automatizzati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FFFFF"/>
                </a:solidFill>
              </a:rPr>
              <a:t>43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A5E9"/>
                </a:solidFill>
              </a:rPr>
              <a:t>test totali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00400" y="10515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FFFFF"/>
                </a:solidFill>
              </a:rPr>
              <a:t>35</a:t>
            </a:r>
            <a:endParaRPr lang="en-US" sz="7000" dirty="0"/>
          </a:p>
        </p:txBody>
      </p:sp>
      <p:sp>
        <p:nvSpPr>
          <p:cNvPr id="9" name="Text 7"/>
          <p:cNvSpPr/>
          <p:nvPr/>
        </p:nvSpPr>
        <p:spPr>
          <a:xfrm>
            <a:off x="3200400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A5E9"/>
                </a:solidFill>
              </a:rPr>
              <a:t>test unitari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00584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0D4F3C"/>
          </a:solidFill>
          <a:ln w="12700">
            <a:solidFill>
              <a:srgbClr val="0D4F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035040" y="10515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FFFFF"/>
                </a:solidFill>
              </a:rPr>
              <a:t>8</a:t>
            </a:r>
            <a:endParaRPr lang="en-US" sz="7000" dirty="0"/>
          </a:p>
        </p:txBody>
      </p:sp>
      <p:sp>
        <p:nvSpPr>
          <p:cNvPr id="12" name="Text 10"/>
          <p:cNvSpPr/>
          <p:nvPr/>
        </p:nvSpPr>
        <p:spPr>
          <a:xfrm>
            <a:off x="6035040" y="2057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DE80"/>
                </a:solidFill>
              </a:rPr>
              <a:t>test integrazione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063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Test Unitari (35)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456432"/>
            <a:ext cx="4114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Uno per ogni costrutto del linguaggio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Verifica della compilazione C-ro → C (output corretto)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Test negativi: errori sintattici e semantici attesi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Eseguiti senza gcc (solo il compilatore Python)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3063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3C"/>
                </a:solidFill>
              </a:rPr>
              <a:t>Test di Integrazione (8)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3456432"/>
            <a:ext cx="4114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Compilano il C generato con gcc -Wall -Wextra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Forniscono input simulato su stdin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Verificano l'output prodotto a runtime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Include il test obbligatorio: calcolatrice.cro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Test Suite Completa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A5E9"/>
                </a:solidFill>
              </a:rPr>
              <a:t>43 test: unitari + integrazione end-to-end con gcc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Comando: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17647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test_suite.py -v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Output atteso: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8229600" cy="2304288"/>
          </a:xfrm>
          <a:prstGeom prst="roundRect">
            <a:avLst>
              <a:gd name="adj" fmla="val 3175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795528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test_var_decl_int .............. 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test_var_decl_float ............ 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test_if_else ................... 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test_switch_case ............... 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test_while_loop ................ 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test_for_loop .................. 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test_do_while .................. 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test_function_call ............. 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test_error_undeclared .......... ok (errore atteso rilevato)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test_integration_calcolatrice .. 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 43 tests in 4.87s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Limitazioni Note e Scelte Progettuali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1298448"/>
          </a:xfrm>
          <a:prstGeom prst="roundRect">
            <a:avLst>
              <a:gd name="adj" fmla="val 5634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No array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Il linguaggio non supporta array o strutture indicizzate. Coerente con la complessità del progetto 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60520" cy="1298448"/>
          </a:xfrm>
          <a:prstGeom prst="roundRect">
            <a:avLst>
              <a:gd name="adj" fmla="val 5634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892040" y="10515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No struct / union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4173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Nessun tipo dato composito. Ogni variabile ha un tipo scalare (nummero, comm, carattere, bull).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4160520" cy="1298448"/>
          </a:xfrm>
          <a:prstGeom prst="roundRect">
            <a:avLst>
              <a:gd name="adj" fmla="val 5634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02920" y="24414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No puntatori generici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80720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L'operatore &amp; è utilizzabile esclusivamente come argomento di scanef — non come tipo o valore restituito.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350008"/>
            <a:ext cx="4160520" cy="1298448"/>
          </a:xfrm>
          <a:prstGeom prst="roundRect">
            <a:avLst>
              <a:gd name="adj" fmla="val 5634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892040" y="24414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No memoria dinamica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80720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malloc/free/calloc non sono supportati. Scope e lifetime seguono il modello stack del 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739896"/>
            <a:ext cx="4160520" cy="1298448"/>
          </a:xfrm>
          <a:prstGeom prst="roundRect">
            <a:avLst>
              <a:gd name="adj" fmla="val 5634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920" y="383133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Ritorno singolo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19709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Ogni funzione restituisce un solo valore (o a vacant), in coerenza con la semantica del C target.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739896"/>
            <a:ext cx="4160520" cy="1298448"/>
          </a:xfrm>
          <a:prstGeom prst="roundRect">
            <a:avLst>
              <a:gd name="adj" fmla="val 5634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892040" y="383133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char CONST limitato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19709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Le costanti carattere sono supportate ma senza escape sequence avanzate (es. \t, \0).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</a:rPr>
              <a:t>◆  </a:t>
            </a:r>
            <a:r>
              <a:rPr lang="en-US" sz="1400" dirty="0">
                <a:solidFill>
                  <a:srgbClr val="CBD5E1"/>
                </a:solidFill>
              </a:rPr>
              <a:t>Pipeline classica in 5 fasi: Lexer → Parser (Earley) → AST → Semantica → Codegen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</a:rPr>
              <a:t>◆  </a:t>
            </a:r>
            <a:r>
              <a:rPr lang="en-US" sz="1400" dirty="0">
                <a:solidFill>
                  <a:srgbClr val="CBD5E1"/>
                </a:solidFill>
              </a:rPr>
              <a:t>@dataclass per nodi AST puliti · Visitor con riflessione per il codegen · Indentazione relativa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</a:rPr>
              <a:t>◆  </a:t>
            </a:r>
            <a:r>
              <a:rPr lang="en-US" sz="1400" dirty="0">
                <a:solidFill>
                  <a:srgbClr val="CBD5E1"/>
                </a:solidFill>
              </a:rPr>
              <a:t>Error reporting completo: tutti gli errori semantici in una sola passata (9 categorie)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</a:rPr>
              <a:t>◆  </a:t>
            </a:r>
            <a:r>
              <a:rPr lang="en-US" sz="1400" dirty="0">
                <a:solidFill>
                  <a:srgbClr val="CBD5E1"/>
                </a:solidFill>
              </a:rPr>
              <a:t>43 test automatizzati: unitari + integrazione end-to-end con gcc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</a:rPr>
              <a:t>◆  </a:t>
            </a:r>
            <a:r>
              <a:rPr lang="en-US" sz="1400" dirty="0">
                <a:solidFill>
                  <a:srgbClr val="CBD5E1"/>
                </a:solidFill>
              </a:rPr>
              <a:t>Deviazioni documentate: operatore &amp;, ogni {} apre scope, regole ausiliarie Lark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</a:rPr>
              <a:t>Uso degli LLM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4165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Impiegati come tutor per esplorare conflitti di grammatica e accelerare la scrittura di test e boilerplate. Ogni logica semantica e regola di parsing è stata personalmente verificata ed eseguita.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Russo Alberto — Matricola 0512119718  ·  Prof. Gennaro Costagliola  ·  EILP A.A. 2025/26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5706</Words>
  <Application>Microsoft Office PowerPoint</Application>
  <PresentationFormat>On-screen Show (16:9)</PresentationFormat>
  <Paragraphs>688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Compilatore C-ro — EILP 2025/26</dc:title>
  <dc:subject>PptxGenJS Presentation</dc:subject>
  <dc:creator>Russo Alberto</dc:creator>
  <cp:lastModifiedBy>ALBERTO RUSSO</cp:lastModifiedBy>
  <cp:revision>4</cp:revision>
  <dcterms:created xsi:type="dcterms:W3CDTF">2026-06-22T21:01:55Z</dcterms:created>
  <dcterms:modified xsi:type="dcterms:W3CDTF">2026-06-22T22:07:17Z</dcterms:modified>
</cp:coreProperties>
</file>