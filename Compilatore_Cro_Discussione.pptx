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933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presentare il progetto come Progetto A della traccia — un compilatore completo per un linguaggio proprio (C-ro), sviluppato in Python con Lark, target di compilazione C standard. Menzionare subito i 4 file consegnati: compilatore_cro.py (il compilatore, ~1130 righe), calcolatrice.cro (programma dimostrativo obbligatorio), errore.cro (test negativo), test_suite.py (43 test automatizzati). La pipeline mostrata in basso (Lexer/Parser → AST → Analisi Semantica → Code Gen → C) è la struttura che guiderà tutta la discussione, slide per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serve da mappa: ogni macro-sezione ricalca esattamente una sezione del file compilatore_cro.py (che è diviso in 8 SEZIONI numerate con commenti a blocco). Tenerla a mente per orientarsi se il docente chiede di saltare a una parte specifica.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Spiegare che il documento di specifica (EILP.tex/EILP.pdf) è stato scritto PRIMA dell'implementazione, e che durante lo sviluppo sono emerse scelte pratiche non previste nella specifica originale (vedi Sezione 6 del documento) — questo è un punto che il docente apprezzerà: dimostra consapevolezza del processo di sviluppo, non solo del risultato finale.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slide-ancora di tutta la presentazione: ogni sezione successiva approfondisce una di queste 5 caselle. Mostrare a schermo (se possibile dal vivo) la funzione compile_cro() a riga 924-946 come prova diretta della pipeline. Far notare che l'ultima fase (Codice C) non è 'finta': il C prodotto è vero C standard, compilato con gcc -Wall -Wextra senza warning su tutti i programmi di test.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Tenere questa tabella come riferimento rapido se il docente chiede 'dove si trova X'. compilatore_cro.py è organizzato con commenti '# SEZIONE N — ...' che corrispondono esattamente alle sezioni di questa presentazione.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Divisore di sezione. La grammatica Lark occupa le righe 43-186 del file, definita nella stringa raw GRAMMATICA_CRO.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chiave da saper spiegare a voce: cos'è il dangling else e perché è un problema di ambiguità grammaticale, non un bug. Esempio pratico da poter scrivere alla lavagna: if (a) if (b) stmt1; else stmt2; — a quale if appartiene else? LALR(1) richiederebbe una riscrittura della grammatica (introdurre 'matched/unmatched statement'); Earley risolve automaticamente con la convenzione standard.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Tabella completa nel documento di specifica (sez. 2.1). Qui solo un estratto rappresentativo per la discussione orale — sapere spiegare la logica del mapping 1:1 mantenuta fino al CodeGenerator (TYPE_MAP e name_map in CodeGenerator, righe ~792 e ~913).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Mostrare come main_decl produca FunctionDeclNode con is_main=True (vedi AST, Sezione 2), che il CodeGenerator userà per generare int main(void) invece di un nome di funzione qualsiasi.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if_stmt produce IfNode con campo elif_clauses (lista di tuple condizione,corpo) e else_branch opzionale — vedi AST in Sezione 2 e Transformer in Sezione 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 notare che ppe (for) non è usato nella calcolatrice — per varietà, si potrebbe menzionare che è comunque testato in test_suite.py (test_for).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Spiegare la 'grammatica a strati': ogni livello di precedenza è una regola che chiama solo il livello immediatamente sottostante, garantendo precedenza corretta senza ambiguità e senza bisogno di dichiarazioni esplicite di precedenza (diversamente da yacc/bison). Il prefisso ? non è usato su assign_expr per evitare conflitti con gli alias (commento esplicito a riga 124 del file).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Domanda plausibile del docente: 'hai trovato problemi durante l'implementazione?' — questo è IL momento per raccontare questo bug reale, mostrando di aver davvero scritto e debuggato il codice, non solo copiato. Documentato anche in EILP.tex §6.2.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probabilmente la deviazione più 'difendibile' da spiegare: nasce da un bisogno funzionale concreto (l'I/O reale), non da un capriccio implementativo. Documentato in EILP.tex §6.3.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Divisore di sezione. Nodi AST: righe 187-319. CroTransformer: righe 326-510.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Documentato come scelta progettuale in EILP.tex §6.7. Sapere citare a memoria almeno 5-6 nomi di nodi diversi se chiesto.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CroTransformer copre tutte le regole della grammatica con un metodo dedicato: 1 metodo per dichiarazioni, 1 per ogni istruzione, diversi per le espressioni (vedi slide successiva per i casi più articolati).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Altro ottimo esempio di bug reale da raccontare se chiesto: scoperto testando l'operatore 'e' (and) che inizialmente produceva BinOpNode con operatore None.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Divisore di sezione. SymbolTable: righe 518-533. SemanticAnalyzer: righe 535-785.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Sapere disegnare a mano la catena di scope se richiesto: global -&gt; fun:nomefunzione -&gt; block -&gt; block annidato, ciascuno con .parent che punta al precedente.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Spiegare il motivo dell'eccezione per il corpo diretto della funzione: parametri formali e variabili locali di primo livello condividono lo stesso ambiente, evitando un livello di annidamento ridondante (altrimenti un parametro e una variabile locale dichiarati con lo stesso nome non darebbero errore, il che sarebbe contro-intuitivo). Mostrare l'esempio: if in un ramo e else nell'altro possono avere variabili omonime senza conflitto, perché sono in scope distinti.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Riferimento diretto al type system descritto in EILP §4.2 con le regole IF-THEN per AddOp/MulOp — l'implementazione segue esattamente quella logica. Le diramazioni omesse (&amp;&amp;/|| e relazionali) sono identiche nella forma, solo con tipo di ritorno fisso 'bool'.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l'output REALE ottenuto eseguendo python compilatore_cro.py errore.cro — non simulato. Ottimo per dimostrare in tempo reale durante l'orale, se richiesto un live demo.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Divisore di sezione. CodeGenerator: righe 790-916.</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Stesso schema architetturale presentato come esempio nella specifica del docente (EILP.tex §5.2, CodeGeneratorVisitor) — far notare la coerenza con l'esempio fornito.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reale, scoperto e corretto durante i test sul programma calcolatrice.cro (lo switch annidato dentro il for/while produceva doppia indentazione). Ottimo esempio di debug reale per l'orale.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esempio è ESATTAMENTE quello usato nel self-test integrato del compilatore (TESTS['funzione + chiamata'] in compilatore_cro.py riga ~970).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Divisore di sezione. Copre i tre file di validazione del progetto.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Eseguire dal vivo, se possibile: python test_suite.py -v — richiede gcc nel PATH per i test di integrazione, altrimenti vengono saltati automaticamente (non falliscono).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Saper eseguire dal vivo: python compilatore_cro.py calcolatrice.cro -o calcolatrice.c &amp;&amp; gcc ... &amp;&amp; ./calcolatrice — provare almeno un'operazione e l'uscita dal menu.</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errore.cro è stato eseguito davvero contro il compilatore prima della consegna: l'output mostrato qui è copiato esattamente da quello prodotto, non inventato. Dimostra in un colpo solo: (a) tutte le categorie di controllo semantico implementate, (b) la strategia di accumulo di tutti gli errori in un'unica passata (Sezione 4).</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Chiudere mostrando consapevolezza dei limiti — è un punto a favore, non una debolezza, se esposto con sicurezza. Menzionare la sinergia con Progetto B se il docente lo chiede esplicitamente (previsto dalla traccia, sez. B).</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chiusura. Ribadire la pipeline come filo conduttore di tutta la discussione. Tenersi pronti a tornare a una qualsiasi slide precedente su richiesta del docente: l'ordine delle sezioni ricalca l'ordine del file compilatore_cro.py, quindi è facile orientarsi anche aprendo il codice sorgente in parallelo.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9784080" y="-1097280"/>
            <a:ext cx="4114800" cy="4114800"/>
          </a:xfrm>
          <a:prstGeom prst="ellipse">
            <a:avLst/>
          </a:prstGeom>
          <a:solidFill>
            <a:srgbClr val="1F2937"/>
          </a:solidFill>
          <a:ln/>
        </p:spPr>
        <p:txBody>
          <a:bodyPr/>
          <a:lstStyle/>
          <a:p>
            <a:endParaRPr lang="en-GB"/>
          </a:p>
        </p:txBody>
      </p:sp>
      <p:sp>
        <p:nvSpPr>
          <p:cNvPr id="3" name="Shape 1"/>
          <p:cNvSpPr/>
          <p:nvPr/>
        </p:nvSpPr>
        <p:spPr>
          <a:xfrm>
            <a:off x="11247120" y="4206240"/>
            <a:ext cx="2743200" cy="2743200"/>
          </a:xfrm>
          <a:prstGeom prst="ellipse">
            <a:avLst/>
          </a:prstGeom>
          <a:solidFill>
            <a:srgbClr val="1F2937"/>
          </a:solidFill>
          <a:ln/>
        </p:spPr>
        <p:txBody>
          <a:bodyPr/>
          <a:lstStyle/>
          <a:p>
            <a:endParaRPr lang="en-GB"/>
          </a:p>
        </p:txBody>
      </p:sp>
      <p:sp>
        <p:nvSpPr>
          <p:cNvPr id="4" name="Text 2"/>
          <p:cNvSpPr/>
          <p:nvPr/>
        </p:nvSpPr>
        <p:spPr>
          <a:xfrm>
            <a:off x="822960" y="1554480"/>
            <a:ext cx="8229600" cy="365760"/>
          </a:xfrm>
          <a:prstGeom prst="rect">
            <a:avLst/>
          </a:prstGeom>
          <a:noFill/>
          <a:ln/>
        </p:spPr>
        <p:txBody>
          <a:bodyPr wrap="square" lIns="0" tIns="0" rIns="0" bIns="0" rtlCol="0" anchor="ctr"/>
          <a:lstStyle/>
          <a:p>
            <a:pPr marL="0" indent="0">
              <a:buNone/>
            </a:pPr>
            <a:r>
              <a:rPr lang="en-US" sz="1300" b="1" kern="0" spc="300" dirty="0">
                <a:solidFill>
                  <a:srgbClr val="2DD4BF"/>
                </a:solidFill>
                <a:latin typeface="Calibri" pitchFamily="34" charset="0"/>
                <a:ea typeface="Calibri" pitchFamily="34" charset="-122"/>
                <a:cs typeface="Calibri" pitchFamily="34" charset="-120"/>
              </a:rPr>
              <a:t>PROGETTO A · CORSO EILP 2025/26 Russo Alberto – Gennaro Costagliola</a:t>
            </a:r>
            <a:endParaRPr lang="en-US" sz="1300" dirty="0"/>
          </a:p>
        </p:txBody>
      </p:sp>
      <p:sp>
        <p:nvSpPr>
          <p:cNvPr id="5" name="Text 3"/>
          <p:cNvSpPr/>
          <p:nvPr/>
        </p:nvSpPr>
        <p:spPr>
          <a:xfrm>
            <a:off x="777240" y="1965960"/>
            <a:ext cx="9601200" cy="118872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Compilatore C-ro</a:t>
            </a:r>
            <a:endParaRPr lang="en-US" sz="5600" dirty="0"/>
          </a:p>
        </p:txBody>
      </p:sp>
      <p:sp>
        <p:nvSpPr>
          <p:cNvPr id="6" name="Text 4"/>
          <p:cNvSpPr/>
          <p:nvPr/>
        </p:nvSpPr>
        <p:spPr>
          <a:xfrm>
            <a:off x="822960" y="3154680"/>
            <a:ext cx="8686800" cy="822960"/>
          </a:xfrm>
          <a:prstGeom prst="rect">
            <a:avLst/>
          </a:prstGeom>
          <a:noFill/>
          <a:ln/>
        </p:spPr>
        <p:txBody>
          <a:bodyPr wrap="square" lIns="0" tIns="0" rIns="0" bIns="0" rtlCol="0" anchor="ctr"/>
          <a:lstStyle/>
          <a:p>
            <a:pPr marL="0" indent="0">
              <a:lnSpc>
                <a:spcPct val="125000"/>
              </a:lnSpc>
              <a:buNone/>
            </a:pPr>
            <a:r>
              <a:rPr lang="en-US" sz="1600" dirty="0">
                <a:solidFill>
                  <a:srgbClr val="C9D2DE"/>
                </a:solidFill>
                <a:latin typeface="Calibri" pitchFamily="34" charset="0"/>
                <a:ea typeface="Calibri" pitchFamily="34" charset="-122"/>
                <a:cs typeface="Calibri" pitchFamily="34" charset="-120"/>
              </a:rPr>
              <a:t>Da un sottoinsieme del C in dialetto napoletano a codice C standard:</a:t>
            </a:r>
            <a:endParaRPr lang="en-US" sz="1600" dirty="0"/>
          </a:p>
          <a:p>
            <a:pPr marL="0" indent="0">
              <a:lnSpc>
                <a:spcPct val="125000"/>
              </a:lnSpc>
              <a:buNone/>
            </a:pPr>
            <a:r>
              <a:rPr lang="en-US" sz="1600" dirty="0">
                <a:solidFill>
                  <a:srgbClr val="C9D2DE"/>
                </a:solidFill>
                <a:latin typeface="Calibri" pitchFamily="34" charset="0"/>
                <a:ea typeface="Calibri" pitchFamily="34" charset="-122"/>
                <a:cs typeface="Calibri" pitchFamily="34" charset="-120"/>
              </a:rPr>
              <a:t>grammatica, AST, analisi semantica e generazione del codice.</a:t>
            </a:r>
            <a:endParaRPr lang="en-US" sz="1600" dirty="0"/>
          </a:p>
        </p:txBody>
      </p:sp>
      <p:sp>
        <p:nvSpPr>
          <p:cNvPr id="7" name="Shape 5"/>
          <p:cNvSpPr/>
          <p:nvPr/>
        </p:nvSpPr>
        <p:spPr>
          <a:xfrm>
            <a:off x="822960" y="4572000"/>
            <a:ext cx="1691640" cy="594360"/>
          </a:xfrm>
          <a:prstGeom prst="roundRect">
            <a:avLst>
              <a:gd name="adj" fmla="val 9231"/>
            </a:avLst>
          </a:prstGeom>
          <a:solidFill>
            <a:srgbClr val="1F2937"/>
          </a:solidFill>
          <a:ln w="12700">
            <a:solidFill>
              <a:srgbClr val="2DD4BF"/>
            </a:solidFill>
            <a:prstDash val="solid"/>
          </a:ln>
        </p:spPr>
        <p:txBody>
          <a:bodyPr/>
          <a:lstStyle/>
          <a:p>
            <a:endParaRPr lang="en-GB"/>
          </a:p>
        </p:txBody>
      </p:sp>
      <p:sp>
        <p:nvSpPr>
          <p:cNvPr id="8" name="Text 6"/>
          <p:cNvSpPr/>
          <p:nvPr/>
        </p:nvSpPr>
        <p:spPr>
          <a:xfrm>
            <a:off x="822960" y="4572000"/>
            <a:ext cx="1691640" cy="594360"/>
          </a:xfrm>
          <a:prstGeom prst="rect">
            <a:avLst/>
          </a:prstGeom>
          <a:noFill/>
          <a:ln/>
        </p:spPr>
        <p:txBody>
          <a:bodyPr wrap="square" lIns="0" tIns="0" rIns="0" bIns="0" rtlCol="0" anchor="ctr"/>
          <a:lstStyle/>
          <a:p>
            <a:pPr marL="0" indent="0" algn="ctr">
              <a:buNone/>
            </a:pPr>
            <a:r>
              <a:rPr lang="en-US" sz="1150" b="1" dirty="0">
                <a:solidFill>
                  <a:srgbClr val="E5EAF2"/>
                </a:solidFill>
                <a:latin typeface="Courier New" pitchFamily="34" charset="0"/>
                <a:ea typeface="Courier New" pitchFamily="34" charset="-122"/>
                <a:cs typeface="Courier New" pitchFamily="34" charset="-120"/>
              </a:rPr>
              <a:t>Lexer/Parser</a:t>
            </a:r>
            <a:endParaRPr lang="en-US" sz="1150" dirty="0"/>
          </a:p>
        </p:txBody>
      </p:sp>
      <p:sp>
        <p:nvSpPr>
          <p:cNvPr id="9" name="Text 7"/>
          <p:cNvSpPr/>
          <p:nvPr/>
        </p:nvSpPr>
        <p:spPr>
          <a:xfrm>
            <a:off x="2514600" y="4572000"/>
            <a:ext cx="256032" cy="594360"/>
          </a:xfrm>
          <a:prstGeom prst="rect">
            <a:avLst/>
          </a:prstGeom>
          <a:noFill/>
          <a:ln/>
        </p:spPr>
        <p:txBody>
          <a:bodyPr wrap="square" lIns="0" tIns="0" rIns="0" bIns="0" rtlCol="0" anchor="ctr"/>
          <a:lstStyle/>
          <a:p>
            <a:pPr marL="0" indent="0" algn="ctr">
              <a:buNone/>
            </a:pPr>
            <a:r>
              <a:rPr lang="en-US" sz="1600" dirty="0">
                <a:solidFill>
                  <a:srgbClr val="2DD4B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70632" y="4572000"/>
            <a:ext cx="1691640" cy="594360"/>
          </a:xfrm>
          <a:prstGeom prst="roundRect">
            <a:avLst>
              <a:gd name="adj" fmla="val 9231"/>
            </a:avLst>
          </a:prstGeom>
          <a:solidFill>
            <a:srgbClr val="1F2937"/>
          </a:solidFill>
          <a:ln w="12700">
            <a:solidFill>
              <a:srgbClr val="2DD4BF"/>
            </a:solidFill>
            <a:prstDash val="solid"/>
          </a:ln>
        </p:spPr>
        <p:txBody>
          <a:bodyPr/>
          <a:lstStyle/>
          <a:p>
            <a:endParaRPr lang="en-GB"/>
          </a:p>
        </p:txBody>
      </p:sp>
      <p:sp>
        <p:nvSpPr>
          <p:cNvPr id="11" name="Text 9"/>
          <p:cNvSpPr/>
          <p:nvPr/>
        </p:nvSpPr>
        <p:spPr>
          <a:xfrm>
            <a:off x="2770632" y="4572000"/>
            <a:ext cx="1691640" cy="594360"/>
          </a:xfrm>
          <a:prstGeom prst="rect">
            <a:avLst/>
          </a:prstGeom>
          <a:noFill/>
          <a:ln/>
        </p:spPr>
        <p:txBody>
          <a:bodyPr wrap="square" lIns="0" tIns="0" rIns="0" bIns="0" rtlCol="0" anchor="ctr"/>
          <a:lstStyle/>
          <a:p>
            <a:pPr marL="0" indent="0" algn="ctr">
              <a:buNone/>
            </a:pPr>
            <a:r>
              <a:rPr lang="en-US" sz="1150" b="1" dirty="0">
                <a:solidFill>
                  <a:srgbClr val="E5EAF2"/>
                </a:solidFill>
                <a:latin typeface="Courier New" pitchFamily="34" charset="0"/>
                <a:ea typeface="Courier New" pitchFamily="34" charset="-122"/>
                <a:cs typeface="Courier New" pitchFamily="34" charset="-120"/>
              </a:rPr>
              <a:t>AST</a:t>
            </a:r>
            <a:endParaRPr lang="en-US" sz="1150" dirty="0"/>
          </a:p>
        </p:txBody>
      </p:sp>
      <p:sp>
        <p:nvSpPr>
          <p:cNvPr id="12" name="Text 10"/>
          <p:cNvSpPr/>
          <p:nvPr/>
        </p:nvSpPr>
        <p:spPr>
          <a:xfrm>
            <a:off x="4462272" y="4572000"/>
            <a:ext cx="256032" cy="594360"/>
          </a:xfrm>
          <a:prstGeom prst="rect">
            <a:avLst/>
          </a:prstGeom>
          <a:noFill/>
          <a:ln/>
        </p:spPr>
        <p:txBody>
          <a:bodyPr wrap="square" lIns="0" tIns="0" rIns="0" bIns="0" rtlCol="0" anchor="ctr"/>
          <a:lstStyle/>
          <a:p>
            <a:pPr marL="0" indent="0" algn="ctr">
              <a:buNone/>
            </a:pPr>
            <a:r>
              <a:rPr lang="en-US" sz="1600" dirty="0">
                <a:solidFill>
                  <a:srgbClr val="2DD4B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718304" y="4572000"/>
            <a:ext cx="1691640" cy="594360"/>
          </a:xfrm>
          <a:prstGeom prst="roundRect">
            <a:avLst>
              <a:gd name="adj" fmla="val 9231"/>
            </a:avLst>
          </a:prstGeom>
          <a:solidFill>
            <a:srgbClr val="1F2937"/>
          </a:solidFill>
          <a:ln w="12700">
            <a:solidFill>
              <a:srgbClr val="2DD4BF"/>
            </a:solidFill>
            <a:prstDash val="solid"/>
          </a:ln>
        </p:spPr>
        <p:txBody>
          <a:bodyPr/>
          <a:lstStyle/>
          <a:p>
            <a:endParaRPr lang="en-GB"/>
          </a:p>
        </p:txBody>
      </p:sp>
      <p:sp>
        <p:nvSpPr>
          <p:cNvPr id="14" name="Text 12"/>
          <p:cNvSpPr/>
          <p:nvPr/>
        </p:nvSpPr>
        <p:spPr>
          <a:xfrm>
            <a:off x="4718304" y="4572000"/>
            <a:ext cx="1691640" cy="594360"/>
          </a:xfrm>
          <a:prstGeom prst="rect">
            <a:avLst/>
          </a:prstGeom>
          <a:noFill/>
          <a:ln/>
        </p:spPr>
        <p:txBody>
          <a:bodyPr wrap="square" lIns="0" tIns="0" rIns="0" bIns="0" rtlCol="0" anchor="ctr"/>
          <a:lstStyle/>
          <a:p>
            <a:pPr marL="0" indent="0" algn="ctr">
              <a:buNone/>
            </a:pPr>
            <a:r>
              <a:rPr lang="en-US" sz="1150" b="1" dirty="0">
                <a:solidFill>
                  <a:srgbClr val="E5EAF2"/>
                </a:solidFill>
                <a:latin typeface="Courier New" pitchFamily="34" charset="0"/>
                <a:ea typeface="Courier New" pitchFamily="34" charset="-122"/>
                <a:cs typeface="Courier New" pitchFamily="34" charset="-120"/>
              </a:rPr>
              <a:t>Sem. Analyzer</a:t>
            </a:r>
            <a:endParaRPr lang="en-US" sz="1150" dirty="0"/>
          </a:p>
        </p:txBody>
      </p:sp>
      <p:sp>
        <p:nvSpPr>
          <p:cNvPr id="15" name="Text 13"/>
          <p:cNvSpPr/>
          <p:nvPr/>
        </p:nvSpPr>
        <p:spPr>
          <a:xfrm>
            <a:off x="6409944" y="4572000"/>
            <a:ext cx="256032" cy="594360"/>
          </a:xfrm>
          <a:prstGeom prst="rect">
            <a:avLst/>
          </a:prstGeom>
          <a:noFill/>
          <a:ln/>
        </p:spPr>
        <p:txBody>
          <a:bodyPr wrap="square" lIns="0" tIns="0" rIns="0" bIns="0" rtlCol="0" anchor="ctr"/>
          <a:lstStyle/>
          <a:p>
            <a:pPr marL="0" indent="0" algn="ctr">
              <a:buNone/>
            </a:pPr>
            <a:r>
              <a:rPr lang="en-US" sz="1600" dirty="0">
                <a:solidFill>
                  <a:srgbClr val="2DD4B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665976" y="4572000"/>
            <a:ext cx="1691640" cy="594360"/>
          </a:xfrm>
          <a:prstGeom prst="roundRect">
            <a:avLst>
              <a:gd name="adj" fmla="val 9231"/>
            </a:avLst>
          </a:prstGeom>
          <a:solidFill>
            <a:srgbClr val="1F2937"/>
          </a:solidFill>
          <a:ln w="12700">
            <a:solidFill>
              <a:srgbClr val="2DD4BF"/>
            </a:solidFill>
            <a:prstDash val="solid"/>
          </a:ln>
        </p:spPr>
        <p:txBody>
          <a:bodyPr/>
          <a:lstStyle/>
          <a:p>
            <a:endParaRPr lang="en-GB"/>
          </a:p>
        </p:txBody>
      </p:sp>
      <p:sp>
        <p:nvSpPr>
          <p:cNvPr id="17" name="Text 15"/>
          <p:cNvSpPr/>
          <p:nvPr/>
        </p:nvSpPr>
        <p:spPr>
          <a:xfrm>
            <a:off x="6665976" y="4572000"/>
            <a:ext cx="1691640" cy="594360"/>
          </a:xfrm>
          <a:prstGeom prst="rect">
            <a:avLst/>
          </a:prstGeom>
          <a:noFill/>
          <a:ln/>
        </p:spPr>
        <p:txBody>
          <a:bodyPr wrap="square" lIns="0" tIns="0" rIns="0" bIns="0" rtlCol="0" anchor="ctr"/>
          <a:lstStyle/>
          <a:p>
            <a:pPr marL="0" indent="0" algn="ctr">
              <a:buNone/>
            </a:pPr>
            <a:r>
              <a:rPr lang="en-US" sz="1150" b="1" dirty="0">
                <a:solidFill>
                  <a:srgbClr val="E5EAF2"/>
                </a:solidFill>
                <a:latin typeface="Courier New" pitchFamily="34" charset="0"/>
                <a:ea typeface="Courier New" pitchFamily="34" charset="-122"/>
                <a:cs typeface="Courier New" pitchFamily="34" charset="-120"/>
              </a:rPr>
              <a:t>Code Gen</a:t>
            </a:r>
            <a:endParaRPr lang="en-US" sz="1150" dirty="0"/>
          </a:p>
        </p:txBody>
      </p:sp>
      <p:sp>
        <p:nvSpPr>
          <p:cNvPr id="18" name="Text 16"/>
          <p:cNvSpPr/>
          <p:nvPr/>
        </p:nvSpPr>
        <p:spPr>
          <a:xfrm>
            <a:off x="8357616" y="4572000"/>
            <a:ext cx="256032" cy="594360"/>
          </a:xfrm>
          <a:prstGeom prst="rect">
            <a:avLst/>
          </a:prstGeom>
          <a:noFill/>
          <a:ln/>
        </p:spPr>
        <p:txBody>
          <a:bodyPr wrap="square" lIns="0" tIns="0" rIns="0" bIns="0" rtlCol="0" anchor="ctr"/>
          <a:lstStyle/>
          <a:p>
            <a:pPr marL="0" indent="0" algn="ctr">
              <a:buNone/>
            </a:pPr>
            <a:r>
              <a:rPr lang="en-US" sz="1600" dirty="0">
                <a:solidFill>
                  <a:srgbClr val="2DD4B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8613648" y="4572000"/>
            <a:ext cx="1691640" cy="594360"/>
          </a:xfrm>
          <a:prstGeom prst="roundRect">
            <a:avLst>
              <a:gd name="adj" fmla="val 9231"/>
            </a:avLst>
          </a:prstGeom>
          <a:solidFill>
            <a:srgbClr val="2DD4BF"/>
          </a:solidFill>
          <a:ln w="12700">
            <a:solidFill>
              <a:srgbClr val="2DD4BF"/>
            </a:solidFill>
            <a:prstDash val="solid"/>
          </a:ln>
        </p:spPr>
        <p:txBody>
          <a:bodyPr/>
          <a:lstStyle/>
          <a:p>
            <a:endParaRPr lang="en-GB"/>
          </a:p>
        </p:txBody>
      </p:sp>
      <p:sp>
        <p:nvSpPr>
          <p:cNvPr id="20" name="Text 18"/>
          <p:cNvSpPr/>
          <p:nvPr/>
        </p:nvSpPr>
        <p:spPr>
          <a:xfrm>
            <a:off x="8613648" y="4572000"/>
            <a:ext cx="1691640" cy="594360"/>
          </a:xfrm>
          <a:prstGeom prst="rect">
            <a:avLst/>
          </a:prstGeom>
          <a:noFill/>
          <a:ln/>
        </p:spPr>
        <p:txBody>
          <a:bodyPr wrap="square" lIns="0" tIns="0" rIns="0" bIns="0" rtlCol="0" anchor="ctr"/>
          <a:lstStyle/>
          <a:p>
            <a:pPr marL="0" indent="0" algn="ctr">
              <a:buNone/>
            </a:pPr>
            <a:r>
              <a:rPr lang="en-US" sz="1150" b="1" dirty="0">
                <a:solidFill>
                  <a:srgbClr val="161B26"/>
                </a:solidFill>
                <a:latin typeface="Courier New" pitchFamily="34" charset="0"/>
                <a:ea typeface="Courier New" pitchFamily="34" charset="-122"/>
                <a:cs typeface="Courier New" pitchFamily="34" charset="-120"/>
              </a:rPr>
              <a:t>C</a:t>
            </a:r>
            <a:endParaRPr lang="en-US" sz="1150" dirty="0"/>
          </a:p>
        </p:txBody>
      </p:sp>
      <p:sp>
        <p:nvSpPr>
          <p:cNvPr id="21" name="Text 19"/>
          <p:cNvSpPr/>
          <p:nvPr/>
        </p:nvSpPr>
        <p:spPr>
          <a:xfrm>
            <a:off x="822960" y="6035040"/>
            <a:ext cx="7315200" cy="365760"/>
          </a:xfrm>
          <a:prstGeom prst="rect">
            <a:avLst/>
          </a:prstGeom>
          <a:noFill/>
          <a:ln/>
        </p:spPr>
        <p:txBody>
          <a:bodyPr wrap="square" lIns="0" tIns="0" rIns="0" bIns="0" rtlCol="0" anchor="ctr"/>
          <a:lstStyle/>
          <a:p>
            <a:pPr marL="0" indent="0">
              <a:buNone/>
            </a:pPr>
            <a:r>
              <a:rPr lang="en-US" sz="1200" i="1" dirty="0">
                <a:solidFill>
                  <a:srgbClr val="8B96A8"/>
                </a:solidFill>
                <a:latin typeface="Calibri" pitchFamily="34" charset="0"/>
                <a:ea typeface="Calibri" pitchFamily="34" charset="-122"/>
                <a:cs typeface="Calibri" pitchFamily="34" charset="-120"/>
              </a:rPr>
              <a:t>Guida alla </a:t>
            </a:r>
            <a:r>
              <a:rPr lang="en-US" sz="1200" i="1" dirty="0" err="1">
                <a:solidFill>
                  <a:srgbClr val="8B96A8"/>
                </a:solidFill>
                <a:latin typeface="Calibri" pitchFamily="34" charset="0"/>
                <a:ea typeface="Calibri" pitchFamily="34" charset="-122"/>
                <a:cs typeface="Calibri" pitchFamily="34" charset="-120"/>
              </a:rPr>
              <a:t>discussione</a:t>
            </a:r>
            <a:r>
              <a:rPr lang="en-US" sz="1200" i="1" dirty="0">
                <a:solidFill>
                  <a:srgbClr val="8B96A8"/>
                </a:solidFill>
                <a:latin typeface="Calibri" pitchFamily="34" charset="0"/>
                <a:ea typeface="Calibri" pitchFamily="34" charset="-122"/>
                <a:cs typeface="Calibri" pitchFamily="34" charset="-120"/>
              </a:rPr>
              <a:t> </a:t>
            </a:r>
            <a:r>
              <a:rPr lang="en-US" sz="1200" i="1" dirty="0" err="1">
                <a:solidFill>
                  <a:srgbClr val="8B96A8"/>
                </a:solidFill>
                <a:latin typeface="Calibri" pitchFamily="34" charset="0"/>
                <a:ea typeface="Calibri" pitchFamily="34" charset="-122"/>
                <a:cs typeface="Calibri" pitchFamily="34" charset="-120"/>
              </a:rPr>
              <a:t>orale</a:t>
            </a:r>
            <a:r>
              <a:rPr lang="en-US" sz="1200" i="1" dirty="0">
                <a:solidFill>
                  <a:srgbClr val="8B96A8"/>
                </a:solidFill>
                <a:latin typeface="Calibri" pitchFamily="34" charset="0"/>
                <a:ea typeface="Calibri" pitchFamily="34" charset="-122"/>
                <a:cs typeface="Calibri" pitchFamily="34" charset="-120"/>
              </a:rPr>
              <a:t> del </a:t>
            </a:r>
            <a:r>
              <a:rPr lang="en-US" sz="1200" i="1" dirty="0" err="1">
                <a:solidFill>
                  <a:srgbClr val="8B96A8"/>
                </a:solidFill>
                <a:latin typeface="Calibri" pitchFamily="34" charset="0"/>
                <a:ea typeface="Calibri" pitchFamily="34" charset="-122"/>
                <a:cs typeface="Calibri" pitchFamily="34" charset="-120"/>
              </a:rPr>
              <a:t>progetto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3" name="Text 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INDICE DELLA DISCUSSIONE</a:t>
            </a:r>
            <a:endParaRPr lang="en-US" sz="1150" dirty="0"/>
          </a:p>
        </p:txBody>
      </p:sp>
      <p:sp>
        <p:nvSpPr>
          <p:cNvPr id="5" name="Text 3"/>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Table of contents</a:t>
            </a:r>
            <a:endParaRPr lang="en-US" sz="2800" dirty="0"/>
          </a:p>
        </p:txBody>
      </p:sp>
      <p:sp>
        <p:nvSpPr>
          <p:cNvPr id="6" name="Shape 4"/>
          <p:cNvSpPr/>
          <p:nvPr/>
        </p:nvSpPr>
        <p:spPr>
          <a:xfrm>
            <a:off x="548640" y="1508760"/>
            <a:ext cx="534924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7" name="Text 5"/>
          <p:cNvSpPr/>
          <p:nvPr/>
        </p:nvSpPr>
        <p:spPr>
          <a:xfrm>
            <a:off x="749808" y="1673352"/>
            <a:ext cx="822960" cy="54864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01</a:t>
            </a:r>
            <a:endParaRPr lang="en-US" sz="2600" dirty="0"/>
          </a:p>
        </p:txBody>
      </p:sp>
      <p:sp>
        <p:nvSpPr>
          <p:cNvPr id="8" name="Text 6"/>
          <p:cNvSpPr/>
          <p:nvPr/>
        </p:nvSpPr>
        <p:spPr>
          <a:xfrm>
            <a:off x="1554480" y="1691640"/>
            <a:ext cx="4160520" cy="365760"/>
          </a:xfrm>
          <a:prstGeom prst="rect">
            <a:avLst/>
          </a:prstGeom>
          <a:noFill/>
          <a:ln/>
        </p:spPr>
        <p:txBody>
          <a:bodyPr wrap="square" lIns="0" tIns="0" rIns="0" bIns="0" rtlCol="0" anchor="ctr"/>
          <a:lstStyle/>
          <a:p>
            <a:pPr marL="0" indent="0">
              <a:buNone/>
            </a:pPr>
            <a:r>
              <a:rPr lang="en-US" sz="1500" b="1" dirty="0">
                <a:solidFill>
                  <a:srgbClr val="161B26"/>
                </a:solidFill>
                <a:latin typeface="Calibri" pitchFamily="34" charset="0"/>
                <a:ea typeface="Calibri" pitchFamily="34" charset="-122"/>
                <a:cs typeface="Calibri" pitchFamily="34" charset="-120"/>
              </a:rPr>
              <a:t>Contesto e Architettura</a:t>
            </a:r>
            <a:endParaRPr lang="en-US" sz="1500" dirty="0"/>
          </a:p>
        </p:txBody>
      </p:sp>
      <p:sp>
        <p:nvSpPr>
          <p:cNvPr id="9" name="Text 7"/>
          <p:cNvSpPr/>
          <p:nvPr/>
        </p:nvSpPr>
        <p:spPr>
          <a:xfrm>
            <a:off x="1554480" y="2103120"/>
            <a:ext cx="4160520" cy="6858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Requisiti del progetto, pipeline a 5 fasi, struttura dei file</a:t>
            </a:r>
            <a:endParaRPr lang="en-US" sz="1150" dirty="0"/>
          </a:p>
        </p:txBody>
      </p:sp>
      <p:sp>
        <p:nvSpPr>
          <p:cNvPr id="10" name="Shape 8"/>
          <p:cNvSpPr/>
          <p:nvPr/>
        </p:nvSpPr>
        <p:spPr>
          <a:xfrm>
            <a:off x="6172200" y="1508760"/>
            <a:ext cx="534924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1" name="Text 9"/>
          <p:cNvSpPr/>
          <p:nvPr/>
        </p:nvSpPr>
        <p:spPr>
          <a:xfrm>
            <a:off x="6373368" y="1673352"/>
            <a:ext cx="822960" cy="54864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02</a:t>
            </a:r>
            <a:endParaRPr lang="en-US" sz="2600" dirty="0"/>
          </a:p>
        </p:txBody>
      </p:sp>
      <p:sp>
        <p:nvSpPr>
          <p:cNvPr id="12" name="Text 10"/>
          <p:cNvSpPr/>
          <p:nvPr/>
        </p:nvSpPr>
        <p:spPr>
          <a:xfrm>
            <a:off x="7178040" y="1691640"/>
            <a:ext cx="4160520" cy="365760"/>
          </a:xfrm>
          <a:prstGeom prst="rect">
            <a:avLst/>
          </a:prstGeom>
          <a:noFill/>
          <a:ln/>
        </p:spPr>
        <p:txBody>
          <a:bodyPr wrap="square" lIns="0" tIns="0" rIns="0" bIns="0" rtlCol="0" anchor="ctr"/>
          <a:lstStyle/>
          <a:p>
            <a:pPr marL="0" indent="0">
              <a:buNone/>
            </a:pPr>
            <a:r>
              <a:rPr lang="en-US" sz="1500" b="1" dirty="0">
                <a:solidFill>
                  <a:srgbClr val="161B26"/>
                </a:solidFill>
                <a:latin typeface="Calibri" pitchFamily="34" charset="0"/>
                <a:ea typeface="Calibri" pitchFamily="34" charset="-122"/>
                <a:cs typeface="Calibri" pitchFamily="34" charset="-120"/>
              </a:rPr>
              <a:t>Grammatica (Lexer + Parser)</a:t>
            </a:r>
            <a:endParaRPr lang="en-US" sz="1500" dirty="0"/>
          </a:p>
        </p:txBody>
      </p:sp>
      <p:sp>
        <p:nvSpPr>
          <p:cNvPr id="13" name="Text 11"/>
          <p:cNvSpPr/>
          <p:nvPr/>
        </p:nvSpPr>
        <p:spPr>
          <a:xfrm>
            <a:off x="7178040" y="2103120"/>
            <a:ext cx="4160520" cy="6858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Scelte su Lark, parole chiave, precedenze, vincoli pratici</a:t>
            </a:r>
            <a:endParaRPr lang="en-US" sz="1150" dirty="0"/>
          </a:p>
        </p:txBody>
      </p:sp>
      <p:sp>
        <p:nvSpPr>
          <p:cNvPr id="14" name="Shape 12"/>
          <p:cNvSpPr/>
          <p:nvPr/>
        </p:nvSpPr>
        <p:spPr>
          <a:xfrm>
            <a:off x="548640" y="3044952"/>
            <a:ext cx="534924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5" name="Text 13"/>
          <p:cNvSpPr/>
          <p:nvPr/>
        </p:nvSpPr>
        <p:spPr>
          <a:xfrm>
            <a:off x="749808" y="3209544"/>
            <a:ext cx="822960" cy="54864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03</a:t>
            </a:r>
            <a:endParaRPr lang="en-US" sz="2600" dirty="0"/>
          </a:p>
        </p:txBody>
      </p:sp>
      <p:sp>
        <p:nvSpPr>
          <p:cNvPr id="16" name="Text 14"/>
          <p:cNvSpPr/>
          <p:nvPr/>
        </p:nvSpPr>
        <p:spPr>
          <a:xfrm>
            <a:off x="1554480" y="3227832"/>
            <a:ext cx="4160520" cy="365760"/>
          </a:xfrm>
          <a:prstGeom prst="rect">
            <a:avLst/>
          </a:prstGeom>
          <a:noFill/>
          <a:ln/>
        </p:spPr>
        <p:txBody>
          <a:bodyPr wrap="square" lIns="0" tIns="0" rIns="0" bIns="0" rtlCol="0" anchor="ctr"/>
          <a:lstStyle/>
          <a:p>
            <a:pPr marL="0" indent="0">
              <a:buNone/>
            </a:pPr>
            <a:r>
              <a:rPr lang="en-US" sz="1500" b="1" dirty="0">
                <a:solidFill>
                  <a:srgbClr val="161B26"/>
                </a:solidFill>
                <a:latin typeface="Calibri" pitchFamily="34" charset="0"/>
                <a:ea typeface="Calibri" pitchFamily="34" charset="-122"/>
                <a:cs typeface="Calibri" pitchFamily="34" charset="-120"/>
              </a:rPr>
              <a:t>AST e Transformer</a:t>
            </a:r>
            <a:endParaRPr lang="en-US" sz="1500" dirty="0"/>
          </a:p>
        </p:txBody>
      </p:sp>
      <p:sp>
        <p:nvSpPr>
          <p:cNvPr id="17" name="Text 15"/>
          <p:cNvSpPr/>
          <p:nvPr/>
        </p:nvSpPr>
        <p:spPr>
          <a:xfrm>
            <a:off x="1554480" y="3639312"/>
            <a:ext cx="4160520" cy="6858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Nodi come dataclass, trasformazione albero Lark → AST</a:t>
            </a:r>
            <a:endParaRPr lang="en-US" sz="1150" dirty="0"/>
          </a:p>
        </p:txBody>
      </p:sp>
      <p:sp>
        <p:nvSpPr>
          <p:cNvPr id="18" name="Shape 16"/>
          <p:cNvSpPr/>
          <p:nvPr/>
        </p:nvSpPr>
        <p:spPr>
          <a:xfrm>
            <a:off x="6172200" y="3044952"/>
            <a:ext cx="534924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9" name="Text 17"/>
          <p:cNvSpPr/>
          <p:nvPr/>
        </p:nvSpPr>
        <p:spPr>
          <a:xfrm>
            <a:off x="6373368" y="3209544"/>
            <a:ext cx="822960" cy="54864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04</a:t>
            </a:r>
            <a:endParaRPr lang="en-US" sz="2600" dirty="0"/>
          </a:p>
        </p:txBody>
      </p:sp>
      <p:sp>
        <p:nvSpPr>
          <p:cNvPr id="20" name="Text 18"/>
          <p:cNvSpPr/>
          <p:nvPr/>
        </p:nvSpPr>
        <p:spPr>
          <a:xfrm>
            <a:off x="7178040" y="3227832"/>
            <a:ext cx="4160520" cy="365760"/>
          </a:xfrm>
          <a:prstGeom prst="rect">
            <a:avLst/>
          </a:prstGeom>
          <a:noFill/>
          <a:ln/>
        </p:spPr>
        <p:txBody>
          <a:bodyPr wrap="square" lIns="0" tIns="0" rIns="0" bIns="0" rtlCol="0" anchor="ctr"/>
          <a:lstStyle/>
          <a:p>
            <a:pPr marL="0" indent="0">
              <a:buNone/>
            </a:pPr>
            <a:r>
              <a:rPr lang="en-US" sz="1500" b="1" dirty="0">
                <a:solidFill>
                  <a:srgbClr val="161B26"/>
                </a:solidFill>
                <a:latin typeface="Calibri" pitchFamily="34" charset="0"/>
                <a:ea typeface="Calibri" pitchFamily="34" charset="-122"/>
                <a:cs typeface="Calibri" pitchFamily="34" charset="-120"/>
              </a:rPr>
              <a:t>Analisi Semantica</a:t>
            </a:r>
            <a:endParaRPr lang="en-US" sz="1500" dirty="0"/>
          </a:p>
        </p:txBody>
      </p:sp>
      <p:sp>
        <p:nvSpPr>
          <p:cNvPr id="21" name="Text 19"/>
          <p:cNvSpPr/>
          <p:nvPr/>
        </p:nvSpPr>
        <p:spPr>
          <a:xfrm>
            <a:off x="7178040" y="3639312"/>
            <a:ext cx="4160520" cy="6858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Scoping, type checking, gestione degli errori</a:t>
            </a:r>
            <a:endParaRPr lang="en-US" sz="1150" dirty="0"/>
          </a:p>
        </p:txBody>
      </p:sp>
      <p:sp>
        <p:nvSpPr>
          <p:cNvPr id="22" name="Shape 20"/>
          <p:cNvSpPr/>
          <p:nvPr/>
        </p:nvSpPr>
        <p:spPr>
          <a:xfrm>
            <a:off x="548640" y="4581144"/>
            <a:ext cx="534924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23" name="Text 21"/>
          <p:cNvSpPr/>
          <p:nvPr/>
        </p:nvSpPr>
        <p:spPr>
          <a:xfrm>
            <a:off x="749808" y="4745736"/>
            <a:ext cx="822960" cy="54864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05</a:t>
            </a:r>
            <a:endParaRPr lang="en-US" sz="2600" dirty="0"/>
          </a:p>
        </p:txBody>
      </p:sp>
      <p:sp>
        <p:nvSpPr>
          <p:cNvPr id="24" name="Text 22"/>
          <p:cNvSpPr/>
          <p:nvPr/>
        </p:nvSpPr>
        <p:spPr>
          <a:xfrm>
            <a:off x="1554480" y="4764024"/>
            <a:ext cx="4160520" cy="365760"/>
          </a:xfrm>
          <a:prstGeom prst="rect">
            <a:avLst/>
          </a:prstGeom>
          <a:noFill/>
          <a:ln/>
        </p:spPr>
        <p:txBody>
          <a:bodyPr wrap="square" lIns="0" tIns="0" rIns="0" bIns="0" rtlCol="0" anchor="ctr"/>
          <a:lstStyle/>
          <a:p>
            <a:pPr marL="0" indent="0">
              <a:buNone/>
            </a:pPr>
            <a:r>
              <a:rPr lang="en-US" sz="1500" b="1" dirty="0">
                <a:solidFill>
                  <a:srgbClr val="161B26"/>
                </a:solidFill>
                <a:latin typeface="Calibri" pitchFamily="34" charset="0"/>
                <a:ea typeface="Calibri" pitchFamily="34" charset="-122"/>
                <a:cs typeface="Calibri" pitchFamily="34" charset="-120"/>
              </a:rPr>
              <a:t>Generazione del Codice</a:t>
            </a:r>
            <a:endParaRPr lang="en-US" sz="1500" dirty="0"/>
          </a:p>
        </p:txBody>
      </p:sp>
      <p:sp>
        <p:nvSpPr>
          <p:cNvPr id="25" name="Text 23"/>
          <p:cNvSpPr/>
          <p:nvPr/>
        </p:nvSpPr>
        <p:spPr>
          <a:xfrm>
            <a:off x="1554480" y="5175504"/>
            <a:ext cx="4160520" cy="6858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Visitor con riflessione, indentazione relativa</a:t>
            </a:r>
            <a:endParaRPr lang="en-US" sz="1150" dirty="0"/>
          </a:p>
        </p:txBody>
      </p:sp>
      <p:sp>
        <p:nvSpPr>
          <p:cNvPr id="26" name="Shape 24"/>
          <p:cNvSpPr/>
          <p:nvPr/>
        </p:nvSpPr>
        <p:spPr>
          <a:xfrm>
            <a:off x="6172200" y="4581144"/>
            <a:ext cx="534924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27" name="Text 25"/>
          <p:cNvSpPr/>
          <p:nvPr/>
        </p:nvSpPr>
        <p:spPr>
          <a:xfrm>
            <a:off x="6373368" y="4745736"/>
            <a:ext cx="822960" cy="54864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06</a:t>
            </a:r>
            <a:endParaRPr lang="en-US" sz="2600" dirty="0"/>
          </a:p>
        </p:txBody>
      </p:sp>
      <p:sp>
        <p:nvSpPr>
          <p:cNvPr id="28" name="Text 26"/>
          <p:cNvSpPr/>
          <p:nvPr/>
        </p:nvSpPr>
        <p:spPr>
          <a:xfrm>
            <a:off x="7178040" y="4764024"/>
            <a:ext cx="4160520" cy="365760"/>
          </a:xfrm>
          <a:prstGeom prst="rect">
            <a:avLst/>
          </a:prstGeom>
          <a:noFill/>
          <a:ln/>
        </p:spPr>
        <p:txBody>
          <a:bodyPr wrap="square" lIns="0" tIns="0" rIns="0" bIns="0" rtlCol="0" anchor="ctr"/>
          <a:lstStyle/>
          <a:p>
            <a:pPr marL="0" indent="0">
              <a:buNone/>
            </a:pPr>
            <a:r>
              <a:rPr lang="en-US" sz="1500" b="1" dirty="0">
                <a:solidFill>
                  <a:srgbClr val="161B26"/>
                </a:solidFill>
                <a:latin typeface="Calibri" pitchFamily="34" charset="0"/>
                <a:ea typeface="Calibri" pitchFamily="34" charset="-122"/>
                <a:cs typeface="Calibri" pitchFamily="34" charset="-120"/>
              </a:rPr>
              <a:t>Test e Programmi Dimostrativi</a:t>
            </a:r>
            <a:endParaRPr lang="en-US" sz="1500" dirty="0"/>
          </a:p>
        </p:txBody>
      </p:sp>
      <p:sp>
        <p:nvSpPr>
          <p:cNvPr id="29" name="Text 27"/>
          <p:cNvSpPr/>
          <p:nvPr/>
        </p:nvSpPr>
        <p:spPr>
          <a:xfrm>
            <a:off x="7178040" y="5175504"/>
            <a:ext cx="4160520" cy="685800"/>
          </a:xfrm>
          <a:prstGeom prst="rect">
            <a:avLst/>
          </a:prstGeom>
          <a:noFill/>
          <a:ln/>
        </p:spPr>
        <p:txBody>
          <a:bodyPr wrap="square" lIns="0" tIns="0" rIns="0" bIns="0" rtlCol="0" anchor="ctr"/>
          <a:lstStyle/>
          <a:p>
            <a:pPr marL="0" indent="0">
              <a:lnSpc>
                <a:spcPct val="120000"/>
              </a:lnSpc>
              <a:buNone/>
            </a:pPr>
            <a:r>
              <a:rPr lang="en-US" sz="1150" dirty="0">
                <a:solidFill>
                  <a:srgbClr val="5B6472"/>
                </a:solidFill>
                <a:latin typeface="Calibri" pitchFamily="34" charset="0"/>
                <a:ea typeface="Calibri" pitchFamily="34" charset="-122"/>
                <a:cs typeface="Calibri" pitchFamily="34" charset="-120"/>
              </a:rPr>
              <a:t>43 test automatizzati, calcolatrice.cro, errore.cro</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3" name="Text 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CONTESTO DEL PROGETTO</a:t>
            </a:r>
            <a:endParaRPr lang="en-US" sz="1150" dirty="0"/>
          </a:p>
        </p:txBody>
      </p:sp>
      <p:sp>
        <p:nvSpPr>
          <p:cNvPr id="5" name="Text 3"/>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Progetto A — Compilatore completo</a:t>
            </a:r>
            <a:endParaRPr lang="en-US" sz="2800" dirty="0"/>
          </a:p>
        </p:txBody>
      </p:sp>
      <p:sp>
        <p:nvSpPr>
          <p:cNvPr id="6" name="Text 4"/>
          <p:cNvSpPr/>
          <p:nvPr/>
        </p:nvSpPr>
        <p:spPr>
          <a:xfrm>
            <a:off x="548640" y="1463040"/>
            <a:ext cx="6126480" cy="4206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61B26"/>
                </a:solidFill>
                <a:latin typeface="Calibri" pitchFamily="34" charset="0"/>
                <a:ea typeface="Calibri" pitchFamily="34" charset="-122"/>
                <a:cs typeface="Calibri" pitchFamily="34" charset="-120"/>
              </a:rPr>
              <a:t>Traccia: “Progetto di un compilatore completo” (proposte_progetti.pdf, sez. A)</a:t>
            </a:r>
            <a:endParaRPr lang="en-US" sz="1500" dirty="0"/>
          </a:p>
          <a:p>
            <a:pPr marL="342900" indent="-342900">
              <a:spcAft>
                <a:spcPts val="1000"/>
              </a:spcAft>
              <a:buSzPct val="100000"/>
              <a:buChar char="•"/>
            </a:pPr>
            <a:r>
              <a:rPr lang="en-US" sz="1500" dirty="0">
                <a:solidFill>
                  <a:srgbClr val="161B26"/>
                </a:solidFill>
                <a:latin typeface="Calibri" pitchFamily="34" charset="0"/>
                <a:ea typeface="Calibri" pitchFamily="34" charset="-122"/>
                <a:cs typeface="Calibri" pitchFamily="34" charset="-120"/>
              </a:rPr>
              <a:t>Specifiche del linguaggio: definizione lessicale, sintattica e semantica di un linguaggio proprio (C-ro), con esempi di programmi</a:t>
            </a:r>
            <a:endParaRPr lang="en-US" sz="1500" dirty="0"/>
          </a:p>
          <a:p>
            <a:pPr marL="342900" indent="-342900">
              <a:spcAft>
                <a:spcPts val="1000"/>
              </a:spcAft>
              <a:buSzPct val="100000"/>
              <a:buChar char="•"/>
            </a:pPr>
            <a:r>
              <a:rPr lang="en-US" sz="1500" dirty="0">
                <a:solidFill>
                  <a:srgbClr val="161B26"/>
                </a:solidFill>
                <a:latin typeface="Calibri" pitchFamily="34" charset="0"/>
                <a:ea typeface="Calibri" pitchFamily="34" charset="-122"/>
                <a:cs typeface="Calibri" pitchFamily="34" charset="-120"/>
              </a:rPr>
              <a:t>Linguaggio di sviluppo: Python</a:t>
            </a:r>
            <a:endParaRPr lang="en-US" sz="1500" dirty="0"/>
          </a:p>
          <a:p>
            <a:pPr marL="342900" indent="-342900">
              <a:spcAft>
                <a:spcPts val="1000"/>
              </a:spcAft>
              <a:buSzPct val="100000"/>
              <a:buChar char="•"/>
            </a:pPr>
            <a:r>
              <a:rPr lang="en-US" sz="1500" dirty="0">
                <a:solidFill>
                  <a:srgbClr val="161B26"/>
                </a:solidFill>
                <a:latin typeface="Calibri" pitchFamily="34" charset="0"/>
                <a:ea typeface="Calibri" pitchFamily="34" charset="-122"/>
                <a:cs typeface="Calibri" pitchFamily="34" charset="-120"/>
              </a:rPr>
              <a:t>Codice target: C standard</a:t>
            </a:r>
            <a:endParaRPr lang="en-US" sz="1500" dirty="0"/>
          </a:p>
          <a:p>
            <a:pPr marL="342900" indent="-342900">
              <a:spcAft>
                <a:spcPts val="1000"/>
              </a:spcAft>
              <a:buSzPct val="100000"/>
              <a:buChar char="•"/>
            </a:pPr>
            <a:r>
              <a:rPr lang="en-US" sz="1500" dirty="0">
                <a:solidFill>
                  <a:srgbClr val="161B26"/>
                </a:solidFill>
                <a:latin typeface="Calibri" pitchFamily="34" charset="0"/>
                <a:ea typeface="Calibri" pitchFamily="34" charset="-122"/>
                <a:cs typeface="Calibri" pitchFamily="34" charset="-120"/>
              </a:rPr>
              <a:t>Metodologia: generatore automatico Lark, obbligatorio per l'analizzatore sintattico</a:t>
            </a:r>
            <a:endParaRPr lang="en-US" sz="1500" dirty="0"/>
          </a:p>
        </p:txBody>
      </p:sp>
      <p:sp>
        <p:nvSpPr>
          <p:cNvPr id="7" name="Shape 5"/>
          <p:cNvSpPr/>
          <p:nvPr/>
        </p:nvSpPr>
        <p:spPr>
          <a:xfrm>
            <a:off x="6949440" y="1463040"/>
            <a:ext cx="4663440" cy="4297680"/>
          </a:xfrm>
          <a:prstGeom prst="roundRect">
            <a:avLst>
              <a:gd name="adj" fmla="val 1702"/>
            </a:avLst>
          </a:prstGeom>
          <a:solidFill>
            <a:srgbClr val="CFFAF3"/>
          </a:solidFill>
          <a:ln/>
        </p:spPr>
        <p:txBody>
          <a:bodyPr/>
          <a:lstStyle/>
          <a:p>
            <a:endParaRPr lang="en-GB"/>
          </a:p>
        </p:txBody>
      </p:sp>
      <p:sp>
        <p:nvSpPr>
          <p:cNvPr id="8" name="Text 6"/>
          <p:cNvSpPr/>
          <p:nvPr/>
        </p:nvSpPr>
        <p:spPr>
          <a:xfrm>
            <a:off x="7178040" y="1627632"/>
            <a:ext cx="420624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C-ro in breve</a:t>
            </a:r>
            <a:endParaRPr lang="en-US" sz="1300" dirty="0"/>
          </a:p>
        </p:txBody>
      </p:sp>
      <p:sp>
        <p:nvSpPr>
          <p:cNvPr id="9" name="Text 7"/>
          <p:cNvSpPr/>
          <p:nvPr/>
        </p:nvSpPr>
        <p:spPr>
          <a:xfrm>
            <a:off x="7178040" y="1965960"/>
            <a:ext cx="4206240" cy="361188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Sottoinsieme del linguaggio C con parole chiave ispirate al dialetto napoletano (nummero, comm, capo, trament, facimm, ...). La sintassi e l'architettura dei costrutti ricalcano fedelmente il C, mappato 1:1 in fase di generazione del codice.</a:t>
            </a:r>
            <a:endParaRPr lang="en-US" sz="1250" dirty="0"/>
          </a:p>
          <a:p>
            <a:pPr marL="0" indent="0">
              <a:lnSpc>
                <a:spcPct val="115000"/>
              </a:lnSpc>
              <a:buNone/>
            </a:pP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Documento di riferimento: “Progetto EILP: Specifiche del Linguaggio C-ro”, esteso con la Sezione 6 “Note di Implementazione e Scelte Progettuali”.</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3" name="Text 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ARCHITETTURA</a:t>
            </a:r>
            <a:endParaRPr lang="en-US" sz="1150" dirty="0"/>
          </a:p>
        </p:txBody>
      </p:sp>
      <p:sp>
        <p:nvSpPr>
          <p:cNvPr id="5" name="Text 3"/>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La pipeline a 5 fasi</a:t>
            </a:r>
            <a:endParaRPr lang="en-US" sz="2800" dirty="0"/>
          </a:p>
        </p:txBody>
      </p:sp>
      <p:sp>
        <p:nvSpPr>
          <p:cNvPr id="6" name="Shape 4"/>
          <p:cNvSpPr/>
          <p:nvPr/>
        </p:nvSpPr>
        <p:spPr>
          <a:xfrm>
            <a:off x="548640" y="1737360"/>
            <a:ext cx="196596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7" name="Text 5"/>
          <p:cNvSpPr/>
          <p:nvPr/>
        </p:nvSpPr>
        <p:spPr>
          <a:xfrm>
            <a:off x="685800" y="1828800"/>
            <a:ext cx="548640" cy="457200"/>
          </a:xfrm>
          <a:prstGeom prst="rect">
            <a:avLst/>
          </a:prstGeom>
          <a:noFill/>
          <a:ln/>
        </p:spPr>
        <p:txBody>
          <a:bodyPr wrap="square" lIns="0" tIns="0" rIns="0" bIns="0" rtlCol="0" anchor="ctr"/>
          <a:lstStyle/>
          <a:p>
            <a:pPr marL="0" indent="0">
              <a:buNone/>
            </a:pPr>
            <a:r>
              <a:rPr lang="en-US" sz="2200" b="1" dirty="0">
                <a:solidFill>
                  <a:srgbClr val="2DD4B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685800" y="2304288"/>
            <a:ext cx="1691640" cy="411480"/>
          </a:xfrm>
          <a:prstGeom prst="rect">
            <a:avLst/>
          </a:prstGeom>
          <a:noFill/>
          <a:ln/>
        </p:spPr>
        <p:txBody>
          <a:bodyPr wrap="square" lIns="0" tIns="0" rIns="0" bIns="0" rtlCol="0" anchor="ctr"/>
          <a:lstStyle/>
          <a:p>
            <a:pPr marL="0" indent="0">
              <a:buNone/>
            </a:pPr>
            <a:r>
              <a:rPr lang="en-US" sz="1350" b="1" dirty="0">
                <a:solidFill>
                  <a:srgbClr val="161B26"/>
                </a:solidFill>
                <a:latin typeface="Calibri" pitchFamily="34" charset="0"/>
                <a:ea typeface="Calibri" pitchFamily="34" charset="-122"/>
                <a:cs typeface="Calibri" pitchFamily="34" charset="-120"/>
              </a:rPr>
              <a:t>Lexer + Parser</a:t>
            </a:r>
            <a:endParaRPr lang="en-US" sz="1350" dirty="0"/>
          </a:p>
        </p:txBody>
      </p:sp>
      <p:sp>
        <p:nvSpPr>
          <p:cNvPr id="9" name="Text 7"/>
          <p:cNvSpPr/>
          <p:nvPr/>
        </p:nvSpPr>
        <p:spPr>
          <a:xfrm>
            <a:off x="685800" y="2697480"/>
            <a:ext cx="1691640" cy="36576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Grammatica Lark (Earley)</a:t>
            </a:r>
            <a:endParaRPr lang="en-US" sz="1050" dirty="0"/>
          </a:p>
        </p:txBody>
      </p:sp>
      <p:sp>
        <p:nvSpPr>
          <p:cNvPr id="10" name="Text 8"/>
          <p:cNvSpPr/>
          <p:nvPr/>
        </p:nvSpPr>
        <p:spPr>
          <a:xfrm>
            <a:off x="2514600" y="1737360"/>
            <a:ext cx="228600" cy="1371600"/>
          </a:xfrm>
          <a:prstGeom prst="rect">
            <a:avLst/>
          </a:prstGeom>
          <a:noFill/>
          <a:ln/>
        </p:spPr>
        <p:txBody>
          <a:bodyPr wrap="square" lIns="0" tIns="0" rIns="0" bIns="0" rtlCol="0" anchor="ctr"/>
          <a:lstStyle/>
          <a:p>
            <a:pPr marL="0" indent="0" algn="ctr">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743200" y="1737360"/>
            <a:ext cx="196596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2" name="Text 10"/>
          <p:cNvSpPr/>
          <p:nvPr/>
        </p:nvSpPr>
        <p:spPr>
          <a:xfrm>
            <a:off x="2880360" y="1828800"/>
            <a:ext cx="548640" cy="457200"/>
          </a:xfrm>
          <a:prstGeom prst="rect">
            <a:avLst/>
          </a:prstGeom>
          <a:noFill/>
          <a:ln/>
        </p:spPr>
        <p:txBody>
          <a:bodyPr wrap="square" lIns="0" tIns="0" rIns="0" bIns="0" rtlCol="0" anchor="ctr"/>
          <a:lstStyle/>
          <a:p>
            <a:pPr marL="0" indent="0">
              <a:buNone/>
            </a:pPr>
            <a:r>
              <a:rPr lang="en-US" sz="2200" b="1" dirty="0">
                <a:solidFill>
                  <a:srgbClr val="2DD4B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2880360" y="2304288"/>
            <a:ext cx="1691640" cy="411480"/>
          </a:xfrm>
          <a:prstGeom prst="rect">
            <a:avLst/>
          </a:prstGeom>
          <a:noFill/>
          <a:ln/>
        </p:spPr>
        <p:txBody>
          <a:bodyPr wrap="square" lIns="0" tIns="0" rIns="0" bIns="0" rtlCol="0" anchor="ctr"/>
          <a:lstStyle/>
          <a:p>
            <a:pPr marL="0" indent="0">
              <a:buNone/>
            </a:pPr>
            <a:r>
              <a:rPr lang="en-US" sz="1350" b="1" dirty="0">
                <a:solidFill>
                  <a:srgbClr val="161B26"/>
                </a:solidFill>
                <a:latin typeface="Calibri" pitchFamily="34" charset="0"/>
                <a:ea typeface="Calibri" pitchFamily="34" charset="-122"/>
                <a:cs typeface="Calibri" pitchFamily="34" charset="-120"/>
              </a:rPr>
              <a:t>AST</a:t>
            </a:r>
            <a:endParaRPr lang="en-US" sz="1350" dirty="0"/>
          </a:p>
        </p:txBody>
      </p:sp>
      <p:sp>
        <p:nvSpPr>
          <p:cNvPr id="14" name="Text 12"/>
          <p:cNvSpPr/>
          <p:nvPr/>
        </p:nvSpPr>
        <p:spPr>
          <a:xfrm>
            <a:off x="2880360" y="2697480"/>
            <a:ext cx="1691640" cy="36576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dataclass Python</a:t>
            </a:r>
            <a:endParaRPr lang="en-US" sz="1050" dirty="0"/>
          </a:p>
        </p:txBody>
      </p:sp>
      <p:sp>
        <p:nvSpPr>
          <p:cNvPr id="15" name="Text 13"/>
          <p:cNvSpPr/>
          <p:nvPr/>
        </p:nvSpPr>
        <p:spPr>
          <a:xfrm>
            <a:off x="4709160" y="1737360"/>
            <a:ext cx="228600" cy="1371600"/>
          </a:xfrm>
          <a:prstGeom prst="rect">
            <a:avLst/>
          </a:prstGeom>
          <a:noFill/>
          <a:ln/>
        </p:spPr>
        <p:txBody>
          <a:bodyPr wrap="square" lIns="0" tIns="0" rIns="0" bIns="0" rtlCol="0" anchor="ctr"/>
          <a:lstStyle/>
          <a:p>
            <a:pPr marL="0" indent="0" algn="ctr">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4937760" y="1737360"/>
            <a:ext cx="196596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7" name="Text 15"/>
          <p:cNvSpPr/>
          <p:nvPr/>
        </p:nvSpPr>
        <p:spPr>
          <a:xfrm>
            <a:off x="5074920" y="1828800"/>
            <a:ext cx="548640" cy="457200"/>
          </a:xfrm>
          <a:prstGeom prst="rect">
            <a:avLst/>
          </a:prstGeom>
          <a:noFill/>
          <a:ln/>
        </p:spPr>
        <p:txBody>
          <a:bodyPr wrap="square" lIns="0" tIns="0" rIns="0" bIns="0" rtlCol="0" anchor="ctr"/>
          <a:lstStyle/>
          <a:p>
            <a:pPr marL="0" indent="0">
              <a:buNone/>
            </a:pPr>
            <a:r>
              <a:rPr lang="en-US" sz="2200" b="1" dirty="0">
                <a:solidFill>
                  <a:srgbClr val="2DD4BF"/>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5074920" y="2304288"/>
            <a:ext cx="1691640" cy="411480"/>
          </a:xfrm>
          <a:prstGeom prst="rect">
            <a:avLst/>
          </a:prstGeom>
          <a:noFill/>
          <a:ln/>
        </p:spPr>
        <p:txBody>
          <a:bodyPr wrap="square" lIns="0" tIns="0" rIns="0" bIns="0" rtlCol="0" anchor="ctr"/>
          <a:lstStyle/>
          <a:p>
            <a:pPr marL="0" indent="0">
              <a:buNone/>
            </a:pPr>
            <a:r>
              <a:rPr lang="en-US" sz="1350" b="1" dirty="0">
                <a:solidFill>
                  <a:srgbClr val="161B26"/>
                </a:solidFill>
                <a:latin typeface="Calibri" pitchFamily="34" charset="0"/>
                <a:ea typeface="Calibri" pitchFamily="34" charset="-122"/>
                <a:cs typeface="Calibri" pitchFamily="34" charset="-120"/>
              </a:rPr>
              <a:t>Analisi Semantica</a:t>
            </a:r>
            <a:endParaRPr lang="en-US" sz="1350" dirty="0"/>
          </a:p>
        </p:txBody>
      </p:sp>
      <p:sp>
        <p:nvSpPr>
          <p:cNvPr id="19" name="Text 17"/>
          <p:cNvSpPr/>
          <p:nvPr/>
        </p:nvSpPr>
        <p:spPr>
          <a:xfrm>
            <a:off x="5074920" y="2697480"/>
            <a:ext cx="1691640" cy="36576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scoping + type checking</a:t>
            </a:r>
            <a:endParaRPr lang="en-US" sz="1050" dirty="0"/>
          </a:p>
        </p:txBody>
      </p:sp>
      <p:sp>
        <p:nvSpPr>
          <p:cNvPr id="20" name="Text 18"/>
          <p:cNvSpPr/>
          <p:nvPr/>
        </p:nvSpPr>
        <p:spPr>
          <a:xfrm>
            <a:off x="6903720" y="1737360"/>
            <a:ext cx="228600" cy="1371600"/>
          </a:xfrm>
          <a:prstGeom prst="rect">
            <a:avLst/>
          </a:prstGeom>
          <a:noFill/>
          <a:ln/>
        </p:spPr>
        <p:txBody>
          <a:bodyPr wrap="square" lIns="0" tIns="0" rIns="0" bIns="0" rtlCol="0" anchor="ctr"/>
          <a:lstStyle/>
          <a:p>
            <a:pPr marL="0" indent="0" algn="ctr">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7132320" y="1737360"/>
            <a:ext cx="1965960" cy="1371600"/>
          </a:xfrm>
          <a:prstGeom prst="roundRect">
            <a:avLst>
              <a:gd name="adj" fmla="val 5333"/>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22" name="Text 20"/>
          <p:cNvSpPr/>
          <p:nvPr/>
        </p:nvSpPr>
        <p:spPr>
          <a:xfrm>
            <a:off x="7269480" y="1828800"/>
            <a:ext cx="548640" cy="457200"/>
          </a:xfrm>
          <a:prstGeom prst="rect">
            <a:avLst/>
          </a:prstGeom>
          <a:noFill/>
          <a:ln/>
        </p:spPr>
        <p:txBody>
          <a:bodyPr wrap="square" lIns="0" tIns="0" rIns="0" bIns="0" rtlCol="0" anchor="ctr"/>
          <a:lstStyle/>
          <a:p>
            <a:pPr marL="0" indent="0">
              <a:buNone/>
            </a:pPr>
            <a:r>
              <a:rPr lang="en-US" sz="2200" b="1" dirty="0">
                <a:solidFill>
                  <a:srgbClr val="2DD4BF"/>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7269480" y="2304288"/>
            <a:ext cx="1691640" cy="411480"/>
          </a:xfrm>
          <a:prstGeom prst="rect">
            <a:avLst/>
          </a:prstGeom>
          <a:noFill/>
          <a:ln/>
        </p:spPr>
        <p:txBody>
          <a:bodyPr wrap="square" lIns="0" tIns="0" rIns="0" bIns="0" rtlCol="0" anchor="ctr"/>
          <a:lstStyle/>
          <a:p>
            <a:pPr marL="0" indent="0">
              <a:buNone/>
            </a:pPr>
            <a:r>
              <a:rPr lang="en-US" sz="1350" b="1" dirty="0">
                <a:solidFill>
                  <a:srgbClr val="161B26"/>
                </a:solidFill>
                <a:latin typeface="Calibri" pitchFamily="34" charset="0"/>
                <a:ea typeface="Calibri" pitchFamily="34" charset="-122"/>
                <a:cs typeface="Calibri" pitchFamily="34" charset="-120"/>
              </a:rPr>
              <a:t>Code Generator</a:t>
            </a:r>
            <a:endParaRPr lang="en-US" sz="1350" dirty="0"/>
          </a:p>
        </p:txBody>
      </p:sp>
      <p:sp>
        <p:nvSpPr>
          <p:cNvPr id="24" name="Text 22"/>
          <p:cNvSpPr/>
          <p:nvPr/>
        </p:nvSpPr>
        <p:spPr>
          <a:xfrm>
            <a:off x="7269480" y="2697480"/>
            <a:ext cx="1691640" cy="36576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Visitor con riflessione</a:t>
            </a:r>
            <a:endParaRPr lang="en-US" sz="1050" dirty="0"/>
          </a:p>
        </p:txBody>
      </p:sp>
      <p:sp>
        <p:nvSpPr>
          <p:cNvPr id="25" name="Text 23"/>
          <p:cNvSpPr/>
          <p:nvPr/>
        </p:nvSpPr>
        <p:spPr>
          <a:xfrm>
            <a:off x="9098280" y="1737360"/>
            <a:ext cx="228600" cy="1371600"/>
          </a:xfrm>
          <a:prstGeom prst="rect">
            <a:avLst/>
          </a:prstGeom>
          <a:noFill/>
          <a:ln/>
        </p:spPr>
        <p:txBody>
          <a:bodyPr wrap="square" lIns="0" tIns="0" rIns="0" bIns="0" rtlCol="0" anchor="ctr"/>
          <a:lstStyle/>
          <a:p>
            <a:pPr marL="0" indent="0" algn="ctr">
              <a:buNone/>
            </a:pPr>
            <a:r>
              <a:rPr lang="en-US" sz="2000" b="1" dirty="0">
                <a:solidFill>
                  <a:srgbClr val="5B6472"/>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9326880" y="1737360"/>
            <a:ext cx="1965960" cy="1371600"/>
          </a:xfrm>
          <a:prstGeom prst="roundRect">
            <a:avLst>
              <a:gd name="adj" fmla="val 5333"/>
            </a:avLst>
          </a:prstGeom>
          <a:solidFill>
            <a:srgbClr val="FDECC8"/>
          </a:solidFill>
          <a:ln/>
          <a:effectLst>
            <a:outerShdw blurRad="101600" dist="38100" dir="5400000" algn="bl" rotWithShape="0">
              <a:srgbClr val="000000">
                <a:alpha val="18000"/>
              </a:srgbClr>
            </a:outerShdw>
          </a:effectLst>
        </p:spPr>
        <p:txBody>
          <a:bodyPr/>
          <a:lstStyle/>
          <a:p>
            <a:endParaRPr lang="en-GB"/>
          </a:p>
        </p:txBody>
      </p:sp>
      <p:sp>
        <p:nvSpPr>
          <p:cNvPr id="27" name="Text 25"/>
          <p:cNvSpPr/>
          <p:nvPr/>
        </p:nvSpPr>
        <p:spPr>
          <a:xfrm>
            <a:off x="9464040" y="1828800"/>
            <a:ext cx="548640" cy="457200"/>
          </a:xfrm>
          <a:prstGeom prst="rect">
            <a:avLst/>
          </a:prstGeom>
          <a:noFill/>
          <a:ln/>
        </p:spPr>
        <p:txBody>
          <a:bodyPr wrap="square" lIns="0" tIns="0" rIns="0" bIns="0" rtlCol="0" anchor="ctr"/>
          <a:lstStyle/>
          <a:p>
            <a:pPr marL="0" indent="0">
              <a:buNone/>
            </a:pPr>
            <a:r>
              <a:rPr lang="en-US" sz="2200" b="1" dirty="0">
                <a:solidFill>
                  <a:srgbClr val="2DD4BF"/>
                </a:solidFill>
                <a:latin typeface="Cambria" pitchFamily="34" charset="0"/>
                <a:ea typeface="Cambria" pitchFamily="34" charset="-122"/>
                <a:cs typeface="Cambria" pitchFamily="34" charset="-120"/>
              </a:rPr>
              <a:t>5</a:t>
            </a:r>
            <a:endParaRPr lang="en-US" sz="2200" dirty="0"/>
          </a:p>
        </p:txBody>
      </p:sp>
      <p:sp>
        <p:nvSpPr>
          <p:cNvPr id="28" name="Text 26"/>
          <p:cNvSpPr/>
          <p:nvPr/>
        </p:nvSpPr>
        <p:spPr>
          <a:xfrm>
            <a:off x="9464040" y="2304288"/>
            <a:ext cx="1691640" cy="411480"/>
          </a:xfrm>
          <a:prstGeom prst="rect">
            <a:avLst/>
          </a:prstGeom>
          <a:noFill/>
          <a:ln/>
        </p:spPr>
        <p:txBody>
          <a:bodyPr wrap="square" lIns="0" tIns="0" rIns="0" bIns="0" rtlCol="0" anchor="ctr"/>
          <a:lstStyle/>
          <a:p>
            <a:pPr marL="0" indent="0">
              <a:buNone/>
            </a:pPr>
            <a:r>
              <a:rPr lang="en-US" sz="1350" b="1" dirty="0">
                <a:solidFill>
                  <a:srgbClr val="161B26"/>
                </a:solidFill>
                <a:latin typeface="Calibri" pitchFamily="34" charset="0"/>
                <a:ea typeface="Calibri" pitchFamily="34" charset="-122"/>
                <a:cs typeface="Calibri" pitchFamily="34" charset="-120"/>
              </a:rPr>
              <a:t>Codice C</a:t>
            </a:r>
            <a:endParaRPr lang="en-US" sz="1350" dirty="0"/>
          </a:p>
        </p:txBody>
      </p:sp>
      <p:sp>
        <p:nvSpPr>
          <p:cNvPr id="29" name="Text 27"/>
          <p:cNvSpPr/>
          <p:nvPr/>
        </p:nvSpPr>
        <p:spPr>
          <a:xfrm>
            <a:off x="9464040" y="2697480"/>
            <a:ext cx="1691640" cy="36576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compilabile con gcc</a:t>
            </a:r>
            <a:endParaRPr lang="en-US" sz="1050" dirty="0"/>
          </a:p>
        </p:txBody>
      </p:sp>
      <p:sp>
        <p:nvSpPr>
          <p:cNvPr id="30" name="Text 28"/>
          <p:cNvSpPr/>
          <p:nvPr/>
        </p:nvSpPr>
        <p:spPr>
          <a:xfrm>
            <a:off x="548640" y="3474720"/>
            <a:ext cx="10881360" cy="2560320"/>
          </a:xfrm>
          <a:prstGeom prst="rect">
            <a:avLst/>
          </a:prstGeom>
          <a:noFill/>
          <a:ln/>
        </p:spPr>
        <p:txBody>
          <a:bodyPr wrap="square" lIns="0" tIns="0" rIns="0" bIns="0" rtlCol="0" anchor="t"/>
          <a:lstStyle/>
          <a:p>
            <a:pPr marL="342900" indent="-342900">
              <a:spcAft>
                <a:spcPts val="1200"/>
              </a:spcAft>
              <a:buSzPct val="100000"/>
              <a:buChar char="•"/>
            </a:pPr>
            <a:r>
              <a:rPr lang="en-US" sz="1450" dirty="0">
                <a:solidFill>
                  <a:srgbClr val="161B26"/>
                </a:solidFill>
                <a:latin typeface="Calibri" pitchFamily="34" charset="0"/>
                <a:ea typeface="Calibri" pitchFamily="34" charset="-122"/>
                <a:cs typeface="Calibri" pitchFamily="34" charset="-120"/>
              </a:rPr>
              <a:t>Tutte e 5 le fasi vivono in un unico file: compilatore_cro.py (~1130 righe), suddiviso in 8 sezioni numerate con commenti a blocco</a:t>
            </a:r>
            <a:endParaRPr lang="en-US" sz="1450" dirty="0"/>
          </a:p>
          <a:p>
            <a:pPr marL="342900" indent="-342900">
              <a:spcAft>
                <a:spcPts val="1200"/>
              </a:spcAft>
              <a:buSzPct val="100000"/>
              <a:buChar char="•"/>
            </a:pPr>
            <a:r>
              <a:rPr lang="en-US" sz="1450" dirty="0">
                <a:solidFill>
                  <a:srgbClr val="161B26"/>
                </a:solidFill>
                <a:latin typeface="Calibri" pitchFamily="34" charset="0"/>
                <a:ea typeface="Calibri" pitchFamily="34" charset="-122"/>
                <a:cs typeface="Calibri" pitchFamily="34" charset="-120"/>
              </a:rPr>
              <a:t>Pipeline orchestrata dalla funzione compile_cro() (riga 924): parser.parse() → CroTransformer().transform() → SemanticAnalyzer().analyze() → CodeGenerator().generate()</a:t>
            </a:r>
            <a:endParaRPr lang="en-US" sz="1450" dirty="0"/>
          </a:p>
          <a:p>
            <a:pPr marL="342900" indent="-342900">
              <a:buSzPct val="100000"/>
              <a:buChar char="•"/>
            </a:pPr>
            <a:r>
              <a:rPr lang="en-US" sz="1450" dirty="0">
                <a:solidFill>
                  <a:srgbClr val="161B26"/>
                </a:solidFill>
                <a:latin typeface="Calibri" pitchFamily="34" charset="0"/>
                <a:ea typeface="Calibri" pitchFamily="34" charset="-122"/>
                <a:cs typeface="Calibri" pitchFamily="34" charset="-120"/>
              </a:rPr>
              <a:t>Ogni fase è isolata: l'AST prodotto dalla fase 1-2 è l'unico contratto tra le fasi successive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3" name="Text 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STRUTTURA DEL PROGETTO</a:t>
            </a:r>
            <a:endParaRPr lang="en-US" sz="1150" dirty="0"/>
          </a:p>
        </p:txBody>
      </p:sp>
      <p:sp>
        <p:nvSpPr>
          <p:cNvPr id="5" name="Text 3"/>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I file consegnati</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3521645180"/>
              </p:ext>
            </p:extLst>
          </p:nvPr>
        </p:nvGraphicFramePr>
        <p:xfrm>
          <a:off x="548640" y="1508760"/>
          <a:ext cx="11064240" cy="4206237"/>
        </p:xfrm>
        <a:graphic>
          <a:graphicData uri="http://schemas.openxmlformats.org/drawingml/2006/table">
            <a:tbl>
              <a:tblPr/>
              <a:tblGrid>
                <a:gridCol w="24688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680960">
                  <a:extLst>
                    <a:ext uri="{9D8B030D-6E8A-4147-A177-3AD203B41FA5}">
                      <a16:colId xmlns:a16="http://schemas.microsoft.com/office/drawing/2014/main" val="20002"/>
                    </a:ext>
                  </a:extLst>
                </a:gridCol>
              </a:tblGrid>
              <a:tr h="600891">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Righe</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Contenuto</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extLst>
                  <a:ext uri="{0D108BD9-81ED-4DB2-BD59-A6C34878D82A}">
                    <a16:rowId xmlns:a16="http://schemas.microsoft.com/office/drawing/2014/main" val="10000"/>
                  </a:ext>
                </a:extLst>
              </a:tr>
              <a:tr h="600891">
                <a:tc>
                  <a:txBody>
                    <a:bodyPr/>
                    <a:lstStyle/>
                    <a:p>
                      <a:pPr marL="0" indent="0">
                        <a:buNone/>
                      </a:pPr>
                      <a:r>
                        <a:rPr lang="en-US" sz="1200" b="1" dirty="0">
                          <a:solidFill>
                            <a:srgbClr val="161B26"/>
                          </a:solidFill>
                          <a:latin typeface="Courier New" pitchFamily="34" charset="0"/>
                          <a:ea typeface="Courier New" pitchFamily="34" charset="-122"/>
                          <a:cs typeface="Courier New" pitchFamily="34" charset="-120"/>
                        </a:rPr>
                        <a:t>compilatore_cro.py</a:t>
                      </a:r>
                      <a:endParaRPr lang="en-US" sz="120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5B6472"/>
                          </a:solidFill>
                          <a:latin typeface="Calibri" pitchFamily="34" charset="0"/>
                          <a:ea typeface="Calibri" pitchFamily="34" charset="-122"/>
                          <a:cs typeface="Calibri" pitchFamily="34" charset="-120"/>
                        </a:rPr>
                        <a:t>~1130</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61B26"/>
                          </a:solidFill>
                          <a:latin typeface="Calibri" pitchFamily="34" charset="0"/>
                          <a:ea typeface="Calibri" pitchFamily="34" charset="-122"/>
                          <a:cs typeface="Calibri" pitchFamily="34" charset="-120"/>
                        </a:rPr>
                        <a:t>Il compilatore completo: grammatica, AST, transformer, analisi semantica, code generator, pipeline, self-test, CLI</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00891">
                <a:tc>
                  <a:txBody>
                    <a:bodyPr/>
                    <a:lstStyle/>
                    <a:p>
                      <a:pPr marL="0" indent="0">
                        <a:buNone/>
                      </a:pPr>
                      <a:r>
                        <a:rPr lang="en-US" sz="1200" b="1" dirty="0">
                          <a:solidFill>
                            <a:srgbClr val="161B26"/>
                          </a:solidFill>
                          <a:latin typeface="Courier New" pitchFamily="34" charset="0"/>
                          <a:ea typeface="Courier New" pitchFamily="34" charset="-122"/>
                          <a:cs typeface="Courier New" pitchFamily="34" charset="-120"/>
                        </a:rPr>
                        <a:t>calcolatrice.cro</a:t>
                      </a:r>
                      <a:endParaRPr lang="en-US" sz="120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5B6472"/>
                          </a:solidFill>
                          <a:latin typeface="Calibri" pitchFamily="34" charset="0"/>
                          <a:ea typeface="Calibri" pitchFamily="34" charset="-122"/>
                          <a:cs typeface="Calibri" pitchFamily="34" charset="-120"/>
                        </a:rPr>
                        <a:t>121</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61B26"/>
                          </a:solidFill>
                          <a:latin typeface="Calibri" pitchFamily="34" charset="0"/>
                          <a:ea typeface="Calibri" pitchFamily="34" charset="-122"/>
                          <a:cs typeface="Calibri" pitchFamily="34" charset="-120"/>
                        </a:rPr>
                        <a:t>Programma dimostrativo OBBLIGATORIO (menu, I/O, funzioni, ciclo di continuazione)</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600891">
                <a:tc>
                  <a:txBody>
                    <a:bodyPr/>
                    <a:lstStyle/>
                    <a:p>
                      <a:pPr marL="0" indent="0">
                        <a:buNone/>
                      </a:pPr>
                      <a:r>
                        <a:rPr lang="en-US" sz="1200" b="1" dirty="0">
                          <a:solidFill>
                            <a:srgbClr val="161B26"/>
                          </a:solidFill>
                          <a:latin typeface="Courier New" pitchFamily="34" charset="0"/>
                          <a:ea typeface="Courier New" pitchFamily="34" charset="-122"/>
                          <a:cs typeface="Courier New" pitchFamily="34" charset="-120"/>
                        </a:rPr>
                        <a:t>errore.cro</a:t>
                      </a:r>
                      <a:endParaRPr lang="en-US" sz="120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5B6472"/>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61B26"/>
                          </a:solidFill>
                          <a:latin typeface="Calibri" pitchFamily="34" charset="0"/>
                          <a:ea typeface="Calibri" pitchFamily="34" charset="-122"/>
                          <a:cs typeface="Calibri" pitchFamily="34" charset="-120"/>
                        </a:rPr>
                        <a:t>Test negativo: 9 errori semantici intenzionali, uno per categoria</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00891">
                <a:tc>
                  <a:txBody>
                    <a:bodyPr/>
                    <a:lstStyle/>
                    <a:p>
                      <a:pPr marL="0" indent="0">
                        <a:buNone/>
                      </a:pPr>
                      <a:r>
                        <a:rPr lang="en-US" sz="1200" b="1" dirty="0">
                          <a:solidFill>
                            <a:srgbClr val="161B26"/>
                          </a:solidFill>
                          <a:latin typeface="Courier New" pitchFamily="34" charset="0"/>
                          <a:ea typeface="Courier New" pitchFamily="34" charset="-122"/>
                          <a:cs typeface="Courier New" pitchFamily="34" charset="-120"/>
                        </a:rPr>
                        <a:t>test_suite.py</a:t>
                      </a:r>
                      <a:endParaRPr lang="en-US" sz="120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5B6472"/>
                          </a:solidFill>
                          <a:latin typeface="Calibri" pitchFamily="34" charset="0"/>
                          <a:ea typeface="Calibri" pitchFamily="34" charset="-122"/>
                          <a:cs typeface="Calibri" pitchFamily="34" charset="-120"/>
                        </a:rPr>
                        <a:t>516</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61B26"/>
                          </a:solidFill>
                          <a:latin typeface="Calibri" pitchFamily="34" charset="0"/>
                          <a:ea typeface="Calibri" pitchFamily="34" charset="-122"/>
                          <a:cs typeface="Calibri" pitchFamily="34" charset="-120"/>
                        </a:rPr>
                        <a:t>43 test automatizzati: 35 unitari + 8 di integrazione end-to-end (gcc + esecuzione)</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600891">
                <a:tc>
                  <a:txBody>
                    <a:bodyPr/>
                    <a:lstStyle/>
                    <a:p>
                      <a:pPr marL="0" indent="0">
                        <a:buNone/>
                      </a:pPr>
                      <a:r>
                        <a:rPr lang="en-US" sz="1200" b="1" dirty="0">
                          <a:solidFill>
                            <a:srgbClr val="161B26"/>
                          </a:solidFill>
                          <a:latin typeface="Courier New" pitchFamily="34" charset="0"/>
                          <a:ea typeface="Courier New" pitchFamily="34" charset="-122"/>
                          <a:cs typeface="Courier New" pitchFamily="34" charset="-120"/>
                        </a:rPr>
                        <a:t>Russo-EILP-2026.tex / .pdf</a:t>
                      </a:r>
                      <a:endParaRPr lang="en-US" sz="120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5B647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61B26"/>
                          </a:solidFill>
                          <a:latin typeface="Calibri" pitchFamily="34" charset="0"/>
                          <a:ea typeface="Calibri" pitchFamily="34" charset="-122"/>
                          <a:cs typeface="Calibri" pitchFamily="34" charset="-120"/>
                        </a:rPr>
                        <a:t>Documentazione tecnica: specifiche del linguaggio + scelte progettuali (Sez. 6)</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600891">
                <a:tc>
                  <a:txBody>
                    <a:bodyPr/>
                    <a:lstStyle/>
                    <a:p>
                      <a:pPr marL="0" indent="0">
                        <a:buNone/>
                      </a:pPr>
                      <a:r>
                        <a:rPr lang="en-US" sz="1200" b="1" dirty="0">
                          <a:solidFill>
                            <a:srgbClr val="161B26"/>
                          </a:solidFill>
                          <a:latin typeface="Courier New" pitchFamily="34" charset="0"/>
                          <a:ea typeface="Courier New" pitchFamily="34" charset="-122"/>
                          <a:cs typeface="Courier New" pitchFamily="34" charset="-120"/>
                        </a:rPr>
                        <a:t>README.md</a:t>
                      </a:r>
                      <a:endParaRPr lang="en-US" sz="120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5B647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50" dirty="0">
                          <a:solidFill>
                            <a:srgbClr val="161B26"/>
                          </a:solidFill>
                          <a:latin typeface="Calibri" pitchFamily="34" charset="0"/>
                          <a:ea typeface="Calibri" pitchFamily="34" charset="-122"/>
                          <a:cs typeface="Calibri" pitchFamily="34" charset="-120"/>
                        </a:rPr>
                        <a:t>Istruzioni di build, dipendenze, esempi d'uso</a:t>
                      </a:r>
                      <a:endParaRPr lang="en-US" sz="11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1371600" y="4114800"/>
            <a:ext cx="3657600" cy="3657600"/>
          </a:xfrm>
          <a:prstGeom prst="ellipse">
            <a:avLst/>
          </a:prstGeom>
          <a:solidFill>
            <a:srgbClr val="1F2937"/>
          </a:solidFill>
          <a:ln/>
        </p:spPr>
        <p:txBody>
          <a:bodyPr/>
          <a:lstStyle/>
          <a:p>
            <a:endParaRPr lang="en-GB"/>
          </a:p>
        </p:txBody>
      </p:sp>
      <p:sp>
        <p:nvSpPr>
          <p:cNvPr id="3" name="Text 1"/>
          <p:cNvSpPr/>
          <p:nvPr/>
        </p:nvSpPr>
        <p:spPr>
          <a:xfrm>
            <a:off x="822960" y="2286000"/>
            <a:ext cx="2743200" cy="1371600"/>
          </a:xfrm>
          <a:prstGeom prst="rect">
            <a:avLst/>
          </a:prstGeom>
          <a:noFill/>
          <a:ln/>
        </p:spPr>
        <p:txBody>
          <a:bodyPr wrap="square" lIns="0" tIns="0" rIns="0" bIns="0" rtlCol="0" anchor="ctr"/>
          <a:lstStyle/>
          <a:p>
            <a:pPr marL="0" indent="0">
              <a:buNone/>
            </a:pPr>
            <a:r>
              <a:rPr lang="en-US" sz="8000" b="1" dirty="0">
                <a:solidFill>
                  <a:srgbClr val="2DD4BF"/>
                </a:solidFill>
                <a:latin typeface="Cambria" pitchFamily="34" charset="0"/>
                <a:ea typeface="Cambria" pitchFamily="34" charset="-122"/>
                <a:cs typeface="Cambria" pitchFamily="34" charset="-120"/>
              </a:rPr>
              <a:t>01</a:t>
            </a:r>
            <a:endParaRPr lang="en-US" sz="8000" dirty="0"/>
          </a:p>
        </p:txBody>
      </p:sp>
      <p:sp>
        <p:nvSpPr>
          <p:cNvPr id="4" name="Text 2"/>
          <p:cNvSpPr/>
          <p:nvPr/>
        </p:nvSpPr>
        <p:spPr>
          <a:xfrm>
            <a:off x="3108960" y="2468880"/>
            <a:ext cx="7772400" cy="1463040"/>
          </a:xfrm>
          <a:prstGeom prst="rect">
            <a:avLst/>
          </a:prstGeom>
          <a:noFill/>
          <a:ln/>
        </p:spPr>
        <p:txBody>
          <a:bodyPr wrap="square" lIns="0" tIns="0" rIns="0" bIns="0" rtlCol="0" anchor="ctr"/>
          <a:lstStyle/>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Grammatica</a:t>
            </a:r>
            <a:endParaRPr lang="en-US" sz="3800" dirty="0"/>
          </a:p>
          <a:p>
            <a:pPr marL="0" indent="0">
              <a:lnSpc>
                <a:spcPct val="105000"/>
              </a:lnSpc>
              <a:buNone/>
            </a:pPr>
            <a:r>
              <a:rPr lang="en-US" sz="3800" b="1" dirty="0">
                <a:solidFill>
                  <a:srgbClr val="FFFFFF"/>
                </a:solidFill>
                <a:latin typeface="Cambria" pitchFamily="34" charset="0"/>
                <a:ea typeface="Cambria" pitchFamily="34" charset="-122"/>
                <a:cs typeface="Cambria" pitchFamily="34" charset="-120"/>
              </a:rPr>
              <a:t>Lexer + Parser</a:t>
            </a:r>
            <a:endParaRPr lang="en-US" sz="3800" dirty="0"/>
          </a:p>
        </p:txBody>
      </p:sp>
      <p:sp>
        <p:nvSpPr>
          <p:cNvPr id="5" name="Text 3"/>
          <p:cNvSpPr/>
          <p:nvPr/>
        </p:nvSpPr>
        <p:spPr>
          <a:xfrm>
            <a:off x="3154680" y="3794760"/>
            <a:ext cx="5486400" cy="365760"/>
          </a:xfrm>
          <a:prstGeom prst="rect">
            <a:avLst/>
          </a:prstGeom>
          <a:noFill/>
          <a:ln/>
        </p:spPr>
        <p:txBody>
          <a:bodyPr wrap="square" lIns="0" tIns="0" rIns="0" bIns="0" rtlCol="0" anchor="ctr"/>
          <a:lstStyle/>
          <a:p>
            <a:pPr marL="0" indent="0">
              <a:buNone/>
            </a:pPr>
            <a:r>
              <a:rPr lang="en-US" sz="1300" dirty="0">
                <a:solidFill>
                  <a:srgbClr val="8B96A8"/>
                </a:solidFill>
                <a:latin typeface="Courier New" pitchFamily="34" charset="0"/>
                <a:ea typeface="Courier New" pitchFamily="34" charset="-122"/>
                <a:cs typeface="Courier New" pitchFamily="34" charset="-120"/>
              </a:rPr>
              <a:t>compilatore_cro.py — righe 43–186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SCELTA DEL PARSER</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Earley invece di LALR(1)</a:t>
            </a:r>
            <a:endParaRPr lang="en-US" sz="2800" dirty="0"/>
          </a:p>
        </p:txBody>
      </p:sp>
      <p:sp>
        <p:nvSpPr>
          <p:cNvPr id="9" name="Text 7"/>
          <p:cNvSpPr/>
          <p:nvPr/>
        </p:nvSpPr>
        <p:spPr>
          <a:xfrm>
            <a:off x="548640" y="1463040"/>
            <a:ext cx="6400800" cy="4389120"/>
          </a:xfrm>
          <a:prstGeom prst="rect">
            <a:avLst/>
          </a:prstGeom>
          <a:noFill/>
          <a:ln/>
        </p:spPr>
        <p:txBody>
          <a:bodyPr wrap="square" lIns="0" tIns="0" rIns="0" bIns="0" rtlCol="0" anchor="t"/>
          <a:lstStyle/>
          <a:p>
            <a:pPr marL="342900" indent="-342900">
              <a:spcAft>
                <a:spcPts val="1400"/>
              </a:spcAft>
              <a:buSzPct val="100000"/>
              <a:buChar char="•"/>
            </a:pPr>
            <a:r>
              <a:rPr lang="en-US" sz="1450" dirty="0">
                <a:solidFill>
                  <a:srgbClr val="161B26"/>
                </a:solidFill>
                <a:latin typeface="Calibri" pitchFamily="34" charset="0"/>
                <a:ea typeface="Calibri" pitchFamily="34" charset="-122"/>
                <a:cs typeface="Calibri" pitchFamily="34" charset="-120"/>
              </a:rPr>
              <a:t>La grammatica supporta nativamente entrambi gli algoritmi (Earley e LALR), come richiesto dalla specifica originale</a:t>
            </a:r>
            <a:endParaRPr lang="en-US" sz="1450" dirty="0"/>
          </a:p>
          <a:p>
            <a:pPr marL="342900" indent="-342900">
              <a:spcAft>
                <a:spcPts val="1400"/>
              </a:spcAft>
              <a:buSzPct val="100000"/>
              <a:buChar char="•"/>
            </a:pPr>
            <a:r>
              <a:rPr lang="en-US" sz="1450" b="1" dirty="0">
                <a:solidFill>
                  <a:srgbClr val="161B26"/>
                </a:solidFill>
                <a:latin typeface="Calibri" pitchFamily="34" charset="0"/>
                <a:ea typeface="Calibri" pitchFamily="34" charset="-122"/>
                <a:cs typeface="Calibri" pitchFamily="34" charset="-120"/>
              </a:rPr>
              <a:t>Scelta finale: Earley, con ambiguity='resolve'</a:t>
            </a:r>
            <a:endParaRPr lang="en-US" sz="1450" dirty="0"/>
          </a:p>
          <a:p>
            <a:pPr marL="342900" indent="-342900">
              <a:spcAft>
                <a:spcPts val="1400"/>
              </a:spcAft>
              <a:buSzPct val="100000"/>
              <a:buChar char="•"/>
            </a:pPr>
            <a:r>
              <a:rPr lang="en-US" sz="1450" dirty="0">
                <a:solidFill>
                  <a:srgbClr val="161B26"/>
                </a:solidFill>
                <a:latin typeface="Calibri" pitchFamily="34" charset="0"/>
                <a:ea typeface="Calibri" pitchFamily="34" charset="-122"/>
                <a:cs typeface="Calibri" pitchFamily="34" charset="-120"/>
              </a:rPr>
              <a:t>Motivo: il classico problema del dangling else nel costrutto if_stmt — un else può sintatticamente appartenere sia all'if più esterno che a quello più interno, in caso di if annidati senza blocchi {}</a:t>
            </a:r>
            <a:endParaRPr lang="en-US" sz="1450" dirty="0"/>
          </a:p>
          <a:p>
            <a:pPr marL="342900" indent="-342900">
              <a:buSzPct val="100000"/>
              <a:buChar char="•"/>
            </a:pPr>
            <a:r>
              <a:rPr lang="en-US" sz="1450" dirty="0">
                <a:solidFill>
                  <a:srgbClr val="161B26"/>
                </a:solidFill>
                <a:latin typeface="Calibri" pitchFamily="34" charset="0"/>
                <a:ea typeface="Calibri" pitchFamily="34" charset="-122"/>
                <a:cs typeface="Calibri" pitchFamily="34" charset="-120"/>
              </a:rPr>
              <a:t>Earley gestisce nativamente le grammatiche ambigue, risolvendo il conflitto nel modo standard (else associato all'if più vicino) senza dover riscrivere la grammatica per eliminarlo, come servirebbe invece con LALR(1)</a:t>
            </a:r>
            <a:endParaRPr lang="en-US" sz="1450" dirty="0"/>
          </a:p>
        </p:txBody>
      </p:sp>
      <p:sp>
        <p:nvSpPr>
          <p:cNvPr id="10" name="Shape 8"/>
          <p:cNvSpPr/>
          <p:nvPr/>
        </p:nvSpPr>
        <p:spPr>
          <a:xfrm>
            <a:off x="7223760" y="1737360"/>
            <a:ext cx="4389120" cy="2011680"/>
          </a:xfrm>
          <a:prstGeom prst="roundRect">
            <a:avLst>
              <a:gd name="adj" fmla="val 3636"/>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1" name="Text 9"/>
          <p:cNvSpPr/>
          <p:nvPr/>
        </p:nvSpPr>
        <p:spPr>
          <a:xfrm>
            <a:off x="7452360" y="1847088"/>
            <a:ext cx="393192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compilatore_cro.py · riga 921</a:t>
            </a:r>
            <a:endParaRPr lang="en-US" sz="1000" dirty="0"/>
          </a:p>
        </p:txBody>
      </p:sp>
      <p:sp>
        <p:nvSpPr>
          <p:cNvPr id="12" name="Text 10"/>
          <p:cNvSpPr/>
          <p:nvPr/>
        </p:nvSpPr>
        <p:spPr>
          <a:xfrm>
            <a:off x="7452360" y="2148840"/>
            <a:ext cx="3931920" cy="1417320"/>
          </a:xfrm>
          <a:prstGeom prst="rect">
            <a:avLst/>
          </a:prstGeom>
          <a:noFill/>
          <a:ln/>
        </p:spPr>
        <p:txBody>
          <a:bodyPr wrap="square" lIns="0" tIns="0" rIns="0" bIns="0" rtlCol="0" anchor="t"/>
          <a:lstStyle/>
          <a:p>
            <a:pPr marL="0" indent="0">
              <a:lnSpc>
                <a:spcPct val="112000"/>
              </a:lnSpc>
              <a:buNone/>
            </a:pPr>
            <a:r>
              <a:rPr lang="en-US" sz="1300" dirty="0">
                <a:solidFill>
                  <a:srgbClr val="D7FCEF"/>
                </a:solidFill>
                <a:latin typeface="Courier New" pitchFamily="34" charset="0"/>
                <a:ea typeface="Courier New" pitchFamily="34" charset="-122"/>
                <a:cs typeface="Courier New" pitchFamily="34" charset="-120"/>
              </a:rPr>
              <a:t>def build_parser() -&gt; Lark:</a:t>
            </a:r>
            <a:endParaRPr lang="en-US" sz="1300" dirty="0"/>
          </a:p>
          <a:p>
            <a:pPr marL="0" indent="0">
              <a:lnSpc>
                <a:spcPct val="112000"/>
              </a:lnSpc>
              <a:buNone/>
            </a:pPr>
            <a:r>
              <a:rPr lang="en-US" sz="1300" dirty="0">
                <a:solidFill>
                  <a:srgbClr val="D7FCEF"/>
                </a:solidFill>
                <a:latin typeface="Courier New" pitchFamily="34" charset="0"/>
                <a:ea typeface="Courier New" pitchFamily="34" charset="-122"/>
                <a:cs typeface="Courier New" pitchFamily="34" charset="-120"/>
              </a:rPr>
              <a:t>    return Lark(</a:t>
            </a:r>
            <a:endParaRPr lang="en-US" sz="1300" dirty="0"/>
          </a:p>
          <a:p>
            <a:pPr marL="0" indent="0">
              <a:lnSpc>
                <a:spcPct val="112000"/>
              </a:lnSpc>
              <a:buNone/>
            </a:pPr>
            <a:r>
              <a:rPr lang="en-US" sz="1300" dirty="0">
                <a:solidFill>
                  <a:srgbClr val="D7FCEF"/>
                </a:solidFill>
                <a:latin typeface="Courier New" pitchFamily="34" charset="0"/>
                <a:ea typeface="Courier New" pitchFamily="34" charset="-122"/>
                <a:cs typeface="Courier New" pitchFamily="34" charset="-120"/>
              </a:rPr>
              <a:t>        GRAMMATICA_CRO,</a:t>
            </a:r>
            <a:endParaRPr lang="en-US" sz="1300" dirty="0"/>
          </a:p>
          <a:p>
            <a:pPr marL="0" indent="0">
              <a:lnSpc>
                <a:spcPct val="112000"/>
              </a:lnSpc>
              <a:buNone/>
            </a:pPr>
            <a:r>
              <a:rPr lang="en-US" sz="1300" dirty="0">
                <a:solidFill>
                  <a:srgbClr val="D7FCEF"/>
                </a:solidFill>
                <a:latin typeface="Courier New" pitchFamily="34" charset="0"/>
                <a:ea typeface="Courier New" pitchFamily="34" charset="-122"/>
                <a:cs typeface="Courier New" pitchFamily="34" charset="-120"/>
              </a:rPr>
              <a:t>        parser='earley',</a:t>
            </a:r>
            <a:endParaRPr lang="en-US" sz="1300" dirty="0"/>
          </a:p>
          <a:p>
            <a:pPr marL="0" indent="0">
              <a:lnSpc>
                <a:spcPct val="112000"/>
              </a:lnSpc>
              <a:buNone/>
            </a:pPr>
            <a:r>
              <a:rPr lang="en-US" sz="1300" dirty="0">
                <a:solidFill>
                  <a:srgbClr val="D7FCEF"/>
                </a:solidFill>
                <a:latin typeface="Courier New" pitchFamily="34" charset="0"/>
                <a:ea typeface="Courier New" pitchFamily="34" charset="-122"/>
                <a:cs typeface="Courier New" pitchFamily="34" charset="-120"/>
              </a:rPr>
              <a:t>        ambiguity='resolve',</a:t>
            </a:r>
            <a:endParaRPr lang="en-US" sz="1300" dirty="0"/>
          </a:p>
          <a:p>
            <a:pPr marL="0" indent="0">
              <a:lnSpc>
                <a:spcPct val="112000"/>
              </a:lnSpc>
              <a:buNone/>
            </a:pPr>
            <a:r>
              <a:rPr lang="en-US" sz="1300" dirty="0">
                <a:solidFill>
                  <a:srgbClr val="D7FCEF"/>
                </a:solidFill>
                <a:latin typeface="Courier New" pitchFamily="34" charset="0"/>
                <a:ea typeface="Courier New" pitchFamily="34" charset="-122"/>
                <a:cs typeface="Courier New" pitchFamily="34" charset="-120"/>
              </a:rPr>
              <a:t>    )</a:t>
            </a:r>
            <a:endParaRPr lang="en-US" sz="1300" dirty="0"/>
          </a:p>
        </p:txBody>
      </p:sp>
      <p:sp>
        <p:nvSpPr>
          <p:cNvPr id="13" name="Shape 11"/>
          <p:cNvSpPr/>
          <p:nvPr/>
        </p:nvSpPr>
        <p:spPr>
          <a:xfrm>
            <a:off x="7223760" y="3931920"/>
            <a:ext cx="4389120" cy="1828800"/>
          </a:xfrm>
          <a:prstGeom prst="roundRect">
            <a:avLst>
              <a:gd name="adj" fmla="val 4000"/>
            </a:avLst>
          </a:prstGeom>
          <a:solidFill>
            <a:srgbClr val="FDECC8"/>
          </a:solidFill>
          <a:ln/>
        </p:spPr>
        <p:txBody>
          <a:bodyPr/>
          <a:lstStyle/>
          <a:p>
            <a:endParaRPr lang="en-GB"/>
          </a:p>
        </p:txBody>
      </p:sp>
      <p:sp>
        <p:nvSpPr>
          <p:cNvPr id="14" name="Text 12"/>
          <p:cNvSpPr/>
          <p:nvPr/>
        </p:nvSpPr>
        <p:spPr>
          <a:xfrm>
            <a:off x="7452360" y="4096512"/>
            <a:ext cx="393192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SCELTA PROGETTUALE</a:t>
            </a:r>
            <a:endParaRPr lang="en-US" sz="1300" dirty="0"/>
          </a:p>
        </p:txBody>
      </p:sp>
      <p:sp>
        <p:nvSpPr>
          <p:cNvPr id="15" name="Text 13"/>
          <p:cNvSpPr/>
          <p:nvPr/>
        </p:nvSpPr>
        <p:spPr>
          <a:xfrm>
            <a:off x="7452360" y="4434840"/>
            <a:ext cx="3931920" cy="1143000"/>
          </a:xfrm>
          <a:prstGeom prst="rect">
            <a:avLst/>
          </a:prstGeom>
          <a:noFill/>
          <a:ln/>
        </p:spPr>
        <p:txBody>
          <a:bodyPr wrap="square" lIns="0" tIns="0" rIns="0" bIns="0" rtlCol="0" anchor="t"/>
          <a:lstStyle/>
          <a:p>
            <a:pPr>
              <a:lnSpc>
                <a:spcPct val="115000"/>
              </a:lnSpc>
            </a:pPr>
            <a:r>
              <a:rPr lang="en-US" sz="1250" dirty="0">
                <a:solidFill>
                  <a:srgbClr val="161B26"/>
                </a:solidFill>
                <a:latin typeface="Calibri" pitchFamily="34" charset="0"/>
                <a:ea typeface="Calibri" pitchFamily="34" charset="-122"/>
                <a:cs typeface="Calibri" pitchFamily="34" charset="-120"/>
              </a:rPr>
              <a:t>Documentata in Russo_EILP_2026 par 6.1 (“Scelta dell'Algoritmo di Parsing”) come deviazione motivata rispetto alla scelta neutra LALR/Earley lasciata aperta dalla specifica.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SPECIFICHE LESSICALI</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Le parole chiave napoletane</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297680"/>
        </p:xfrm>
        <a:graphic>
          <a:graphicData uri="http://schemas.openxmlformats.org/drawingml/2006/table">
            <a:tbl>
              <a:tblPr/>
              <a:tblGrid>
                <a:gridCol w="27432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88920">
                  <a:extLst>
                    <a:ext uri="{9D8B030D-6E8A-4147-A177-3AD203B41FA5}">
                      <a16:colId xmlns:a16="http://schemas.microsoft.com/office/drawing/2014/main" val="20003"/>
                    </a:ext>
                  </a:extLst>
                </a:gridCol>
              </a:tblGrid>
              <a:tr h="47752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C-ro</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C-ro</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61B26"/>
                    </a:solidFill>
                  </a:tcPr>
                </a:tc>
                <a:extLst>
                  <a:ext uri="{0D108BD9-81ED-4DB2-BD59-A6C34878D82A}">
                    <a16:rowId xmlns:a16="http://schemas.microsoft.com/office/drawing/2014/main" val="10000"/>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nummero</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int</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carattere</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char</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comm</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float</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bull</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bool</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capo</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main</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funzion</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function</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trament</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while</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ppe</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faje</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do</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facimm</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switch</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cas / default</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case / default</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torn</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return</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stambf / scanef</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printf / scanf</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S'invece</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else if</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477520">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e / o / non</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&amp;&amp; / || / !</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b="1" dirty="0">
                          <a:solidFill>
                            <a:srgbClr val="161B26"/>
                          </a:solidFill>
                          <a:latin typeface="Courier New" pitchFamily="34" charset="0"/>
                          <a:ea typeface="Courier New" pitchFamily="34" charset="-122"/>
                          <a:cs typeface="Courier New" pitchFamily="34" charset="-120"/>
                        </a:rPr>
                        <a:t>over / favz</a:t>
                      </a:r>
                      <a:endParaRPr lang="en-US" sz="1250" dirty="0">
                        <a:latin typeface="Courier New" charset="0"/>
                        <a:ea typeface="Courier New" charset="0"/>
                        <a:cs typeface="Courier New"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50" dirty="0">
                          <a:solidFill>
                            <a:srgbClr val="5B6472"/>
                          </a:solidFill>
                          <a:latin typeface="Calibri" pitchFamily="34" charset="0"/>
                          <a:ea typeface="Calibri" pitchFamily="34" charset="-122"/>
                          <a:cs typeface="Calibri" pitchFamily="34" charset="-120"/>
                        </a:rPr>
                        <a:t>true / false</a:t>
                      </a:r>
                      <a:endParaRPr lang="en-US" sz="12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SINTASSI — DICHIARAZIONI</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Programma, variabili e funzioni</a:t>
            </a:r>
            <a:endParaRPr lang="en-US" sz="2800" dirty="0"/>
          </a:p>
        </p:txBody>
      </p:sp>
      <p:sp>
        <p:nvSpPr>
          <p:cNvPr id="9" name="Shape 7"/>
          <p:cNvSpPr/>
          <p:nvPr/>
        </p:nvSpPr>
        <p:spPr>
          <a:xfrm>
            <a:off x="548640" y="1463040"/>
            <a:ext cx="6400800" cy="4389120"/>
          </a:xfrm>
          <a:prstGeom prst="roundRect">
            <a:avLst>
              <a:gd name="adj" fmla="val 1667"/>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94360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GRAMMATICA_CRO · righe 57–76</a:t>
            </a:r>
            <a:endParaRPr lang="en-US" sz="1000" dirty="0"/>
          </a:p>
        </p:txBody>
      </p:sp>
      <p:sp>
        <p:nvSpPr>
          <p:cNvPr id="11" name="Text 9"/>
          <p:cNvSpPr/>
          <p:nvPr/>
        </p:nvSpPr>
        <p:spPr>
          <a:xfrm>
            <a:off x="777240" y="1874520"/>
            <a:ext cx="5943600" cy="3794760"/>
          </a:xfrm>
          <a:prstGeom prst="rect">
            <a:avLst/>
          </a:prstGeom>
          <a:noFill/>
          <a:ln/>
        </p:spPr>
        <p:txBody>
          <a:bodyPr wrap="square" lIns="0" tIns="0" rIns="0" bIns="0" rtlCol="0" anchor="t"/>
          <a:lstStyle/>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start: declaration*</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declaration: var_decl | function_decl</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a:t>
            </a:r>
            <a:endParaRPr lang="en-US" sz="1350" dirty="0"/>
          </a:p>
          <a:p>
            <a:pPr marL="0" indent="0">
              <a:lnSpc>
                <a:spcPct val="112000"/>
              </a:lnSpc>
              <a:buNone/>
            </a:pPr>
            <a:r>
              <a:rPr lang="en-US" sz="1350" i="1" dirty="0">
                <a:solidFill>
                  <a:srgbClr val="8B9AAE"/>
                </a:solidFill>
                <a:latin typeface="Courier New" pitchFamily="34" charset="0"/>
                <a:ea typeface="Courier New" pitchFamily="34" charset="-122"/>
                <a:cs typeface="Courier New" pitchFamily="34" charset="-120"/>
              </a:rPr>
              <a:t>// Forma 1: tipo ID = expr ;</a:t>
            </a:r>
            <a:endParaRPr lang="en-US" sz="1350" dirty="0"/>
          </a:p>
          <a:p>
            <a:pPr marL="0" indent="0">
              <a:lnSpc>
                <a:spcPct val="112000"/>
              </a:lnSpc>
              <a:buNone/>
            </a:pPr>
            <a:r>
              <a:rPr lang="en-US" sz="1350" i="1" dirty="0">
                <a:solidFill>
                  <a:srgbClr val="8B9AAE"/>
                </a:solidFill>
                <a:latin typeface="Courier New" pitchFamily="34" charset="0"/>
                <a:ea typeface="Courier New" pitchFamily="34" charset="-122"/>
                <a:cs typeface="Courier New" pitchFamily="34" charset="-120"/>
              </a:rPr>
              <a:t>// Forma 2: tipo ID ;</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var_decl: type ID "=" expr ";" -&gt; var_decl_init</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 type ID ";"          -&gt; var_decl_noinit</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function_decl:</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"funzion" type ID "(" params? ")" block</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-&gt; function_decl</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 type "capo" "(" ")" block</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-&gt; main_decl</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params: param ("," param)*</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param:  type ID</a:t>
            </a:r>
            <a:endParaRPr lang="en-US" sz="1350" dirty="0"/>
          </a:p>
        </p:txBody>
      </p:sp>
      <p:sp>
        <p:nvSpPr>
          <p:cNvPr id="12" name="Text 10"/>
          <p:cNvSpPr/>
          <p:nvPr/>
        </p:nvSpPr>
        <p:spPr>
          <a:xfrm>
            <a:off x="7223760" y="1554480"/>
            <a:ext cx="4389120" cy="4206240"/>
          </a:xfrm>
          <a:prstGeom prst="rect">
            <a:avLst/>
          </a:prstGeom>
          <a:noFill/>
          <a:ln/>
        </p:spPr>
        <p:txBody>
          <a:bodyPr wrap="square" lIns="0" tIns="0" rIns="0" bIns="0" rtlCol="0" anchor="t"/>
          <a:lstStyle/>
          <a:p>
            <a:pPr marL="342900" indent="-342900">
              <a:spcAft>
                <a:spcPts val="1200"/>
              </a:spcAft>
              <a:buSzPct val="100000"/>
              <a:buChar char="•"/>
            </a:pPr>
            <a:r>
              <a:rPr lang="en-GB" sz="1350" b="1" dirty="0"/>
              <a:t>declaration</a:t>
            </a:r>
            <a:r>
              <a:rPr lang="en-GB" sz="1350" dirty="0"/>
              <a:t>: </a:t>
            </a:r>
            <a:r>
              <a:rPr lang="en-GB" sz="1350" dirty="0" err="1"/>
              <a:t>var_decl</a:t>
            </a:r>
            <a:r>
              <a:rPr lang="en-GB" sz="1350" dirty="0"/>
              <a:t> | </a:t>
            </a:r>
            <a:r>
              <a:rPr lang="en-GB" sz="1350" dirty="0" err="1"/>
              <a:t>function_decl</a:t>
            </a:r>
            <a:r>
              <a:rPr lang="en-GB" sz="1350" dirty="0"/>
              <a:t>: A </a:t>
            </a:r>
            <a:r>
              <a:rPr lang="en-GB" sz="1350" dirty="0" err="1"/>
              <a:t>livello</a:t>
            </a:r>
            <a:r>
              <a:rPr lang="en-GB" sz="1350" dirty="0"/>
              <a:t> </a:t>
            </a:r>
            <a:r>
              <a:rPr lang="en-GB" sz="1350" dirty="0" err="1"/>
              <a:t>globale</a:t>
            </a:r>
            <a:r>
              <a:rPr lang="en-GB" sz="1350" dirty="0"/>
              <a:t>, </a:t>
            </a:r>
            <a:r>
              <a:rPr lang="en-GB" sz="1350" dirty="0" err="1"/>
              <a:t>fuori</a:t>
            </a:r>
            <a:r>
              <a:rPr lang="en-GB" sz="1350" dirty="0"/>
              <a:t> da </a:t>
            </a:r>
            <a:r>
              <a:rPr lang="en-GB" sz="1350" dirty="0" err="1"/>
              <a:t>qualsiasi</a:t>
            </a:r>
            <a:r>
              <a:rPr lang="en-GB" sz="1350" dirty="0"/>
              <a:t> </a:t>
            </a:r>
            <a:r>
              <a:rPr lang="en-GB" sz="1350" dirty="0" err="1"/>
              <a:t>blocco</a:t>
            </a:r>
            <a:r>
              <a:rPr lang="en-GB" sz="1350" dirty="0"/>
              <a:t>, </a:t>
            </a:r>
            <a:r>
              <a:rPr lang="en-GB" sz="1350" dirty="0" err="1"/>
              <a:t>nel</a:t>
            </a:r>
            <a:r>
              <a:rPr lang="en-GB" sz="1350" dirty="0"/>
              <a:t> </a:t>
            </a:r>
            <a:r>
              <a:rPr lang="en-GB" sz="1350" dirty="0" err="1"/>
              <a:t>linguaggio</a:t>
            </a:r>
            <a:r>
              <a:rPr lang="en-GB" sz="1350" dirty="0"/>
              <a:t> </a:t>
            </a:r>
            <a:r>
              <a:rPr lang="en-GB" sz="1350" dirty="0" err="1"/>
              <a:t>si</a:t>
            </a:r>
            <a:r>
              <a:rPr lang="en-GB" sz="1350" dirty="0"/>
              <a:t> </a:t>
            </a:r>
            <a:r>
              <a:rPr lang="en-GB" sz="1350" dirty="0" err="1"/>
              <a:t>possono</a:t>
            </a:r>
            <a:r>
              <a:rPr lang="en-GB" sz="1350" dirty="0"/>
              <a:t> solo </a:t>
            </a:r>
            <a:r>
              <a:rPr lang="en-GB" sz="1350" dirty="0" err="1"/>
              <a:t>dichiarare</a:t>
            </a:r>
            <a:r>
              <a:rPr lang="en-GB" sz="1350" dirty="0"/>
              <a:t> </a:t>
            </a:r>
            <a:r>
              <a:rPr lang="en-GB" sz="1350" dirty="0" err="1"/>
              <a:t>variabili</a:t>
            </a:r>
            <a:r>
              <a:rPr lang="en-GB" sz="1350" dirty="0"/>
              <a:t> (</a:t>
            </a:r>
            <a:r>
              <a:rPr lang="en-GB" sz="1350" dirty="0" err="1"/>
              <a:t>var_decl</a:t>
            </a:r>
            <a:r>
              <a:rPr lang="en-GB" sz="1350" dirty="0"/>
              <a:t>) </a:t>
            </a:r>
            <a:r>
              <a:rPr lang="en-GB" sz="1350" dirty="0" err="1"/>
              <a:t>oppure</a:t>
            </a:r>
            <a:r>
              <a:rPr lang="en-GB" sz="1350" dirty="0"/>
              <a:t> </a:t>
            </a:r>
            <a:r>
              <a:rPr lang="en-GB" sz="1350" dirty="0" err="1"/>
              <a:t>funzioni</a:t>
            </a:r>
            <a:r>
              <a:rPr lang="en-GB" sz="1350" dirty="0"/>
              <a:t> (</a:t>
            </a:r>
            <a:r>
              <a:rPr lang="en-GB" sz="1350" dirty="0" err="1"/>
              <a:t>function_decl</a:t>
            </a:r>
            <a:r>
              <a:rPr lang="en-GB" sz="1350" dirty="0"/>
              <a:t>).</a:t>
            </a:r>
            <a:endParaRPr lang="en-US" sz="1350" dirty="0"/>
          </a:p>
          <a:p>
            <a:pPr marL="285750" indent="-285750">
              <a:buFont typeface="Arial" panose="020B0604020202020204" pitchFamily="34" charset="0"/>
              <a:buChar char="•"/>
            </a:pPr>
            <a:r>
              <a:rPr lang="en-GB" sz="1350" b="1" dirty="0" err="1"/>
              <a:t>Funzioni</a:t>
            </a:r>
            <a:r>
              <a:rPr lang="en-GB" sz="1350" b="1" dirty="0"/>
              <a:t> </a:t>
            </a:r>
            <a:r>
              <a:rPr lang="en-GB" sz="1350" b="1" dirty="0" err="1"/>
              <a:t>normali</a:t>
            </a:r>
            <a:r>
              <a:rPr lang="en-GB" sz="1350" b="1" dirty="0"/>
              <a:t> (-&gt; </a:t>
            </a:r>
            <a:r>
              <a:rPr lang="en-GB" sz="1350" b="1" dirty="0" err="1"/>
              <a:t>function_decl</a:t>
            </a:r>
            <a:r>
              <a:rPr lang="en-GB" sz="1350" b="1" dirty="0"/>
              <a:t>):</a:t>
            </a:r>
            <a:r>
              <a:rPr lang="en-GB" sz="1350" dirty="0"/>
              <a:t> </a:t>
            </a:r>
            <a:r>
              <a:rPr lang="en-GB" sz="1350" dirty="0" err="1"/>
              <a:t>Iniziano</a:t>
            </a:r>
            <a:r>
              <a:rPr lang="en-GB" sz="1350" dirty="0"/>
              <a:t> con la </a:t>
            </a:r>
            <a:r>
              <a:rPr lang="en-GB" sz="1350" dirty="0" err="1"/>
              <a:t>parola</a:t>
            </a:r>
            <a:r>
              <a:rPr lang="en-GB" sz="1350" dirty="0"/>
              <a:t> </a:t>
            </a:r>
            <a:r>
              <a:rPr lang="en-GB" sz="1350" dirty="0" err="1"/>
              <a:t>chiave</a:t>
            </a:r>
            <a:r>
              <a:rPr lang="en-GB" sz="1350" dirty="0"/>
              <a:t> </a:t>
            </a:r>
            <a:r>
              <a:rPr lang="en-GB" sz="1350" dirty="0" err="1"/>
              <a:t>esplicita</a:t>
            </a:r>
            <a:r>
              <a:rPr lang="en-GB" sz="1350" dirty="0"/>
              <a:t> "</a:t>
            </a:r>
            <a:r>
              <a:rPr lang="en-GB" sz="1350" dirty="0" err="1"/>
              <a:t>funzion</a:t>
            </a:r>
            <a:r>
              <a:rPr lang="en-GB" sz="1350" dirty="0"/>
              <a:t>", </a:t>
            </a:r>
            <a:r>
              <a:rPr lang="en-GB" sz="1350" dirty="0" err="1"/>
              <a:t>seguita</a:t>
            </a:r>
            <a:r>
              <a:rPr lang="en-GB" sz="1350" dirty="0"/>
              <a:t> dal </a:t>
            </a:r>
            <a:r>
              <a:rPr lang="en-GB" sz="1350" dirty="0" err="1"/>
              <a:t>tipo</a:t>
            </a:r>
            <a:r>
              <a:rPr lang="en-GB" sz="1350" dirty="0"/>
              <a:t> di </a:t>
            </a:r>
            <a:r>
              <a:rPr lang="en-GB" sz="1350" dirty="0" err="1"/>
              <a:t>ritorno</a:t>
            </a:r>
            <a:r>
              <a:rPr lang="en-GB" sz="1350" dirty="0"/>
              <a:t>, dal </a:t>
            </a:r>
            <a:r>
              <a:rPr lang="en-GB" sz="1350" dirty="0" err="1"/>
              <a:t>nome</a:t>
            </a:r>
            <a:r>
              <a:rPr lang="en-GB" sz="1350" dirty="0"/>
              <a:t> (ID), da </a:t>
            </a:r>
            <a:r>
              <a:rPr lang="en-GB" sz="1350" dirty="0" err="1"/>
              <a:t>parentesi</a:t>
            </a:r>
            <a:r>
              <a:rPr lang="en-GB" sz="1350" dirty="0"/>
              <a:t> </a:t>
            </a:r>
            <a:r>
              <a:rPr lang="en-GB" sz="1350" dirty="0" err="1"/>
              <a:t>che</a:t>
            </a:r>
            <a:r>
              <a:rPr lang="en-GB" sz="1350" dirty="0"/>
              <a:t> </a:t>
            </a:r>
            <a:r>
              <a:rPr lang="en-GB" sz="1350" dirty="0" err="1"/>
              <a:t>contengono</a:t>
            </a:r>
            <a:r>
              <a:rPr lang="en-GB" sz="1350" dirty="0"/>
              <a:t> </a:t>
            </a:r>
            <a:r>
              <a:rPr lang="en-GB" sz="1350" i="1" dirty="0" err="1"/>
              <a:t>opzionalmente</a:t>
            </a:r>
            <a:r>
              <a:rPr lang="en-GB" sz="1350" dirty="0"/>
              <a:t> </a:t>
            </a:r>
            <a:r>
              <a:rPr lang="en-GB" sz="1350" dirty="0" err="1"/>
              <a:t>dei</a:t>
            </a:r>
            <a:r>
              <a:rPr lang="en-GB" sz="1350" dirty="0"/>
              <a:t> </a:t>
            </a:r>
            <a:r>
              <a:rPr lang="en-GB" sz="1350" dirty="0" err="1"/>
              <a:t>parametri</a:t>
            </a:r>
            <a:r>
              <a:rPr lang="en-GB" sz="1350" dirty="0"/>
              <a:t> (params?), e </a:t>
            </a:r>
            <a:r>
              <a:rPr lang="en-GB" sz="1350" dirty="0" err="1"/>
              <a:t>infine</a:t>
            </a:r>
            <a:r>
              <a:rPr lang="en-GB" sz="1350" dirty="0"/>
              <a:t> da un </a:t>
            </a:r>
            <a:r>
              <a:rPr lang="en-GB" sz="1350" dirty="0" err="1"/>
              <a:t>blocco</a:t>
            </a:r>
            <a:r>
              <a:rPr lang="en-GB" sz="1350" dirty="0"/>
              <a:t> di </a:t>
            </a:r>
            <a:r>
              <a:rPr lang="en-GB" sz="1350" dirty="0" err="1"/>
              <a:t>codice</a:t>
            </a:r>
            <a:r>
              <a:rPr lang="en-GB" sz="1350" dirty="0"/>
              <a:t> (block). </a:t>
            </a:r>
          </a:p>
          <a:p>
            <a:pPr marL="285750" indent="-285750">
              <a:buFont typeface="Arial" panose="020B0604020202020204" pitchFamily="34" charset="0"/>
              <a:buChar char="•"/>
            </a:pPr>
            <a:r>
              <a:rPr lang="en-GB" sz="1350" b="1" dirty="0"/>
              <a:t>Il Main (-&gt; </a:t>
            </a:r>
            <a:r>
              <a:rPr lang="en-GB" sz="1350" b="1" dirty="0" err="1"/>
              <a:t>main_decl</a:t>
            </a:r>
            <a:r>
              <a:rPr lang="en-GB" sz="1350" b="1" dirty="0"/>
              <a:t>):</a:t>
            </a:r>
            <a:r>
              <a:rPr lang="en-GB" sz="1350" dirty="0"/>
              <a:t> Al </a:t>
            </a:r>
            <a:r>
              <a:rPr lang="en-GB" sz="1350" dirty="0" err="1"/>
              <a:t>posto</a:t>
            </a:r>
            <a:r>
              <a:rPr lang="en-GB" sz="1350" dirty="0"/>
              <a:t> del classico main del C "capo".</a:t>
            </a:r>
          </a:p>
          <a:p>
            <a:pPr marL="285750" indent="-285750">
              <a:buFont typeface="Arial" panose="020B0604020202020204" pitchFamily="34" charset="0"/>
              <a:buChar char="•"/>
            </a:pPr>
            <a:r>
              <a:rPr lang="en-GB" sz="1350" b="1" dirty="0"/>
              <a:t>I </a:t>
            </a:r>
            <a:r>
              <a:rPr lang="en-GB" sz="1350" b="1" dirty="0" err="1"/>
              <a:t>Parametri</a:t>
            </a:r>
            <a:r>
              <a:rPr lang="en-GB" sz="1350" b="1" dirty="0"/>
              <a:t> (params e param):</a:t>
            </a:r>
            <a:r>
              <a:rPr lang="en-GB" sz="1350" dirty="0"/>
              <a:t> Se ci </a:t>
            </a:r>
            <a:r>
              <a:rPr lang="en-GB" sz="1350" dirty="0" err="1"/>
              <a:t>sono</a:t>
            </a:r>
            <a:r>
              <a:rPr lang="en-GB" sz="1350" dirty="0"/>
              <a:t> </a:t>
            </a:r>
            <a:r>
              <a:rPr lang="en-GB" sz="1350" dirty="0" err="1"/>
              <a:t>parametri</a:t>
            </a:r>
            <a:r>
              <a:rPr lang="en-GB" sz="1350" dirty="0"/>
              <a:t>, la </a:t>
            </a:r>
            <a:r>
              <a:rPr lang="en-GB" sz="1350" dirty="0" err="1"/>
              <a:t>regola</a:t>
            </a:r>
            <a:r>
              <a:rPr lang="en-GB" sz="1350" dirty="0"/>
              <a:t> dice </a:t>
            </a:r>
            <a:r>
              <a:rPr lang="en-GB" sz="1350" dirty="0" err="1"/>
              <a:t>che</a:t>
            </a:r>
            <a:r>
              <a:rPr lang="en-GB" sz="1350" dirty="0"/>
              <a:t> devi </a:t>
            </a:r>
            <a:r>
              <a:rPr lang="en-GB" sz="1350" dirty="0" err="1"/>
              <a:t>avere</a:t>
            </a:r>
            <a:r>
              <a:rPr lang="en-GB" sz="1350" dirty="0"/>
              <a:t> </a:t>
            </a:r>
            <a:r>
              <a:rPr lang="en-GB" sz="1350" dirty="0" err="1"/>
              <a:t>almeno</a:t>
            </a:r>
            <a:r>
              <a:rPr lang="en-GB" sz="1350" dirty="0"/>
              <a:t> un param (</a:t>
            </a:r>
            <a:r>
              <a:rPr lang="en-GB" sz="1350" dirty="0" err="1"/>
              <a:t>tipo</a:t>
            </a:r>
            <a:r>
              <a:rPr lang="en-GB" sz="1350" dirty="0"/>
              <a:t> + ID). Se </a:t>
            </a:r>
            <a:r>
              <a:rPr lang="en-GB" sz="1350" dirty="0" err="1"/>
              <a:t>ce</a:t>
            </a:r>
            <a:r>
              <a:rPr lang="en-GB" sz="1350" dirty="0"/>
              <a:t> ne </a:t>
            </a:r>
            <a:r>
              <a:rPr lang="en-GB" sz="1350" dirty="0" err="1"/>
              <a:t>sono</a:t>
            </a:r>
            <a:r>
              <a:rPr lang="en-GB" sz="1350" dirty="0"/>
              <a:t> </a:t>
            </a:r>
            <a:r>
              <a:rPr lang="en-GB" sz="1350" dirty="0" err="1"/>
              <a:t>altri</a:t>
            </a:r>
            <a:r>
              <a:rPr lang="en-GB" sz="1350" dirty="0"/>
              <a:t>, </a:t>
            </a:r>
            <a:r>
              <a:rPr lang="en-GB" sz="1350" dirty="0" err="1"/>
              <a:t>devono</a:t>
            </a:r>
            <a:r>
              <a:rPr lang="en-GB" sz="1350" dirty="0"/>
              <a:t> </a:t>
            </a:r>
            <a:r>
              <a:rPr lang="en-GB" sz="1350" dirty="0" err="1"/>
              <a:t>essere</a:t>
            </a:r>
            <a:r>
              <a:rPr lang="en-GB" sz="1350" dirty="0"/>
              <a:t> </a:t>
            </a:r>
            <a:r>
              <a:rPr lang="en-GB" sz="1350" dirty="0" err="1"/>
              <a:t>separati</a:t>
            </a:r>
            <a:r>
              <a:rPr lang="en-GB" sz="1350" dirty="0"/>
              <a:t> da </a:t>
            </a:r>
            <a:r>
              <a:rPr lang="en-GB" sz="1350" dirty="0" err="1"/>
              <a:t>una</a:t>
            </a:r>
            <a:r>
              <a:rPr lang="en-GB" sz="1350" dirty="0"/>
              <a:t> </a:t>
            </a:r>
            <a:r>
              <a:rPr lang="en-GB" sz="1350" dirty="0" err="1"/>
              <a:t>virgola</a:t>
            </a:r>
            <a:r>
              <a:rPr lang="en-GB" sz="1350" dirty="0"/>
              <a:t>: ("," param)*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SINTASSI — CONTROLLO</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Selezione: if / S'invece / else, switch</a:t>
            </a:r>
            <a:endParaRPr lang="en-US" sz="2800" dirty="0"/>
          </a:p>
        </p:txBody>
      </p:sp>
      <p:sp>
        <p:nvSpPr>
          <p:cNvPr id="9" name="Shape 7"/>
          <p:cNvSpPr/>
          <p:nvPr/>
        </p:nvSpPr>
        <p:spPr>
          <a:xfrm>
            <a:off x="548640" y="1463040"/>
            <a:ext cx="11064240" cy="2697480"/>
          </a:xfrm>
          <a:prstGeom prst="roundRect">
            <a:avLst>
              <a:gd name="adj" fmla="val 2712"/>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106070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GRAMMATICA_CRO · righe 94–101</a:t>
            </a:r>
            <a:endParaRPr lang="en-US" sz="1000" dirty="0"/>
          </a:p>
        </p:txBody>
      </p:sp>
      <p:sp>
        <p:nvSpPr>
          <p:cNvPr id="11" name="Text 9"/>
          <p:cNvSpPr/>
          <p:nvPr/>
        </p:nvSpPr>
        <p:spPr>
          <a:xfrm>
            <a:off x="777240" y="1874520"/>
            <a:ext cx="10607040" cy="2103120"/>
          </a:xfrm>
          <a:prstGeom prst="rect">
            <a:avLst/>
          </a:prstGeom>
          <a:noFill/>
          <a:ln/>
        </p:spPr>
        <p:txBody>
          <a:bodyPr wrap="square" lIns="0" tIns="0" rIns="0" bIns="0" rtlCol="0" anchor="t"/>
          <a:lstStyle/>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if_stmt: "if" "(" expr ")" statement</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elif_clause* else_clause?</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elif_clause: "S'invece" "(" expr ")" statement</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else_clause: "else" statement</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switch_stmt: "facimm" "(" expr ")" "{"</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case_stmt* default_stmt? "}"</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case_stmt:    "cas" expr ":" statement*</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default_stmt: "default" ":" statement*</a:t>
            </a:r>
            <a:endParaRPr lang="en-US" sz="1350" dirty="0"/>
          </a:p>
        </p:txBody>
      </p:sp>
      <p:sp>
        <p:nvSpPr>
          <p:cNvPr id="12" name="Shape 10"/>
          <p:cNvSpPr/>
          <p:nvPr/>
        </p:nvSpPr>
        <p:spPr>
          <a:xfrm>
            <a:off x="548640" y="4343400"/>
            <a:ext cx="5394960" cy="1691640"/>
          </a:xfrm>
          <a:prstGeom prst="roundRect">
            <a:avLst>
              <a:gd name="adj" fmla="val 4324"/>
            </a:avLst>
          </a:prstGeom>
          <a:solidFill>
            <a:srgbClr val="FDECC8"/>
          </a:solidFill>
          <a:ln/>
        </p:spPr>
        <p:txBody>
          <a:bodyPr/>
          <a:lstStyle/>
          <a:p>
            <a:endParaRPr lang="en-GB"/>
          </a:p>
        </p:txBody>
      </p:sp>
      <p:sp>
        <p:nvSpPr>
          <p:cNvPr id="13" name="Text 11"/>
          <p:cNvSpPr/>
          <p:nvPr/>
        </p:nvSpPr>
        <p:spPr>
          <a:xfrm>
            <a:off x="777240" y="4507992"/>
            <a:ext cx="493776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PERCHÉ elif_clause E else_clause SONO REGOLE SEPARATE</a:t>
            </a:r>
            <a:endParaRPr lang="en-US" sz="1300" dirty="0"/>
          </a:p>
        </p:txBody>
      </p:sp>
      <p:sp>
        <p:nvSpPr>
          <p:cNvPr id="14" name="Text 12"/>
          <p:cNvSpPr/>
          <p:nvPr/>
        </p:nvSpPr>
        <p:spPr>
          <a:xfrm>
            <a:off x="777240" y="4846320"/>
            <a:ext cx="4937760" cy="100584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La scrittura </a:t>
            </a:r>
            <a:r>
              <a:rPr lang="en-US" sz="1250" dirty="0" err="1">
                <a:solidFill>
                  <a:srgbClr val="161B26"/>
                </a:solidFill>
                <a:latin typeface="Calibri" pitchFamily="34" charset="0"/>
                <a:ea typeface="Calibri" pitchFamily="34" charset="-122"/>
                <a:cs typeface="Calibri" pitchFamily="34" charset="-120"/>
              </a:rPr>
              <a:t>diretta</a:t>
            </a:r>
            <a:r>
              <a:rPr lang="en-US" sz="1250" dirty="0">
                <a:solidFill>
                  <a:srgbClr val="161B26"/>
                </a:solidFill>
                <a:latin typeface="Calibri" pitchFamily="34" charset="0"/>
                <a:ea typeface="Calibri" pitchFamily="34" charset="-122"/>
                <a:cs typeface="Calibri" pitchFamily="34" charset="-120"/>
              </a:rPr>
              <a:t> (ELSEIF ... statement)* non è supportata da Lark quando combinata con un gruppo opzionale adiacente: genera un conflitto interno “Rules defined twice”. Approfondito in </a:t>
            </a:r>
            <a:r>
              <a:rPr lang="en-US" sz="1250" dirty="0" err="1">
                <a:solidFill>
                  <a:srgbClr val="161B26"/>
                </a:solidFill>
                <a:latin typeface="Calibri" pitchFamily="34" charset="0"/>
                <a:ea typeface="Calibri" pitchFamily="34" charset="-122"/>
                <a:cs typeface="Calibri" pitchFamily="34" charset="-120"/>
              </a:rPr>
              <a:t>Sezione</a:t>
            </a:r>
            <a:r>
              <a:rPr lang="en-US" sz="1250" dirty="0">
                <a:solidFill>
                  <a:srgbClr val="161B26"/>
                </a:solidFill>
                <a:latin typeface="Calibri" pitchFamily="34" charset="0"/>
                <a:ea typeface="Calibri" pitchFamily="34" charset="-122"/>
                <a:cs typeface="Calibri" pitchFamily="34" charset="-120"/>
              </a:rPr>
              <a:t> 2.</a:t>
            </a:r>
            <a:endParaRPr lang="en-US" sz="1250" dirty="0"/>
          </a:p>
        </p:txBody>
      </p:sp>
      <p:sp>
        <p:nvSpPr>
          <p:cNvPr id="15" name="Shape 13"/>
          <p:cNvSpPr/>
          <p:nvPr/>
        </p:nvSpPr>
        <p:spPr>
          <a:xfrm>
            <a:off x="6126480" y="4343400"/>
            <a:ext cx="4572000" cy="1691640"/>
          </a:xfrm>
          <a:prstGeom prst="roundRect">
            <a:avLst>
              <a:gd name="adj" fmla="val 4324"/>
            </a:avLst>
          </a:prstGeom>
          <a:solidFill>
            <a:srgbClr val="CFFAF3"/>
          </a:solidFill>
          <a:ln/>
        </p:spPr>
        <p:txBody>
          <a:bodyPr/>
          <a:lstStyle/>
          <a:p>
            <a:endParaRPr lang="en-GB"/>
          </a:p>
        </p:txBody>
      </p:sp>
      <p:sp>
        <p:nvSpPr>
          <p:cNvPr id="16" name="Text 14"/>
          <p:cNvSpPr/>
          <p:nvPr/>
        </p:nvSpPr>
        <p:spPr>
          <a:xfrm>
            <a:off x="6355080" y="4507992"/>
            <a:ext cx="411480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case_stmt SENZA break IMPLICITO</a:t>
            </a:r>
            <a:endParaRPr lang="en-US" sz="1300" dirty="0"/>
          </a:p>
        </p:txBody>
      </p:sp>
      <p:sp>
        <p:nvSpPr>
          <p:cNvPr id="17" name="Text 15"/>
          <p:cNvSpPr/>
          <p:nvPr/>
        </p:nvSpPr>
        <p:spPr>
          <a:xfrm>
            <a:off x="6355080" y="4846320"/>
            <a:ext cx="4114800" cy="100584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Come in C, lo statement* di ogni “</a:t>
            </a:r>
            <a:r>
              <a:rPr lang="en-US" sz="1250" dirty="0" err="1">
                <a:solidFill>
                  <a:srgbClr val="161B26"/>
                </a:solidFill>
                <a:latin typeface="Calibri" pitchFamily="34" charset="0"/>
                <a:ea typeface="Calibri" pitchFamily="34" charset="-122"/>
                <a:cs typeface="Calibri" pitchFamily="34" charset="-120"/>
              </a:rPr>
              <a:t>cas</a:t>
            </a:r>
            <a:r>
              <a:rPr lang="en-US" sz="1250" dirty="0">
                <a:solidFill>
                  <a:srgbClr val="161B26"/>
                </a:solidFill>
                <a:latin typeface="Calibri" pitchFamily="34" charset="0"/>
                <a:ea typeface="Calibri" pitchFamily="34" charset="-122"/>
                <a:cs typeface="Calibri" pitchFamily="34" charset="-120"/>
              </a:rPr>
              <a:t>” non si interrompe automaticamente: il break (spacc) va scritto esplicitamente, altrimenti si ha fall-through al case successivo.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SINTASSI — ITERAZIONE</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Cicli: trament, ppe, faje...trament</a:t>
            </a:r>
            <a:endParaRPr lang="en-US" sz="2800" dirty="0"/>
          </a:p>
        </p:txBody>
      </p:sp>
      <p:sp>
        <p:nvSpPr>
          <p:cNvPr id="9" name="Shape 7"/>
          <p:cNvSpPr/>
          <p:nvPr/>
        </p:nvSpPr>
        <p:spPr>
          <a:xfrm>
            <a:off x="548640" y="1463040"/>
            <a:ext cx="6400800" cy="3108960"/>
          </a:xfrm>
          <a:prstGeom prst="roundRect">
            <a:avLst>
              <a:gd name="adj" fmla="val 2353"/>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94360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GRAMMATICA_CRO · righe 103–108</a:t>
            </a:r>
            <a:endParaRPr lang="en-US" sz="1000" dirty="0"/>
          </a:p>
        </p:txBody>
      </p:sp>
      <p:sp>
        <p:nvSpPr>
          <p:cNvPr id="11" name="Text 9"/>
          <p:cNvSpPr/>
          <p:nvPr/>
        </p:nvSpPr>
        <p:spPr>
          <a:xfrm>
            <a:off x="777240" y="1874520"/>
            <a:ext cx="5943600" cy="2514600"/>
          </a:xfrm>
          <a:prstGeom prst="rect">
            <a:avLst/>
          </a:prstGeom>
          <a:noFill/>
          <a:ln/>
        </p:spPr>
        <p:txBody>
          <a:bodyPr wrap="square" lIns="0" tIns="0" rIns="0" bIns="0" rtlCol="0" anchor="t"/>
          <a:lstStyle/>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while_stmt: "trament" "(" expr ")" statement</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for_stmt: "ppe" "(" for_init expr? ";"</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expr? ")" statement</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for_init: var_decl</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 expr ";" -&gt; for_init_expr</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 ";"      -&gt; for_init_empty</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do_while_stmt: "faje" statement</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"trament" "(" expr ")" ";"</a:t>
            </a:r>
            <a:endParaRPr lang="en-US" sz="1400" dirty="0"/>
          </a:p>
        </p:txBody>
      </p:sp>
      <p:sp>
        <p:nvSpPr>
          <p:cNvPr id="12" name="Text 10"/>
          <p:cNvSpPr/>
          <p:nvPr/>
        </p:nvSpPr>
        <p:spPr>
          <a:xfrm>
            <a:off x="7223760" y="1554480"/>
            <a:ext cx="4389120" cy="3017520"/>
          </a:xfrm>
          <a:prstGeom prst="rect">
            <a:avLst/>
          </a:prstGeom>
          <a:noFill/>
          <a:ln/>
        </p:spPr>
        <p:txBody>
          <a:bodyPr wrap="square" lIns="0" tIns="0" rIns="0" bIns="0" rtlCol="0" anchor="t"/>
          <a:lstStyle/>
          <a:p>
            <a:pPr marL="342900" indent="-342900">
              <a:spcAft>
                <a:spcPts val="1400"/>
              </a:spcAft>
              <a:buSzPct val="100000"/>
              <a:buChar char="•"/>
            </a:pPr>
            <a:r>
              <a:rPr lang="en-US" sz="1350" dirty="0" err="1">
                <a:solidFill>
                  <a:srgbClr val="161B26"/>
                </a:solidFill>
                <a:latin typeface="Calibri" pitchFamily="34" charset="0"/>
                <a:ea typeface="Calibri" pitchFamily="34" charset="-122"/>
                <a:cs typeface="Calibri" pitchFamily="34" charset="-120"/>
              </a:rPr>
              <a:t>for_init</a:t>
            </a:r>
            <a:r>
              <a:rPr lang="en-US" sz="1350" dirty="0">
                <a:solidFill>
                  <a:srgbClr val="161B26"/>
                </a:solidFill>
                <a:latin typeface="Calibri" pitchFamily="34" charset="0"/>
                <a:ea typeface="Calibri" pitchFamily="34" charset="-122"/>
                <a:cs typeface="Calibri" pitchFamily="34" charset="-120"/>
              </a:rPr>
              <a:t> come </a:t>
            </a:r>
            <a:r>
              <a:rPr lang="en-US" sz="1350" dirty="0" err="1">
                <a:solidFill>
                  <a:srgbClr val="161B26"/>
                </a:solidFill>
                <a:latin typeface="Calibri" pitchFamily="34" charset="0"/>
                <a:ea typeface="Calibri" pitchFamily="34" charset="-122"/>
                <a:cs typeface="Calibri" pitchFamily="34" charset="-120"/>
              </a:rPr>
              <a:t>l’if</a:t>
            </a:r>
            <a:r>
              <a:rPr lang="en-US" sz="1350" dirty="0">
                <a:solidFill>
                  <a:srgbClr val="161B26"/>
                </a:solidFill>
                <a:latin typeface="Calibri" pitchFamily="34" charset="0"/>
                <a:ea typeface="Calibri" pitchFamily="34" charset="-122"/>
                <a:cs typeface="Calibri" pitchFamily="34" charset="-120"/>
              </a:rPr>
              <a:t> else è </a:t>
            </a:r>
            <a:r>
              <a:rPr lang="en-US" sz="1350" dirty="0" err="1">
                <a:solidFill>
                  <a:srgbClr val="161B26"/>
                </a:solidFill>
                <a:latin typeface="Calibri" pitchFamily="34" charset="0"/>
                <a:ea typeface="Calibri" pitchFamily="34" charset="-122"/>
                <a:cs typeface="Calibri" pitchFamily="34" charset="-120"/>
              </a:rPr>
              <a:t>una</a:t>
            </a:r>
            <a:r>
              <a:rPr lang="en-US" sz="1350" dirty="0">
                <a:solidFill>
                  <a:srgbClr val="161B26"/>
                </a:solidFill>
                <a:latin typeface="Calibri" pitchFamily="34" charset="0"/>
                <a:ea typeface="Calibri" pitchFamily="34" charset="-122"/>
                <a:cs typeface="Calibri" pitchFamily="34" charset="-120"/>
              </a:rPr>
              <a:t> </a:t>
            </a:r>
            <a:r>
              <a:rPr lang="en-US" sz="1350" dirty="0" err="1">
                <a:solidFill>
                  <a:srgbClr val="161B26"/>
                </a:solidFill>
                <a:latin typeface="Calibri" pitchFamily="34" charset="0"/>
                <a:ea typeface="Calibri" pitchFamily="34" charset="-122"/>
                <a:cs typeface="Calibri" pitchFamily="34" charset="-120"/>
              </a:rPr>
              <a:t>regola</a:t>
            </a:r>
            <a:r>
              <a:rPr lang="en-US" sz="1350" dirty="0">
                <a:solidFill>
                  <a:srgbClr val="161B26"/>
                </a:solidFill>
                <a:latin typeface="Calibri" pitchFamily="34" charset="0"/>
                <a:ea typeface="Calibri" pitchFamily="34" charset="-122"/>
                <a:cs typeface="Calibri" pitchFamily="34" charset="-120"/>
              </a:rPr>
              <a:t> </a:t>
            </a:r>
            <a:r>
              <a:rPr lang="en-US" sz="1350" dirty="0" err="1">
                <a:solidFill>
                  <a:srgbClr val="161B26"/>
                </a:solidFill>
                <a:latin typeface="Calibri" pitchFamily="34" charset="0"/>
                <a:ea typeface="Calibri" pitchFamily="34" charset="-122"/>
                <a:cs typeface="Calibri" pitchFamily="34" charset="-120"/>
              </a:rPr>
              <a:t>apparte</a:t>
            </a:r>
            <a:r>
              <a:rPr lang="en-US" sz="1350" dirty="0">
                <a:solidFill>
                  <a:srgbClr val="161B26"/>
                </a:solidFill>
                <a:latin typeface="Calibri" pitchFamily="34" charset="0"/>
                <a:ea typeface="Calibri" pitchFamily="34" charset="-122"/>
                <a:cs typeface="Calibri" pitchFamily="34" charset="-120"/>
              </a:rPr>
              <a:t>, </a:t>
            </a:r>
            <a:r>
              <a:rPr lang="en-US" sz="1350" dirty="0" err="1">
                <a:solidFill>
                  <a:srgbClr val="161B26"/>
                </a:solidFill>
                <a:latin typeface="Calibri" pitchFamily="34" charset="0"/>
                <a:ea typeface="Calibri" pitchFamily="34" charset="-122"/>
                <a:cs typeface="Calibri" pitchFamily="34" charset="-120"/>
              </a:rPr>
              <a:t>gestisce</a:t>
            </a:r>
            <a:r>
              <a:rPr lang="en-US" sz="1350" dirty="0">
                <a:solidFill>
                  <a:srgbClr val="161B26"/>
                </a:solidFill>
                <a:latin typeface="Calibri" pitchFamily="34" charset="0"/>
                <a:ea typeface="Calibri" pitchFamily="34" charset="-122"/>
                <a:cs typeface="Calibri" pitchFamily="34" charset="-120"/>
              </a:rPr>
              <a:t> le tre forme dell'inizializzatore del ppe (for): dichiarazione, espressione, o </a:t>
            </a:r>
            <a:r>
              <a:rPr lang="en-US" sz="1350" dirty="0" err="1">
                <a:solidFill>
                  <a:srgbClr val="161B26"/>
                </a:solidFill>
                <a:latin typeface="Calibri" pitchFamily="34" charset="0"/>
                <a:ea typeface="Calibri" pitchFamily="34" charset="-122"/>
                <a:cs typeface="Calibri" pitchFamily="34" charset="-120"/>
              </a:rPr>
              <a:t>vuoto</a:t>
            </a:r>
            <a:endParaRPr lang="en-US" sz="1350" dirty="0">
              <a:solidFill>
                <a:srgbClr val="161B26"/>
              </a:solidFill>
              <a:latin typeface="Calibri" pitchFamily="34" charset="0"/>
              <a:ea typeface="Calibri" pitchFamily="34" charset="-122"/>
              <a:cs typeface="Calibri" pitchFamily="34" charset="-120"/>
            </a:endParaRPr>
          </a:p>
          <a:p>
            <a:pPr marL="342900" indent="-342900">
              <a:spcAft>
                <a:spcPts val="1400"/>
              </a:spcAft>
              <a:buSzPct val="100000"/>
              <a:buChar char="•"/>
            </a:pPr>
            <a:r>
              <a:rPr lang="en-GB" sz="1400" dirty="0" err="1"/>
              <a:t>for_stmt</a:t>
            </a:r>
            <a:r>
              <a:rPr lang="en-GB" sz="1400" dirty="0"/>
              <a:t>: </a:t>
            </a:r>
            <a:r>
              <a:rPr lang="en-GB" sz="1400" dirty="0" err="1"/>
              <a:t>supporta</a:t>
            </a:r>
            <a:r>
              <a:rPr lang="en-GB" sz="1400" dirty="0"/>
              <a:t> </a:t>
            </a:r>
            <a:r>
              <a:rPr lang="en-GB" sz="1400" dirty="0" err="1"/>
              <a:t>l’opzionalità</a:t>
            </a:r>
            <a:r>
              <a:rPr lang="en-GB" sz="1400" dirty="0"/>
              <a:t> delle </a:t>
            </a:r>
            <a:r>
              <a:rPr lang="en-GB" sz="1400" dirty="0" err="1"/>
              <a:t>condizioni</a:t>
            </a:r>
            <a:r>
              <a:rPr lang="en-GB" sz="1400" dirty="0"/>
              <a:t>, il </a:t>
            </a:r>
            <a:r>
              <a:rPr lang="en-GB" sz="1400" dirty="0" err="1"/>
              <a:t>caso</a:t>
            </a:r>
            <a:r>
              <a:rPr lang="en-GB" sz="1400" dirty="0"/>
              <a:t> base è: </a:t>
            </a:r>
            <a:r>
              <a:rPr lang="en-GB" sz="1400" dirty="0" err="1"/>
              <a:t>ppe</a:t>
            </a:r>
            <a:r>
              <a:rPr lang="en-GB" sz="1400" dirty="0"/>
              <a:t>( ; ; ; )</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Nel Transformer, il nodo ForNode ricostruisce condition/update come opzionali filtrando i Token vuoti residui (metodo for_stmt, Sezione 3)</a:t>
            </a:r>
            <a:endParaRPr lang="en-US" sz="1350" dirty="0"/>
          </a:p>
        </p:txBody>
      </p:sp>
      <p:sp>
        <p:nvSpPr>
          <p:cNvPr id="13" name="Shape 11"/>
          <p:cNvSpPr/>
          <p:nvPr/>
        </p:nvSpPr>
        <p:spPr>
          <a:xfrm>
            <a:off x="548640" y="4754880"/>
            <a:ext cx="11064240" cy="1143000"/>
          </a:xfrm>
          <a:prstGeom prst="roundRect">
            <a:avLst>
              <a:gd name="adj" fmla="val 6400"/>
            </a:avLst>
          </a:prstGeom>
          <a:solidFill>
            <a:srgbClr val="CFFAF3"/>
          </a:solidFill>
          <a:ln/>
        </p:spPr>
        <p:txBody>
          <a:bodyPr/>
          <a:lstStyle/>
          <a:p>
            <a:endParaRPr lang="en-GB"/>
          </a:p>
        </p:txBody>
      </p:sp>
      <p:sp>
        <p:nvSpPr>
          <p:cNvPr id="14" name="Text 12"/>
          <p:cNvSpPr/>
          <p:nvPr/>
        </p:nvSpPr>
        <p:spPr>
          <a:xfrm>
            <a:off x="777240" y="4919472"/>
            <a:ext cx="1060704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DEMO PRONTA: calcolatrice.cro usa trament per il ciclo di continuazione</a:t>
            </a:r>
            <a:endParaRPr lang="en-US" sz="1300" dirty="0"/>
          </a:p>
        </p:txBody>
      </p:sp>
      <p:sp>
        <p:nvSpPr>
          <p:cNvPr id="15" name="Text 13"/>
          <p:cNvSpPr/>
          <p:nvPr/>
        </p:nvSpPr>
        <p:spPr>
          <a:xfrm>
            <a:off x="777240" y="5257800"/>
            <a:ext cx="10607040" cy="45720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trament (continua == CONTINUA) { ... }  — vedi Sezione 6 di questa guida per il walkthrough completo.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SINTASSI — ESPRESSIONI</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Precedenza degli operatori a strati</a:t>
            </a:r>
            <a:endParaRPr lang="en-US" sz="2800" dirty="0"/>
          </a:p>
        </p:txBody>
      </p:sp>
      <p:sp>
        <p:nvSpPr>
          <p:cNvPr id="9" name="Shape 7"/>
          <p:cNvSpPr/>
          <p:nvPr/>
        </p:nvSpPr>
        <p:spPr>
          <a:xfrm>
            <a:off x="548640" y="1417320"/>
            <a:ext cx="4023360" cy="365760"/>
          </a:xfrm>
          <a:prstGeom prst="rect">
            <a:avLst/>
          </a:prstGeom>
          <a:solidFill>
            <a:srgbClr val="FDECC8"/>
          </a:solidFill>
          <a:ln/>
        </p:spPr>
        <p:txBody>
          <a:bodyPr/>
          <a:lstStyle/>
          <a:p>
            <a:endParaRPr lang="en-GB"/>
          </a:p>
        </p:txBody>
      </p:sp>
      <p:sp>
        <p:nvSpPr>
          <p:cNvPr id="10" name="Text 8"/>
          <p:cNvSpPr/>
          <p:nvPr/>
        </p:nvSpPr>
        <p:spPr>
          <a:xfrm>
            <a:off x="640080" y="1417320"/>
            <a:ext cx="3840480"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assign_expr</a:t>
            </a:r>
            <a:endParaRPr lang="en-US" sz="1100" dirty="0"/>
          </a:p>
        </p:txBody>
      </p:sp>
      <p:sp>
        <p:nvSpPr>
          <p:cNvPr id="11" name="Shape 9"/>
          <p:cNvSpPr/>
          <p:nvPr/>
        </p:nvSpPr>
        <p:spPr>
          <a:xfrm>
            <a:off x="630936" y="1837944"/>
            <a:ext cx="3858768" cy="365760"/>
          </a:xfrm>
          <a:prstGeom prst="rect">
            <a:avLst/>
          </a:prstGeom>
          <a:solidFill>
            <a:srgbClr val="CFFAF3"/>
          </a:solidFill>
          <a:ln/>
        </p:spPr>
        <p:txBody>
          <a:bodyPr/>
          <a:lstStyle/>
          <a:p>
            <a:endParaRPr lang="en-GB"/>
          </a:p>
        </p:txBody>
      </p:sp>
      <p:sp>
        <p:nvSpPr>
          <p:cNvPr id="12" name="Text 10"/>
          <p:cNvSpPr/>
          <p:nvPr/>
        </p:nvSpPr>
        <p:spPr>
          <a:xfrm>
            <a:off x="722376" y="1837944"/>
            <a:ext cx="3675888"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logical_or_expr</a:t>
            </a:r>
            <a:endParaRPr lang="en-US" sz="1100" dirty="0"/>
          </a:p>
        </p:txBody>
      </p:sp>
      <p:sp>
        <p:nvSpPr>
          <p:cNvPr id="13" name="Shape 11"/>
          <p:cNvSpPr/>
          <p:nvPr/>
        </p:nvSpPr>
        <p:spPr>
          <a:xfrm>
            <a:off x="713232" y="2258568"/>
            <a:ext cx="3694176" cy="365760"/>
          </a:xfrm>
          <a:prstGeom prst="rect">
            <a:avLst/>
          </a:prstGeom>
          <a:solidFill>
            <a:srgbClr val="CFFAF3"/>
          </a:solidFill>
          <a:ln/>
        </p:spPr>
        <p:txBody>
          <a:bodyPr/>
          <a:lstStyle/>
          <a:p>
            <a:endParaRPr lang="en-GB"/>
          </a:p>
        </p:txBody>
      </p:sp>
      <p:sp>
        <p:nvSpPr>
          <p:cNvPr id="14" name="Text 12"/>
          <p:cNvSpPr/>
          <p:nvPr/>
        </p:nvSpPr>
        <p:spPr>
          <a:xfrm>
            <a:off x="804672" y="2258568"/>
            <a:ext cx="3511296"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logical_and_expr</a:t>
            </a:r>
            <a:endParaRPr lang="en-US" sz="1100" dirty="0"/>
          </a:p>
        </p:txBody>
      </p:sp>
      <p:sp>
        <p:nvSpPr>
          <p:cNvPr id="15" name="Shape 13"/>
          <p:cNvSpPr/>
          <p:nvPr/>
        </p:nvSpPr>
        <p:spPr>
          <a:xfrm>
            <a:off x="795528" y="2679192"/>
            <a:ext cx="3529584" cy="365760"/>
          </a:xfrm>
          <a:prstGeom prst="rect">
            <a:avLst/>
          </a:prstGeom>
          <a:solidFill>
            <a:srgbClr val="CFFAF3"/>
          </a:solidFill>
          <a:ln/>
        </p:spPr>
        <p:txBody>
          <a:bodyPr/>
          <a:lstStyle/>
          <a:p>
            <a:endParaRPr lang="en-GB"/>
          </a:p>
        </p:txBody>
      </p:sp>
      <p:sp>
        <p:nvSpPr>
          <p:cNvPr id="16" name="Text 14"/>
          <p:cNvSpPr/>
          <p:nvPr/>
        </p:nvSpPr>
        <p:spPr>
          <a:xfrm>
            <a:off x="886968" y="2679192"/>
            <a:ext cx="3346704"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equality_expr</a:t>
            </a:r>
            <a:endParaRPr lang="en-US" sz="1100" dirty="0"/>
          </a:p>
        </p:txBody>
      </p:sp>
      <p:sp>
        <p:nvSpPr>
          <p:cNvPr id="17" name="Shape 15"/>
          <p:cNvSpPr/>
          <p:nvPr/>
        </p:nvSpPr>
        <p:spPr>
          <a:xfrm>
            <a:off x="877824" y="3099816"/>
            <a:ext cx="3364992" cy="365760"/>
          </a:xfrm>
          <a:prstGeom prst="rect">
            <a:avLst/>
          </a:prstGeom>
          <a:solidFill>
            <a:srgbClr val="CFFAF3"/>
          </a:solidFill>
          <a:ln/>
        </p:spPr>
        <p:txBody>
          <a:bodyPr/>
          <a:lstStyle/>
          <a:p>
            <a:endParaRPr lang="en-GB"/>
          </a:p>
        </p:txBody>
      </p:sp>
      <p:sp>
        <p:nvSpPr>
          <p:cNvPr id="18" name="Text 16"/>
          <p:cNvSpPr/>
          <p:nvPr/>
        </p:nvSpPr>
        <p:spPr>
          <a:xfrm>
            <a:off x="969264" y="3099816"/>
            <a:ext cx="3182112"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relational_expr</a:t>
            </a:r>
            <a:endParaRPr lang="en-US" sz="1100" dirty="0"/>
          </a:p>
        </p:txBody>
      </p:sp>
      <p:sp>
        <p:nvSpPr>
          <p:cNvPr id="19" name="Shape 17"/>
          <p:cNvSpPr/>
          <p:nvPr/>
        </p:nvSpPr>
        <p:spPr>
          <a:xfrm>
            <a:off x="960120" y="3520440"/>
            <a:ext cx="3200400" cy="365760"/>
          </a:xfrm>
          <a:prstGeom prst="rect">
            <a:avLst/>
          </a:prstGeom>
          <a:solidFill>
            <a:srgbClr val="CFFAF3"/>
          </a:solidFill>
          <a:ln/>
        </p:spPr>
        <p:txBody>
          <a:bodyPr/>
          <a:lstStyle/>
          <a:p>
            <a:endParaRPr lang="en-GB"/>
          </a:p>
        </p:txBody>
      </p:sp>
      <p:sp>
        <p:nvSpPr>
          <p:cNvPr id="20" name="Text 18"/>
          <p:cNvSpPr/>
          <p:nvPr/>
        </p:nvSpPr>
        <p:spPr>
          <a:xfrm>
            <a:off x="1051560" y="3520440"/>
            <a:ext cx="3017520"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add_expr</a:t>
            </a:r>
            <a:endParaRPr lang="en-US" sz="1100" dirty="0"/>
          </a:p>
        </p:txBody>
      </p:sp>
      <p:sp>
        <p:nvSpPr>
          <p:cNvPr id="21" name="Shape 19"/>
          <p:cNvSpPr/>
          <p:nvPr/>
        </p:nvSpPr>
        <p:spPr>
          <a:xfrm>
            <a:off x="1042416" y="3941064"/>
            <a:ext cx="3035808" cy="365760"/>
          </a:xfrm>
          <a:prstGeom prst="rect">
            <a:avLst/>
          </a:prstGeom>
          <a:solidFill>
            <a:srgbClr val="CFFAF3"/>
          </a:solidFill>
          <a:ln/>
        </p:spPr>
        <p:txBody>
          <a:bodyPr/>
          <a:lstStyle/>
          <a:p>
            <a:endParaRPr lang="en-GB"/>
          </a:p>
        </p:txBody>
      </p:sp>
      <p:sp>
        <p:nvSpPr>
          <p:cNvPr id="22" name="Text 20"/>
          <p:cNvSpPr/>
          <p:nvPr/>
        </p:nvSpPr>
        <p:spPr>
          <a:xfrm>
            <a:off x="1133856" y="3941064"/>
            <a:ext cx="2852928"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mul_expr</a:t>
            </a:r>
            <a:endParaRPr lang="en-US" sz="1100" dirty="0"/>
          </a:p>
        </p:txBody>
      </p:sp>
      <p:sp>
        <p:nvSpPr>
          <p:cNvPr id="23" name="Shape 21"/>
          <p:cNvSpPr/>
          <p:nvPr/>
        </p:nvSpPr>
        <p:spPr>
          <a:xfrm>
            <a:off x="1124712" y="4361688"/>
            <a:ext cx="2871216" cy="365760"/>
          </a:xfrm>
          <a:prstGeom prst="rect">
            <a:avLst/>
          </a:prstGeom>
          <a:solidFill>
            <a:srgbClr val="CFFAF3"/>
          </a:solidFill>
          <a:ln/>
        </p:spPr>
        <p:txBody>
          <a:bodyPr/>
          <a:lstStyle/>
          <a:p>
            <a:endParaRPr lang="en-GB"/>
          </a:p>
        </p:txBody>
      </p:sp>
      <p:sp>
        <p:nvSpPr>
          <p:cNvPr id="24" name="Text 22"/>
          <p:cNvSpPr/>
          <p:nvPr/>
        </p:nvSpPr>
        <p:spPr>
          <a:xfrm>
            <a:off x="1216152" y="4361688"/>
            <a:ext cx="2688336"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unary_expr</a:t>
            </a:r>
            <a:endParaRPr lang="en-US" sz="1100" dirty="0"/>
          </a:p>
        </p:txBody>
      </p:sp>
      <p:sp>
        <p:nvSpPr>
          <p:cNvPr id="25" name="Shape 23"/>
          <p:cNvSpPr/>
          <p:nvPr/>
        </p:nvSpPr>
        <p:spPr>
          <a:xfrm>
            <a:off x="1207008" y="4782312"/>
            <a:ext cx="2706624" cy="365760"/>
          </a:xfrm>
          <a:prstGeom prst="rect">
            <a:avLst/>
          </a:prstGeom>
          <a:solidFill>
            <a:srgbClr val="CFFAF3"/>
          </a:solidFill>
          <a:ln/>
        </p:spPr>
        <p:txBody>
          <a:bodyPr/>
          <a:lstStyle/>
          <a:p>
            <a:endParaRPr lang="en-GB"/>
          </a:p>
        </p:txBody>
      </p:sp>
      <p:sp>
        <p:nvSpPr>
          <p:cNvPr id="26" name="Text 24"/>
          <p:cNvSpPr/>
          <p:nvPr/>
        </p:nvSpPr>
        <p:spPr>
          <a:xfrm>
            <a:off x="1298448" y="4782312"/>
            <a:ext cx="2523744" cy="365760"/>
          </a:xfrm>
          <a:prstGeom prst="rect">
            <a:avLst/>
          </a:prstGeom>
          <a:noFill/>
          <a:ln/>
        </p:spPr>
        <p:txBody>
          <a:bodyPr wrap="square" lIns="0" tIns="0" rIns="0" bIns="0" rtlCol="0" anchor="ctr"/>
          <a:lstStyle/>
          <a:p>
            <a:pPr marL="0" indent="0">
              <a:buNone/>
            </a:pPr>
            <a:r>
              <a:rPr lang="en-US" sz="1100" b="1" dirty="0">
                <a:solidFill>
                  <a:srgbClr val="161B26"/>
                </a:solidFill>
                <a:latin typeface="Courier New" pitchFamily="34" charset="0"/>
                <a:ea typeface="Courier New" pitchFamily="34" charset="-122"/>
                <a:cs typeface="Courier New" pitchFamily="34" charset="-120"/>
              </a:rPr>
              <a:t>primary_expr</a:t>
            </a:r>
            <a:endParaRPr lang="en-US" sz="1100" dirty="0"/>
          </a:p>
        </p:txBody>
      </p:sp>
      <p:sp>
        <p:nvSpPr>
          <p:cNvPr id="27" name="Text 25"/>
          <p:cNvSpPr/>
          <p:nvPr/>
        </p:nvSpPr>
        <p:spPr>
          <a:xfrm>
            <a:off x="4754880" y="1417320"/>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a:t>
            </a:r>
            <a:endParaRPr lang="en-US" sz="1200" dirty="0"/>
          </a:p>
        </p:txBody>
      </p:sp>
      <p:sp>
        <p:nvSpPr>
          <p:cNvPr id="28" name="Text 26"/>
          <p:cNvSpPr/>
          <p:nvPr/>
        </p:nvSpPr>
        <p:spPr>
          <a:xfrm>
            <a:off x="6675120" y="1417320"/>
            <a:ext cx="1828800" cy="365760"/>
          </a:xfrm>
          <a:prstGeom prst="rect">
            <a:avLst/>
          </a:prstGeom>
          <a:noFill/>
          <a:ln/>
        </p:spPr>
        <p:txBody>
          <a:bodyPr wrap="square" lIns="0" tIns="0" rIns="0" bIns="0"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destra-assoc.</a:t>
            </a:r>
            <a:endParaRPr lang="en-US" sz="1000" dirty="0"/>
          </a:p>
        </p:txBody>
      </p:sp>
      <p:sp>
        <p:nvSpPr>
          <p:cNvPr id="29" name="Text 27"/>
          <p:cNvSpPr/>
          <p:nvPr/>
        </p:nvSpPr>
        <p:spPr>
          <a:xfrm>
            <a:off x="4754880" y="1837944"/>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o (||)</a:t>
            </a:r>
            <a:endParaRPr lang="en-US" sz="1200" dirty="0"/>
          </a:p>
        </p:txBody>
      </p:sp>
      <p:sp>
        <p:nvSpPr>
          <p:cNvPr id="30" name="Text 28"/>
          <p:cNvSpPr/>
          <p:nvPr/>
        </p:nvSpPr>
        <p:spPr>
          <a:xfrm>
            <a:off x="6675120" y="1837944"/>
            <a:ext cx="1828800" cy="365760"/>
          </a:xfrm>
          <a:prstGeom prst="rect">
            <a:avLst/>
          </a:prstGeom>
          <a:noFill/>
          <a:ln/>
        </p:spPr>
        <p:txBody>
          <a:bodyPr wrap="square" lIns="0" tIns="0" rIns="0" bIns="0" rtlCol="0" anchor="ctr"/>
          <a:lstStyle/>
          <a:p>
            <a:pPr marL="0" indent="0">
              <a:buNone/>
            </a:pPr>
            <a:endParaRPr lang="en-US" sz="1000" dirty="0"/>
          </a:p>
        </p:txBody>
      </p:sp>
      <p:sp>
        <p:nvSpPr>
          <p:cNvPr id="31" name="Text 29"/>
          <p:cNvSpPr/>
          <p:nvPr/>
        </p:nvSpPr>
        <p:spPr>
          <a:xfrm>
            <a:off x="4754880" y="2258568"/>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e (&amp;&amp;)</a:t>
            </a:r>
            <a:endParaRPr lang="en-US" sz="1200" dirty="0"/>
          </a:p>
        </p:txBody>
      </p:sp>
      <p:sp>
        <p:nvSpPr>
          <p:cNvPr id="32" name="Text 30"/>
          <p:cNvSpPr/>
          <p:nvPr/>
        </p:nvSpPr>
        <p:spPr>
          <a:xfrm>
            <a:off x="6675120" y="2258568"/>
            <a:ext cx="1828800" cy="365760"/>
          </a:xfrm>
          <a:prstGeom prst="rect">
            <a:avLst/>
          </a:prstGeom>
          <a:noFill/>
          <a:ln/>
        </p:spPr>
        <p:txBody>
          <a:bodyPr wrap="square" lIns="0" tIns="0" rIns="0" bIns="0" rtlCol="0" anchor="ctr"/>
          <a:lstStyle/>
          <a:p>
            <a:pPr marL="0" indent="0">
              <a:buNone/>
            </a:pPr>
            <a:endParaRPr lang="en-US" sz="1000" dirty="0"/>
          </a:p>
        </p:txBody>
      </p:sp>
      <p:sp>
        <p:nvSpPr>
          <p:cNvPr id="33" name="Text 31"/>
          <p:cNvSpPr/>
          <p:nvPr/>
        </p:nvSpPr>
        <p:spPr>
          <a:xfrm>
            <a:off x="4754880" y="2679192"/>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 !=</a:t>
            </a:r>
            <a:endParaRPr lang="en-US" sz="1200" dirty="0"/>
          </a:p>
        </p:txBody>
      </p:sp>
      <p:sp>
        <p:nvSpPr>
          <p:cNvPr id="34" name="Text 32"/>
          <p:cNvSpPr/>
          <p:nvPr/>
        </p:nvSpPr>
        <p:spPr>
          <a:xfrm>
            <a:off x="6675120" y="2679192"/>
            <a:ext cx="1828800" cy="365760"/>
          </a:xfrm>
          <a:prstGeom prst="rect">
            <a:avLst/>
          </a:prstGeom>
          <a:noFill/>
          <a:ln/>
        </p:spPr>
        <p:txBody>
          <a:bodyPr wrap="square" lIns="0" tIns="0" rIns="0" bIns="0" rtlCol="0" anchor="ctr"/>
          <a:lstStyle/>
          <a:p>
            <a:pPr marL="0" indent="0">
              <a:buNone/>
            </a:pPr>
            <a:endParaRPr lang="en-US" sz="1000" dirty="0"/>
          </a:p>
        </p:txBody>
      </p:sp>
      <p:sp>
        <p:nvSpPr>
          <p:cNvPr id="35" name="Text 33"/>
          <p:cNvSpPr/>
          <p:nvPr/>
        </p:nvSpPr>
        <p:spPr>
          <a:xfrm>
            <a:off x="4754880" y="3099816"/>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&lt; &lt;= &gt; &gt;=</a:t>
            </a:r>
            <a:endParaRPr lang="en-US" sz="1200" dirty="0"/>
          </a:p>
        </p:txBody>
      </p:sp>
      <p:sp>
        <p:nvSpPr>
          <p:cNvPr id="36" name="Text 34"/>
          <p:cNvSpPr/>
          <p:nvPr/>
        </p:nvSpPr>
        <p:spPr>
          <a:xfrm>
            <a:off x="6675120" y="3099816"/>
            <a:ext cx="1828800" cy="365760"/>
          </a:xfrm>
          <a:prstGeom prst="rect">
            <a:avLst/>
          </a:prstGeom>
          <a:noFill/>
          <a:ln/>
        </p:spPr>
        <p:txBody>
          <a:bodyPr wrap="square" lIns="0" tIns="0" rIns="0" bIns="0" rtlCol="0" anchor="ctr"/>
          <a:lstStyle/>
          <a:p>
            <a:pPr marL="0" indent="0">
              <a:buNone/>
            </a:pPr>
            <a:endParaRPr lang="en-US" sz="1000" dirty="0"/>
          </a:p>
        </p:txBody>
      </p:sp>
      <p:sp>
        <p:nvSpPr>
          <p:cNvPr id="37" name="Text 35"/>
          <p:cNvSpPr/>
          <p:nvPr/>
        </p:nvSpPr>
        <p:spPr>
          <a:xfrm>
            <a:off x="4754880" y="3520440"/>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 -</a:t>
            </a:r>
            <a:endParaRPr lang="en-US" sz="1200" dirty="0"/>
          </a:p>
        </p:txBody>
      </p:sp>
      <p:sp>
        <p:nvSpPr>
          <p:cNvPr id="38" name="Text 36"/>
          <p:cNvSpPr/>
          <p:nvPr/>
        </p:nvSpPr>
        <p:spPr>
          <a:xfrm>
            <a:off x="6675120" y="3520440"/>
            <a:ext cx="1828800" cy="365760"/>
          </a:xfrm>
          <a:prstGeom prst="rect">
            <a:avLst/>
          </a:prstGeom>
          <a:noFill/>
          <a:ln/>
        </p:spPr>
        <p:txBody>
          <a:bodyPr wrap="square" lIns="0" tIns="0" rIns="0" bIns="0" rtlCol="0" anchor="ctr"/>
          <a:lstStyle/>
          <a:p>
            <a:pPr marL="0" indent="0">
              <a:buNone/>
            </a:pPr>
            <a:endParaRPr lang="en-US" sz="1000" dirty="0"/>
          </a:p>
        </p:txBody>
      </p:sp>
      <p:sp>
        <p:nvSpPr>
          <p:cNvPr id="39" name="Text 37"/>
          <p:cNvSpPr/>
          <p:nvPr/>
        </p:nvSpPr>
        <p:spPr>
          <a:xfrm>
            <a:off x="4754880" y="3941064"/>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 / %</a:t>
            </a:r>
            <a:endParaRPr lang="en-US" sz="1200" dirty="0"/>
          </a:p>
        </p:txBody>
      </p:sp>
      <p:sp>
        <p:nvSpPr>
          <p:cNvPr id="40" name="Text 38"/>
          <p:cNvSpPr/>
          <p:nvPr/>
        </p:nvSpPr>
        <p:spPr>
          <a:xfrm>
            <a:off x="6675120" y="3941064"/>
            <a:ext cx="1828800" cy="365760"/>
          </a:xfrm>
          <a:prstGeom prst="rect">
            <a:avLst/>
          </a:prstGeom>
          <a:noFill/>
          <a:ln/>
        </p:spPr>
        <p:txBody>
          <a:bodyPr wrap="square" lIns="0" tIns="0" rIns="0" bIns="0" rtlCol="0" anchor="ctr"/>
          <a:lstStyle/>
          <a:p>
            <a:pPr marL="0" indent="0">
              <a:buNone/>
            </a:pPr>
            <a:endParaRPr lang="en-US" sz="1000" dirty="0"/>
          </a:p>
        </p:txBody>
      </p:sp>
      <p:sp>
        <p:nvSpPr>
          <p:cNvPr id="41" name="Text 39"/>
          <p:cNvSpPr/>
          <p:nvPr/>
        </p:nvSpPr>
        <p:spPr>
          <a:xfrm>
            <a:off x="4754880" y="4361688"/>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non - &amp;</a:t>
            </a:r>
            <a:endParaRPr lang="en-US" sz="1200" dirty="0"/>
          </a:p>
        </p:txBody>
      </p:sp>
      <p:sp>
        <p:nvSpPr>
          <p:cNvPr id="42" name="Text 40"/>
          <p:cNvSpPr/>
          <p:nvPr/>
        </p:nvSpPr>
        <p:spPr>
          <a:xfrm>
            <a:off x="6675120" y="4361688"/>
            <a:ext cx="1828800" cy="365760"/>
          </a:xfrm>
          <a:prstGeom prst="rect">
            <a:avLst/>
          </a:prstGeom>
          <a:noFill/>
          <a:ln/>
        </p:spPr>
        <p:txBody>
          <a:bodyPr wrap="square" lIns="0" tIns="0" rIns="0" bIns="0"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prefissi</a:t>
            </a:r>
            <a:endParaRPr lang="en-US" sz="1000" dirty="0"/>
          </a:p>
        </p:txBody>
      </p:sp>
      <p:sp>
        <p:nvSpPr>
          <p:cNvPr id="43" name="Text 41"/>
          <p:cNvSpPr/>
          <p:nvPr/>
        </p:nvSpPr>
        <p:spPr>
          <a:xfrm>
            <a:off x="4754880" y="4782312"/>
            <a:ext cx="1828800" cy="365760"/>
          </a:xfrm>
          <a:prstGeom prst="rect">
            <a:avLst/>
          </a:prstGeom>
          <a:noFill/>
          <a:ln/>
        </p:spPr>
        <p:txBody>
          <a:bodyPr wrap="square" lIns="0" tIns="0" rIns="0" bIns="0" rtlCol="0" anchor="ctr"/>
          <a:lstStyle/>
          <a:p>
            <a:pPr marL="0" indent="0">
              <a:buNone/>
            </a:pPr>
            <a:r>
              <a:rPr lang="en-US" sz="1200" dirty="0">
                <a:solidFill>
                  <a:srgbClr val="161B26"/>
                </a:solidFill>
                <a:latin typeface="Courier New" pitchFamily="34" charset="0"/>
                <a:ea typeface="Courier New" pitchFamily="34" charset="-122"/>
                <a:cs typeface="Courier New" pitchFamily="34" charset="-120"/>
              </a:rPr>
              <a:t>literal, ID, ( )</a:t>
            </a:r>
            <a:endParaRPr lang="en-US" sz="1200" dirty="0"/>
          </a:p>
        </p:txBody>
      </p:sp>
      <p:sp>
        <p:nvSpPr>
          <p:cNvPr id="44" name="Text 42"/>
          <p:cNvSpPr/>
          <p:nvPr/>
        </p:nvSpPr>
        <p:spPr>
          <a:xfrm>
            <a:off x="6675120" y="4782312"/>
            <a:ext cx="1828800" cy="365760"/>
          </a:xfrm>
          <a:prstGeom prst="rect">
            <a:avLst/>
          </a:prstGeom>
          <a:noFill/>
          <a:ln/>
        </p:spPr>
        <p:txBody>
          <a:bodyPr wrap="square" lIns="0" tIns="0" rIns="0" bIns="0"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max precedenza</a:t>
            </a:r>
            <a:endParaRPr lang="en-US" sz="1000" dirty="0"/>
          </a:p>
        </p:txBody>
      </p:sp>
      <p:sp>
        <p:nvSpPr>
          <p:cNvPr id="45" name="Shape 43"/>
          <p:cNvSpPr/>
          <p:nvPr/>
        </p:nvSpPr>
        <p:spPr>
          <a:xfrm>
            <a:off x="8686800" y="1463040"/>
            <a:ext cx="2926080" cy="3319272"/>
          </a:xfrm>
          <a:prstGeom prst="roundRect">
            <a:avLst>
              <a:gd name="adj" fmla="val 2500"/>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46" name="Text 44"/>
          <p:cNvSpPr/>
          <p:nvPr/>
        </p:nvSpPr>
        <p:spPr>
          <a:xfrm>
            <a:off x="8915400" y="1572768"/>
            <a:ext cx="246888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125–135</a:t>
            </a:r>
            <a:endParaRPr lang="en-US" sz="1000" dirty="0"/>
          </a:p>
        </p:txBody>
      </p:sp>
      <p:sp>
        <p:nvSpPr>
          <p:cNvPr id="47" name="Text 45"/>
          <p:cNvSpPr/>
          <p:nvPr/>
        </p:nvSpPr>
        <p:spPr>
          <a:xfrm>
            <a:off x="8915400" y="1874520"/>
            <a:ext cx="2468880" cy="3703320"/>
          </a:xfrm>
          <a:prstGeom prst="rect">
            <a:avLst/>
          </a:prstGeom>
          <a:noFill/>
          <a:ln/>
        </p:spPr>
        <p:txBody>
          <a:bodyPr wrap="square" lIns="0" tIns="0" rIns="0" bIns="0" rtlCol="0" anchor="t"/>
          <a:lstStyle/>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assign_expr: logical_or_expr "="</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assign_expr -&gt; assign_expr</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 logical_or_expr</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-&gt; passthrough</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logical_or_expr: logical_and_expr</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("o" logical_and_expr)* -&gt; or_expr</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mul_expr: unary_expr</a:t>
            </a:r>
            <a:endParaRPr lang="en-US" sz="1050" dirty="0"/>
          </a:p>
          <a:p>
            <a:pPr marL="0" indent="0">
              <a:lnSpc>
                <a:spcPct val="112000"/>
              </a:lnSpc>
              <a:buNone/>
            </a:pPr>
            <a:r>
              <a:rPr lang="en-US" sz="1050" dirty="0">
                <a:solidFill>
                  <a:srgbClr val="D7FCEF"/>
                </a:solidFill>
                <a:latin typeface="Courier New" pitchFamily="34" charset="0"/>
                <a:ea typeface="Courier New" pitchFamily="34" charset="-122"/>
                <a:cs typeface="Courier New" pitchFamily="34" charset="-120"/>
              </a:rPr>
              <a:t>    (MULOP unary_expr)* -&gt; mul_expr</a:t>
            </a:r>
            <a:endParaRPr lang="en-US" sz="1050" dirty="0"/>
          </a:p>
        </p:txBody>
      </p:sp>
      <p:sp>
        <p:nvSpPr>
          <p:cNvPr id="49" name="Shape 11">
            <a:extLst>
              <a:ext uri="{FF2B5EF4-FFF2-40B4-BE49-F238E27FC236}">
                <a16:creationId xmlns:a16="http://schemas.microsoft.com/office/drawing/2014/main" id="{FF0B2AE7-4123-A4C1-5970-AE7612131F8F}"/>
              </a:ext>
            </a:extLst>
          </p:cNvPr>
          <p:cNvSpPr/>
          <p:nvPr/>
        </p:nvSpPr>
        <p:spPr>
          <a:xfrm>
            <a:off x="7086600" y="5257800"/>
            <a:ext cx="4754880" cy="1271016"/>
          </a:xfrm>
          <a:prstGeom prst="roundRect">
            <a:avLst>
              <a:gd name="adj" fmla="val 6154"/>
            </a:avLst>
          </a:prstGeom>
          <a:solidFill>
            <a:srgbClr val="FDECC8"/>
          </a:solidFill>
          <a:ln/>
        </p:spPr>
        <p:txBody>
          <a:bodyPr/>
          <a:lstStyle/>
          <a:p>
            <a:endParaRPr lang="en-GB"/>
          </a:p>
        </p:txBody>
      </p:sp>
      <p:sp>
        <p:nvSpPr>
          <p:cNvPr id="50" name="Text 12">
            <a:extLst>
              <a:ext uri="{FF2B5EF4-FFF2-40B4-BE49-F238E27FC236}">
                <a16:creationId xmlns:a16="http://schemas.microsoft.com/office/drawing/2014/main" id="{70CB1CEF-20F6-3E7B-618F-01FC88839634}"/>
              </a:ext>
            </a:extLst>
          </p:cNvPr>
          <p:cNvSpPr/>
          <p:nvPr/>
        </p:nvSpPr>
        <p:spPr>
          <a:xfrm>
            <a:off x="7315200" y="5422392"/>
            <a:ext cx="4297680" cy="320040"/>
          </a:xfrm>
          <a:prstGeom prst="rect">
            <a:avLst/>
          </a:prstGeom>
          <a:noFill/>
          <a:ln/>
        </p:spPr>
        <p:txBody>
          <a:bodyPr wrap="square" lIns="0" tIns="0" rIns="0" bIns="0" rtlCol="0" anchor="ctr"/>
          <a:lstStyle/>
          <a:p>
            <a:pPr marL="0" indent="0">
              <a:buNone/>
            </a:pPr>
            <a:r>
              <a:rPr lang="en-US" sz="1300" b="1" dirty="0" err="1">
                <a:solidFill>
                  <a:srgbClr val="D97706"/>
                </a:solidFill>
                <a:latin typeface="Calibri" pitchFamily="34" charset="0"/>
                <a:ea typeface="Calibri" pitchFamily="34" charset="-122"/>
                <a:cs typeface="Calibri" pitchFamily="34" charset="-120"/>
              </a:rPr>
              <a:t>assign_expr</a:t>
            </a:r>
            <a:endParaRPr lang="en-US" sz="1300" dirty="0"/>
          </a:p>
        </p:txBody>
      </p:sp>
      <p:sp>
        <p:nvSpPr>
          <p:cNvPr id="51" name="Text 13">
            <a:extLst>
              <a:ext uri="{FF2B5EF4-FFF2-40B4-BE49-F238E27FC236}">
                <a16:creationId xmlns:a16="http://schemas.microsoft.com/office/drawing/2014/main" id="{091B57DF-42C5-2D91-E3C8-5C570488134F}"/>
              </a:ext>
            </a:extLst>
          </p:cNvPr>
          <p:cNvSpPr/>
          <p:nvPr/>
        </p:nvSpPr>
        <p:spPr>
          <a:xfrm>
            <a:off x="7315200" y="5760720"/>
            <a:ext cx="4297680" cy="502920"/>
          </a:xfrm>
          <a:prstGeom prst="rect">
            <a:avLst/>
          </a:prstGeom>
          <a:noFill/>
          <a:ln/>
        </p:spPr>
        <p:txBody>
          <a:bodyPr wrap="square" lIns="0" tIns="0" rIns="0" bIns="0" rtlCol="0" anchor="t"/>
          <a:lstStyle/>
          <a:p>
            <a:pPr marL="0" indent="0">
              <a:lnSpc>
                <a:spcPct val="115000"/>
              </a:lnSpc>
              <a:buNone/>
            </a:pPr>
            <a:r>
              <a:rPr lang="en-US" sz="1250" dirty="0" err="1">
                <a:solidFill>
                  <a:srgbClr val="161B26"/>
                </a:solidFill>
                <a:latin typeface="Calibri" pitchFamily="34" charset="0"/>
                <a:ea typeface="Calibri" pitchFamily="34" charset="-122"/>
                <a:cs typeface="Calibri" pitchFamily="34" charset="-120"/>
              </a:rPr>
              <a:t>Richiama</a:t>
            </a:r>
            <a:r>
              <a:rPr lang="en-US" sz="1250" dirty="0">
                <a:solidFill>
                  <a:srgbClr val="161B26"/>
                </a:solidFill>
                <a:latin typeface="Calibri" pitchFamily="34" charset="0"/>
                <a:ea typeface="Calibri" pitchFamily="34" charset="-122"/>
                <a:cs typeface="Calibri" pitchFamily="34" charset="-120"/>
              </a:rPr>
              <a:t> se </a:t>
            </a:r>
            <a:r>
              <a:rPr lang="en-US" sz="1250" dirty="0" err="1">
                <a:solidFill>
                  <a:srgbClr val="161B26"/>
                </a:solidFill>
                <a:latin typeface="Calibri" pitchFamily="34" charset="0"/>
                <a:ea typeface="Calibri" pitchFamily="34" charset="-122"/>
                <a:cs typeface="Calibri" pitchFamily="34" charset="-120"/>
              </a:rPr>
              <a:t>stessa</a:t>
            </a:r>
            <a:r>
              <a:rPr lang="en-US" sz="1250" dirty="0">
                <a:solidFill>
                  <a:srgbClr val="161B26"/>
                </a:solidFill>
                <a:latin typeface="Calibri" pitchFamily="34" charset="0"/>
                <a:ea typeface="Calibri" pitchFamily="34" charset="-122"/>
                <a:cs typeface="Calibri" pitchFamily="34" charset="-120"/>
              </a:rPr>
              <a:t> per </a:t>
            </a:r>
            <a:r>
              <a:rPr lang="en-US" sz="1250" dirty="0" err="1">
                <a:solidFill>
                  <a:srgbClr val="161B26"/>
                </a:solidFill>
                <a:latin typeface="Calibri" pitchFamily="34" charset="0"/>
                <a:ea typeface="Calibri" pitchFamily="34" charset="-122"/>
                <a:cs typeface="Calibri" pitchFamily="34" charset="-120"/>
              </a:rPr>
              <a:t>forzare</a:t>
            </a:r>
            <a:r>
              <a:rPr lang="en-US" sz="1250" dirty="0">
                <a:solidFill>
                  <a:srgbClr val="161B26"/>
                </a:solidFill>
                <a:latin typeface="Calibri" pitchFamily="34" charset="0"/>
                <a:ea typeface="Calibri" pitchFamily="34" charset="-122"/>
                <a:cs typeface="Calibri" pitchFamily="34" charset="-120"/>
              </a:rPr>
              <a:t> la </a:t>
            </a:r>
            <a:r>
              <a:rPr lang="en-US" sz="1250" dirty="0" err="1">
                <a:solidFill>
                  <a:srgbClr val="161B26"/>
                </a:solidFill>
                <a:latin typeface="Calibri" pitchFamily="34" charset="0"/>
                <a:ea typeface="Calibri" pitchFamily="34" charset="-122"/>
                <a:cs typeface="Calibri" pitchFamily="34" charset="-120"/>
              </a:rPr>
              <a:t>lettura</a:t>
            </a:r>
            <a:r>
              <a:rPr lang="en-US" sz="1250" dirty="0">
                <a:solidFill>
                  <a:srgbClr val="161B26"/>
                </a:solidFill>
                <a:latin typeface="Calibri" pitchFamily="34" charset="0"/>
                <a:ea typeface="Calibri" pitchFamily="34" charset="-122"/>
                <a:cs typeface="Calibri" pitchFamily="34" charset="-120"/>
              </a:rPr>
              <a:t> da </a:t>
            </a:r>
            <a:r>
              <a:rPr lang="en-US" sz="1250" dirty="0" err="1">
                <a:solidFill>
                  <a:srgbClr val="161B26"/>
                </a:solidFill>
                <a:latin typeface="Calibri" pitchFamily="34" charset="0"/>
                <a:ea typeface="Calibri" pitchFamily="34" charset="-122"/>
                <a:cs typeface="Calibri" pitchFamily="34" charset="-120"/>
              </a:rPr>
              <a:t>destra</a:t>
            </a:r>
            <a:r>
              <a:rPr lang="en-US" sz="1250" dirty="0">
                <a:solidFill>
                  <a:srgbClr val="161B26"/>
                </a:solidFill>
                <a:latin typeface="Calibri" pitchFamily="34" charset="0"/>
                <a:ea typeface="Calibri" pitchFamily="34" charset="-122"/>
                <a:cs typeface="Calibri" pitchFamily="34" charset="-120"/>
              </a:rPr>
              <a:t> verso sinistra. Se </a:t>
            </a:r>
            <a:r>
              <a:rPr lang="en-US" sz="1250" dirty="0" err="1">
                <a:solidFill>
                  <a:srgbClr val="161B26"/>
                </a:solidFill>
                <a:latin typeface="Calibri" pitchFamily="34" charset="0"/>
                <a:ea typeface="Calibri" pitchFamily="34" charset="-122"/>
                <a:cs typeface="Calibri" pitchFamily="34" charset="-120"/>
              </a:rPr>
              <a:t>invece</a:t>
            </a:r>
            <a:r>
              <a:rPr lang="en-US" sz="1250" dirty="0">
                <a:solidFill>
                  <a:srgbClr val="161B26"/>
                </a:solidFill>
                <a:latin typeface="Calibri" pitchFamily="34" charset="0"/>
                <a:ea typeface="Calibri" pitchFamily="34" charset="-122"/>
                <a:cs typeface="Calibri" pitchFamily="34" charset="-120"/>
              </a:rPr>
              <a:t> non </a:t>
            </a:r>
            <a:r>
              <a:rPr lang="en-US" sz="1250" dirty="0" err="1">
                <a:solidFill>
                  <a:srgbClr val="161B26"/>
                </a:solidFill>
                <a:latin typeface="Calibri" pitchFamily="34" charset="0"/>
                <a:ea typeface="Calibri" pitchFamily="34" charset="-122"/>
                <a:cs typeface="Calibri" pitchFamily="34" charset="-120"/>
              </a:rPr>
              <a:t>c’è</a:t>
            </a:r>
            <a:r>
              <a:rPr lang="en-US" sz="1250" dirty="0">
                <a:solidFill>
                  <a:srgbClr val="161B26"/>
                </a:solidFill>
                <a:latin typeface="Calibri" pitchFamily="34" charset="0"/>
                <a:ea typeface="Calibri" pitchFamily="34" charset="-122"/>
                <a:cs typeface="Calibri" pitchFamily="34" charset="-120"/>
              </a:rPr>
              <a:t> </a:t>
            </a:r>
            <a:r>
              <a:rPr lang="en-US" sz="1250" dirty="0" err="1">
                <a:solidFill>
                  <a:srgbClr val="161B26"/>
                </a:solidFill>
                <a:latin typeface="Calibri" pitchFamily="34" charset="0"/>
                <a:ea typeface="Calibri" pitchFamily="34" charset="-122"/>
                <a:cs typeface="Calibri" pitchFamily="34" charset="-120"/>
              </a:rPr>
              <a:t>assegnazione</a:t>
            </a:r>
            <a:r>
              <a:rPr lang="en-US" sz="1250" dirty="0">
                <a:solidFill>
                  <a:srgbClr val="161B26"/>
                </a:solidFill>
                <a:latin typeface="Calibri" pitchFamily="34" charset="0"/>
                <a:ea typeface="Calibri" pitchFamily="34" charset="-122"/>
                <a:cs typeface="Calibri" pitchFamily="34" charset="-120"/>
              </a:rPr>
              <a:t> </a:t>
            </a:r>
            <a:r>
              <a:rPr lang="en-US" sz="1250" dirty="0" err="1">
                <a:solidFill>
                  <a:srgbClr val="161B26"/>
                </a:solidFill>
                <a:latin typeface="Calibri" pitchFamily="34" charset="0"/>
                <a:ea typeface="Calibri" pitchFamily="34" charset="-122"/>
                <a:cs typeface="Calibri" pitchFamily="34" charset="-120"/>
              </a:rPr>
              <a:t>usa</a:t>
            </a:r>
            <a:r>
              <a:rPr lang="en-US" sz="1250" dirty="0">
                <a:solidFill>
                  <a:srgbClr val="161B26"/>
                </a:solidFill>
                <a:latin typeface="Calibri" pitchFamily="34" charset="0"/>
                <a:ea typeface="Calibri" pitchFamily="34" charset="-122"/>
                <a:cs typeface="Calibri" pitchFamily="34" charset="-120"/>
              </a:rPr>
              <a:t> </a:t>
            </a:r>
            <a:r>
              <a:rPr lang="en-US" sz="1250" dirty="0" err="1">
                <a:solidFill>
                  <a:srgbClr val="161B26"/>
                </a:solidFill>
                <a:latin typeface="Calibri" pitchFamily="34" charset="0"/>
                <a:ea typeface="Calibri" pitchFamily="34" charset="-122"/>
                <a:cs typeface="Calibri" pitchFamily="34" charset="-120"/>
              </a:rPr>
              <a:t>passthrought</a:t>
            </a:r>
            <a:r>
              <a:rPr lang="en-US" sz="1250" dirty="0">
                <a:solidFill>
                  <a:srgbClr val="161B26"/>
                </a:solidFill>
                <a:latin typeface="Calibri" pitchFamily="34" charset="0"/>
                <a:ea typeface="Calibri" pitchFamily="34" charset="-122"/>
                <a:cs typeface="Calibri" pitchFamily="34" charset="-120"/>
              </a:rPr>
              <a:t> per </a:t>
            </a:r>
            <a:r>
              <a:rPr lang="en-US" sz="1250" dirty="0" err="1">
                <a:solidFill>
                  <a:srgbClr val="161B26"/>
                </a:solidFill>
                <a:latin typeface="Calibri" pitchFamily="34" charset="0"/>
                <a:ea typeface="Calibri" pitchFamily="34" charset="-122"/>
                <a:cs typeface="Calibri" pitchFamily="34" charset="-120"/>
              </a:rPr>
              <a:t>procedere</a:t>
            </a:r>
            <a:r>
              <a:rPr lang="en-US" sz="1250" dirty="0">
                <a:solidFill>
                  <a:srgbClr val="161B26"/>
                </a:solidFill>
                <a:latin typeface="Calibri" pitchFamily="34" charset="0"/>
                <a:ea typeface="Calibri" pitchFamily="34" charset="-122"/>
                <a:cs typeface="Calibri" pitchFamily="34" charset="-120"/>
              </a:rPr>
              <a:t> al  </a:t>
            </a:r>
            <a:r>
              <a:rPr lang="en-US" sz="1250" dirty="0" err="1">
                <a:solidFill>
                  <a:srgbClr val="161B26"/>
                </a:solidFill>
                <a:latin typeface="Calibri" pitchFamily="34" charset="0"/>
                <a:ea typeface="Calibri" pitchFamily="34" charset="-122"/>
                <a:cs typeface="Calibri" pitchFamily="34" charset="-120"/>
              </a:rPr>
              <a:t>livello</a:t>
            </a:r>
            <a:r>
              <a:rPr lang="en-US" sz="1250" dirty="0">
                <a:solidFill>
                  <a:srgbClr val="161B26"/>
                </a:solidFill>
                <a:latin typeface="Calibri" pitchFamily="34" charset="0"/>
                <a:ea typeface="Calibri" pitchFamily="34" charset="-122"/>
                <a:cs typeface="Calibri" pitchFamily="34" charset="-120"/>
              </a:rPr>
              <a:t> </a:t>
            </a:r>
            <a:r>
              <a:rPr lang="en-US" sz="1250" dirty="0" err="1">
                <a:solidFill>
                  <a:srgbClr val="161B26"/>
                </a:solidFill>
                <a:latin typeface="Calibri" pitchFamily="34" charset="0"/>
                <a:ea typeface="Calibri" pitchFamily="34" charset="-122"/>
                <a:cs typeface="Calibri" pitchFamily="34" charset="-120"/>
              </a:rPr>
              <a:t>successivo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VINCOLI PRATICI DI LARK</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“Rules defined twice”: regole ausiliarie</a:t>
            </a:r>
            <a:endParaRPr lang="en-US" sz="2800" dirty="0"/>
          </a:p>
        </p:txBody>
      </p:sp>
      <p:sp>
        <p:nvSpPr>
          <p:cNvPr id="9" name="Text 7"/>
          <p:cNvSpPr/>
          <p:nvPr/>
        </p:nvSpPr>
        <p:spPr>
          <a:xfrm>
            <a:off x="548640" y="1463040"/>
            <a:ext cx="6035040" cy="4389120"/>
          </a:xfrm>
          <a:prstGeom prst="rect">
            <a:avLst/>
          </a:prstGeom>
          <a:noFill/>
          <a:ln/>
        </p:spPr>
        <p:txBody>
          <a:bodyPr wrap="square" lIns="0" tIns="0" rIns="0" bIns="0" rtlCol="0" anchor="t"/>
          <a:lstStyle/>
          <a:p>
            <a:pPr marL="285750" indent="-285750">
              <a:buFont typeface="Arial" panose="020B0604020202020204" pitchFamily="34" charset="0"/>
              <a:buChar char="•"/>
            </a:pPr>
            <a:r>
              <a:rPr lang="en-GB" sz="1400" b="1" dirty="0"/>
              <a:t>Il </a:t>
            </a:r>
            <a:r>
              <a:rPr lang="en-GB" sz="1400" b="1" dirty="0" err="1"/>
              <a:t>Problema</a:t>
            </a:r>
            <a:r>
              <a:rPr lang="en-GB" sz="1400" b="1" dirty="0"/>
              <a:t>:</a:t>
            </a:r>
            <a:r>
              <a:rPr lang="en-GB" sz="1400" dirty="0"/>
              <a:t> Lark </a:t>
            </a:r>
            <a:r>
              <a:rPr lang="en-GB" sz="1400" dirty="0" err="1"/>
              <a:t>va</a:t>
            </a:r>
            <a:r>
              <a:rPr lang="en-GB" sz="1400" dirty="0"/>
              <a:t> in crash se </a:t>
            </a:r>
            <a:r>
              <a:rPr lang="en-GB" sz="1400" dirty="0" err="1"/>
              <a:t>si</a:t>
            </a:r>
            <a:r>
              <a:rPr lang="en-GB" sz="1400" dirty="0"/>
              <a:t> </a:t>
            </a:r>
            <a:r>
              <a:rPr lang="en-GB" sz="1400" dirty="0" err="1"/>
              <a:t>cerca</a:t>
            </a:r>
            <a:r>
              <a:rPr lang="en-GB" sz="1400" dirty="0"/>
              <a:t> di </a:t>
            </a:r>
            <a:r>
              <a:rPr lang="en-GB" sz="1400" dirty="0" err="1"/>
              <a:t>ripetere</a:t>
            </a:r>
            <a:r>
              <a:rPr lang="en-GB" sz="1400" dirty="0"/>
              <a:t> </a:t>
            </a:r>
            <a:r>
              <a:rPr lang="en-GB" sz="1400" dirty="0" err="1"/>
              <a:t>blocchi</a:t>
            </a:r>
            <a:r>
              <a:rPr lang="en-GB" sz="1400" dirty="0"/>
              <a:t> di </a:t>
            </a:r>
            <a:r>
              <a:rPr lang="en-GB" sz="1400" dirty="0" err="1"/>
              <a:t>codice</a:t>
            </a:r>
            <a:r>
              <a:rPr lang="en-GB" sz="1400" dirty="0"/>
              <a:t> </a:t>
            </a:r>
            <a:r>
              <a:rPr lang="en-GB" sz="1400" dirty="0" err="1"/>
              <a:t>complessi</a:t>
            </a:r>
            <a:r>
              <a:rPr lang="en-GB" sz="1400" dirty="0"/>
              <a:t> </a:t>
            </a:r>
            <a:r>
              <a:rPr lang="en-GB" sz="1400" dirty="0" err="1"/>
              <a:t>su</a:t>
            </a:r>
            <a:r>
              <a:rPr lang="en-GB" sz="1400" dirty="0"/>
              <a:t> </a:t>
            </a:r>
            <a:r>
              <a:rPr lang="en-GB" sz="1400" dirty="0" err="1"/>
              <a:t>una</a:t>
            </a:r>
            <a:r>
              <a:rPr lang="en-GB" sz="1400" dirty="0"/>
              <a:t> </a:t>
            </a:r>
            <a:r>
              <a:rPr lang="en-GB" sz="1400" dirty="0" err="1"/>
              <a:t>singola</a:t>
            </a:r>
            <a:r>
              <a:rPr lang="en-GB" sz="1400" dirty="0"/>
              <a:t> </a:t>
            </a:r>
            <a:r>
              <a:rPr lang="en-GB" sz="1400" dirty="0" err="1"/>
              <a:t>riga</a:t>
            </a:r>
            <a:r>
              <a:rPr lang="en-GB" sz="1400" dirty="0"/>
              <a:t> (es. </a:t>
            </a:r>
            <a:r>
              <a:rPr lang="en-GB" sz="1400" dirty="0">
                <a:latin typeface="Courier New" panose="02070309020205020404" pitchFamily="49" charset="0"/>
              </a:rPr>
              <a:t>(</a:t>
            </a:r>
            <a:r>
              <a:rPr lang="en-GB" sz="1400" dirty="0" err="1">
                <a:latin typeface="Courier New" panose="02070309020205020404" pitchFamily="49" charset="0"/>
              </a:rPr>
              <a:t>S'invece</a:t>
            </a:r>
            <a:r>
              <a:rPr lang="en-GB" sz="1400" dirty="0">
                <a:latin typeface="Courier New" panose="02070309020205020404" pitchFamily="49" charset="0"/>
              </a:rPr>
              <a:t> + expr + statement)*</a:t>
            </a:r>
            <a:r>
              <a:rPr lang="en-GB" sz="1400" dirty="0"/>
              <a:t>).</a:t>
            </a:r>
          </a:p>
          <a:p>
            <a:pPr marL="285750" indent="-285750">
              <a:buFont typeface="Arial" panose="020B0604020202020204" pitchFamily="34" charset="0"/>
              <a:buChar char="•"/>
            </a:pPr>
            <a:r>
              <a:rPr lang="en-GB" sz="1400" b="1" dirty="0"/>
              <a:t>La </a:t>
            </a:r>
            <a:r>
              <a:rPr lang="en-GB" sz="1400" b="1" dirty="0" err="1"/>
              <a:t>Soluzione</a:t>
            </a:r>
            <a:r>
              <a:rPr lang="en-GB" sz="1400" b="1" dirty="0"/>
              <a:t>:</a:t>
            </a:r>
            <a:r>
              <a:rPr lang="en-GB" sz="1400" dirty="0"/>
              <a:t> </a:t>
            </a:r>
            <a:r>
              <a:rPr lang="en-GB" sz="1400" dirty="0" err="1"/>
              <a:t>Impacchettare</a:t>
            </a:r>
            <a:r>
              <a:rPr lang="en-GB" sz="1400" dirty="0"/>
              <a:t> il </a:t>
            </a:r>
            <a:r>
              <a:rPr lang="en-GB" sz="1400" dirty="0" err="1"/>
              <a:t>blocco</a:t>
            </a:r>
            <a:r>
              <a:rPr lang="en-GB" sz="1400" dirty="0"/>
              <a:t> in </a:t>
            </a:r>
            <a:r>
              <a:rPr lang="en-GB" sz="1400" dirty="0" err="1"/>
              <a:t>una</a:t>
            </a:r>
            <a:r>
              <a:rPr lang="en-GB" sz="1400" dirty="0"/>
              <a:t> </a:t>
            </a:r>
            <a:r>
              <a:rPr lang="en-GB" sz="1400" b="1" dirty="0" err="1"/>
              <a:t>regola</a:t>
            </a:r>
            <a:r>
              <a:rPr lang="en-GB" sz="1400" b="1" dirty="0"/>
              <a:t> </a:t>
            </a:r>
            <a:r>
              <a:rPr lang="en-GB" sz="1400" b="1" dirty="0" err="1"/>
              <a:t>ausiliaria</a:t>
            </a:r>
            <a:r>
              <a:rPr lang="en-GB" sz="1400" dirty="0"/>
              <a:t> </a:t>
            </a:r>
            <a:r>
              <a:rPr lang="en-GB" sz="1400" dirty="0" err="1"/>
              <a:t>indipendente</a:t>
            </a:r>
            <a:r>
              <a:rPr lang="en-GB" sz="1400" dirty="0"/>
              <a:t> (es. </a:t>
            </a:r>
            <a:r>
              <a:rPr lang="en-GB" sz="1400" dirty="0" err="1">
                <a:latin typeface="Courier New" panose="02070309020205020404" pitchFamily="49" charset="0"/>
              </a:rPr>
              <a:t>elif_clause</a:t>
            </a:r>
            <a:r>
              <a:rPr lang="en-GB" sz="1400" dirty="0"/>
              <a:t> o </a:t>
            </a:r>
            <a:r>
              <a:rPr lang="en-GB" sz="1400" dirty="0" err="1">
                <a:latin typeface="Courier New" panose="02070309020205020404" pitchFamily="49" charset="0"/>
              </a:rPr>
              <a:t>for_init</a:t>
            </a:r>
            <a:r>
              <a:rPr lang="en-GB" sz="1400" dirty="0"/>
              <a:t>). </a:t>
            </a:r>
            <a:r>
              <a:rPr lang="en-GB" sz="1400" dirty="0" err="1"/>
              <a:t>Questo</a:t>
            </a:r>
            <a:r>
              <a:rPr lang="en-GB" sz="1400" dirty="0"/>
              <a:t> </a:t>
            </a:r>
            <a:r>
              <a:rPr lang="en-GB" sz="1400" dirty="0" err="1"/>
              <a:t>evita</a:t>
            </a:r>
            <a:r>
              <a:rPr lang="en-GB" sz="1400" dirty="0"/>
              <a:t> </a:t>
            </a:r>
            <a:r>
              <a:rPr lang="en-GB" sz="1400" dirty="0" err="1"/>
              <a:t>i</a:t>
            </a:r>
            <a:r>
              <a:rPr lang="en-GB" sz="1400" dirty="0"/>
              <a:t> </a:t>
            </a:r>
            <a:r>
              <a:rPr lang="en-GB" sz="1400" dirty="0" err="1"/>
              <a:t>conflitti</a:t>
            </a:r>
            <a:r>
              <a:rPr lang="en-GB" sz="1400" dirty="0"/>
              <a:t> </a:t>
            </a:r>
            <a:r>
              <a:rPr lang="en-GB" sz="1400" dirty="0" err="1"/>
              <a:t>interni</a:t>
            </a:r>
            <a:r>
              <a:rPr lang="en-GB" sz="1400" dirty="0"/>
              <a:t> di Lark.</a:t>
            </a:r>
          </a:p>
          <a:p>
            <a:endParaRPr lang="en-GB" sz="1400" dirty="0"/>
          </a:p>
          <a:p>
            <a:pPr marL="285750" indent="-285750">
              <a:buFont typeface="Arial" panose="020B0604020202020204" pitchFamily="34" charset="0"/>
              <a:buChar char="•"/>
            </a:pPr>
            <a:r>
              <a:rPr lang="en-GB" sz="1400" b="1" dirty="0"/>
              <a:t>Il </a:t>
            </a:r>
            <a:r>
              <a:rPr lang="en-GB" sz="1400" b="1" dirty="0" err="1"/>
              <a:t>Problema</a:t>
            </a:r>
            <a:r>
              <a:rPr lang="en-GB" sz="1400" b="1" dirty="0"/>
              <a:t>:</a:t>
            </a:r>
            <a:r>
              <a:rPr lang="en-GB" sz="1400" dirty="0"/>
              <a:t> Nelle </a:t>
            </a:r>
            <a:r>
              <a:rPr lang="en-GB" sz="1400" dirty="0" err="1"/>
              <a:t>regole</a:t>
            </a:r>
            <a:r>
              <a:rPr lang="en-GB" sz="1400" dirty="0"/>
              <a:t> </a:t>
            </a:r>
            <a:r>
              <a:rPr lang="en-GB" sz="1400" dirty="0" err="1"/>
              <a:t>semplici</a:t>
            </a:r>
            <a:r>
              <a:rPr lang="en-GB" sz="1400" dirty="0"/>
              <a:t> (es. </a:t>
            </a:r>
            <a:r>
              <a:rPr lang="en-GB" sz="1400" dirty="0" err="1"/>
              <a:t>i</a:t>
            </a:r>
            <a:r>
              <a:rPr lang="en-GB" sz="1400" dirty="0"/>
              <a:t> numeri </a:t>
            </a:r>
            <a:r>
              <a:rPr lang="en-GB" sz="1400" dirty="0" err="1">
                <a:latin typeface="Courier New" panose="02070309020205020404" pitchFamily="49" charset="0"/>
              </a:rPr>
              <a:t>primary_expr</a:t>
            </a:r>
            <a:r>
              <a:rPr lang="en-GB" sz="1400" dirty="0"/>
              <a:t>), Lark </a:t>
            </a:r>
            <a:r>
              <a:rPr lang="en-GB" sz="1400" dirty="0" err="1"/>
              <a:t>racchiude</a:t>
            </a:r>
            <a:r>
              <a:rPr lang="en-GB" sz="1400" dirty="0"/>
              <a:t> il </a:t>
            </a:r>
            <a:r>
              <a:rPr lang="en-GB" sz="1400" dirty="0" err="1"/>
              <a:t>dato</a:t>
            </a:r>
            <a:r>
              <a:rPr lang="en-GB" sz="1400" dirty="0"/>
              <a:t> </a:t>
            </a:r>
            <a:r>
              <a:rPr lang="en-GB" sz="1400" dirty="0" err="1"/>
              <a:t>dentro</a:t>
            </a:r>
            <a:r>
              <a:rPr lang="en-GB" sz="1400" dirty="0"/>
              <a:t> un </a:t>
            </a:r>
            <a:r>
              <a:rPr lang="en-GB" sz="1400" dirty="0" err="1"/>
              <a:t>oggetto</a:t>
            </a:r>
            <a:r>
              <a:rPr lang="en-GB" sz="1400" dirty="0"/>
              <a:t> </a:t>
            </a:r>
            <a:r>
              <a:rPr lang="en-GB" sz="1400" dirty="0">
                <a:latin typeface="Courier New" panose="02070309020205020404" pitchFamily="49" charset="0"/>
              </a:rPr>
              <a:t>Tree</a:t>
            </a:r>
            <a:r>
              <a:rPr lang="en-GB" sz="1400" dirty="0"/>
              <a:t> inutile </a:t>
            </a:r>
            <a:r>
              <a:rPr lang="en-GB" sz="1400" dirty="0" err="1"/>
              <a:t>che</a:t>
            </a:r>
            <a:r>
              <a:rPr lang="en-GB" sz="1400" dirty="0"/>
              <a:t> </a:t>
            </a:r>
            <a:r>
              <a:rPr lang="en-GB" sz="1400" dirty="0" err="1"/>
              <a:t>blocca</a:t>
            </a:r>
            <a:r>
              <a:rPr lang="en-GB" sz="1400" dirty="0"/>
              <a:t> le </a:t>
            </a:r>
            <a:r>
              <a:rPr lang="en-GB" sz="1400" dirty="0" err="1"/>
              <a:t>fasi</a:t>
            </a:r>
            <a:r>
              <a:rPr lang="en-GB" sz="1400" dirty="0"/>
              <a:t> successive del </a:t>
            </a:r>
            <a:r>
              <a:rPr lang="en-GB" sz="1400" dirty="0" err="1"/>
              <a:t>compilatore</a:t>
            </a:r>
            <a:r>
              <a:rPr lang="en-GB" sz="1400" dirty="0"/>
              <a:t>.</a:t>
            </a:r>
          </a:p>
          <a:p>
            <a:pPr marL="285750" indent="-285750">
              <a:buFont typeface="Arial" panose="020B0604020202020204" pitchFamily="34" charset="0"/>
              <a:buChar char="•"/>
            </a:pPr>
            <a:r>
              <a:rPr lang="en-GB" sz="1400" b="1" dirty="0"/>
              <a:t>La </a:t>
            </a:r>
            <a:r>
              <a:rPr lang="en-GB" sz="1400" b="1" dirty="0" err="1"/>
              <a:t>Soluzione</a:t>
            </a:r>
            <a:r>
              <a:rPr lang="en-GB" sz="1400" b="1" dirty="0"/>
              <a:t>:</a:t>
            </a:r>
            <a:r>
              <a:rPr lang="en-GB" sz="1400" dirty="0"/>
              <a:t> </a:t>
            </a:r>
            <a:r>
              <a:rPr lang="en-GB" sz="1400" dirty="0" err="1"/>
              <a:t>Implementare</a:t>
            </a:r>
            <a:r>
              <a:rPr lang="en-GB" sz="1400" dirty="0"/>
              <a:t> </a:t>
            </a:r>
            <a:r>
              <a:rPr lang="en-GB" sz="1400" dirty="0" err="1"/>
              <a:t>metodi</a:t>
            </a:r>
            <a:r>
              <a:rPr lang="en-GB" sz="1400" dirty="0"/>
              <a:t> </a:t>
            </a:r>
            <a:r>
              <a:rPr lang="en-GB" sz="1400" b="1" dirty="0"/>
              <a:t>"Passthrough"</a:t>
            </a:r>
            <a:r>
              <a:rPr lang="en-GB" sz="1400" dirty="0"/>
              <a:t> </a:t>
            </a:r>
            <a:r>
              <a:rPr lang="en-GB" sz="1400" dirty="0" err="1"/>
              <a:t>espliciti</a:t>
            </a:r>
            <a:r>
              <a:rPr lang="en-GB" sz="1400" dirty="0"/>
              <a:t> </a:t>
            </a:r>
            <a:r>
              <a:rPr lang="en-GB" sz="1400" dirty="0" err="1"/>
              <a:t>nel</a:t>
            </a:r>
            <a:r>
              <a:rPr lang="en-GB" sz="1400" dirty="0"/>
              <a:t> Transformer. </a:t>
            </a:r>
            <a:r>
              <a:rPr lang="en-GB" sz="1400" dirty="0" err="1"/>
              <a:t>Usando</a:t>
            </a:r>
            <a:r>
              <a:rPr lang="en-GB" sz="1400" dirty="0"/>
              <a:t> </a:t>
            </a:r>
            <a:r>
              <a:rPr lang="en-GB" sz="1400" dirty="0">
                <a:latin typeface="Courier New" panose="02070309020205020404" pitchFamily="49" charset="0"/>
              </a:rPr>
              <a:t>return items[0]</a:t>
            </a:r>
            <a:r>
              <a:rPr lang="en-GB" sz="1400" dirty="0"/>
              <a:t>, </a:t>
            </a:r>
            <a:r>
              <a:rPr lang="en-GB" sz="1400" dirty="0" err="1"/>
              <a:t>si</a:t>
            </a:r>
            <a:r>
              <a:rPr lang="en-GB" sz="1400" dirty="0"/>
              <a:t> </a:t>
            </a:r>
            <a:r>
              <a:rPr lang="en-GB" sz="1400" dirty="0" err="1"/>
              <a:t>scarta</a:t>
            </a:r>
            <a:r>
              <a:rPr lang="en-GB" sz="1400" dirty="0"/>
              <a:t> </a:t>
            </a:r>
            <a:r>
              <a:rPr lang="en-GB" sz="1400" dirty="0" err="1"/>
              <a:t>l'involucro</a:t>
            </a:r>
            <a:r>
              <a:rPr lang="en-GB" sz="1400" dirty="0"/>
              <a:t> di Lark e </a:t>
            </a:r>
            <a:r>
              <a:rPr lang="en-GB" sz="1400" dirty="0" err="1"/>
              <a:t>si</a:t>
            </a:r>
            <a:r>
              <a:rPr lang="en-GB" sz="1400" dirty="0"/>
              <a:t> </a:t>
            </a:r>
            <a:r>
              <a:rPr lang="en-GB" sz="1400" dirty="0" err="1"/>
              <a:t>estrae</a:t>
            </a:r>
            <a:r>
              <a:rPr lang="en-GB" sz="1400" dirty="0"/>
              <a:t> solo il </a:t>
            </a:r>
            <a:r>
              <a:rPr lang="en-GB" sz="1400" dirty="0" err="1"/>
              <a:t>dato</a:t>
            </a:r>
            <a:r>
              <a:rPr lang="en-GB" sz="1400" dirty="0"/>
              <a:t> </a:t>
            </a:r>
            <a:r>
              <a:rPr lang="en-GB" sz="1400" dirty="0" err="1"/>
              <a:t>pulito</a:t>
            </a:r>
            <a:r>
              <a:rPr lang="en-GB" sz="1400" dirty="0"/>
              <a:t>.</a:t>
            </a:r>
          </a:p>
        </p:txBody>
      </p:sp>
      <p:sp>
        <p:nvSpPr>
          <p:cNvPr id="10" name="Shape 8"/>
          <p:cNvSpPr/>
          <p:nvPr/>
        </p:nvSpPr>
        <p:spPr>
          <a:xfrm>
            <a:off x="6858000" y="1737360"/>
            <a:ext cx="4754880" cy="2743200"/>
          </a:xfrm>
          <a:prstGeom prst="roundRect">
            <a:avLst>
              <a:gd name="adj" fmla="val 2667"/>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1" name="Text 9"/>
          <p:cNvSpPr/>
          <p:nvPr/>
        </p:nvSpPr>
        <p:spPr>
          <a:xfrm>
            <a:off x="7086600" y="1847088"/>
            <a:ext cx="429768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compilatore_cro.py · CroTransformer</a:t>
            </a:r>
            <a:endParaRPr lang="en-US" sz="1000" dirty="0"/>
          </a:p>
        </p:txBody>
      </p:sp>
      <p:sp>
        <p:nvSpPr>
          <p:cNvPr id="12" name="Text 10"/>
          <p:cNvSpPr/>
          <p:nvPr/>
        </p:nvSpPr>
        <p:spPr>
          <a:xfrm>
            <a:off x="7086600" y="2148840"/>
            <a:ext cx="4297680" cy="2148840"/>
          </a:xfrm>
          <a:prstGeom prst="rect">
            <a:avLst/>
          </a:prstGeom>
          <a:noFill/>
          <a:ln/>
        </p:spPr>
        <p:txBody>
          <a:bodyPr wrap="square" lIns="0" tIns="0" rIns="0" bIns="0" rtlCol="0" anchor="t"/>
          <a:lstStyle/>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 primary_expr alternative "( expr )" e</a:t>
            </a:r>
            <a:endParaRPr lang="en-US" sz="1250" dirty="0"/>
          </a:p>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 function_call non hanno alias -&gt;</a:t>
            </a:r>
            <a:endParaRPr lang="en-US" sz="1250" dirty="0"/>
          </a:p>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 Lark crea Tree('primary_expr',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def primary_expr(self, items):</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items[0]</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 stessa cosa per unary_expr quando</a:t>
            </a:r>
            <a:endParaRPr lang="en-US" sz="1250" dirty="0"/>
          </a:p>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 risolve tramite | primary_expr</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def unary_expr(self, items):</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items[0]</a:t>
            </a:r>
            <a:endParaRPr lang="en-US" sz="1250" dirty="0"/>
          </a:p>
        </p:txBody>
      </p:sp>
      <p:sp>
        <p:nvSpPr>
          <p:cNvPr id="13" name="Shape 11"/>
          <p:cNvSpPr/>
          <p:nvPr/>
        </p:nvSpPr>
        <p:spPr>
          <a:xfrm>
            <a:off x="6858000" y="4663440"/>
            <a:ext cx="4754880" cy="1188720"/>
          </a:xfrm>
          <a:prstGeom prst="roundRect">
            <a:avLst>
              <a:gd name="adj" fmla="val 6154"/>
            </a:avLst>
          </a:prstGeom>
          <a:solidFill>
            <a:srgbClr val="FDECC8"/>
          </a:solidFill>
          <a:ln/>
        </p:spPr>
        <p:txBody>
          <a:bodyPr/>
          <a:lstStyle/>
          <a:p>
            <a:endParaRPr lang="en-GB"/>
          </a:p>
        </p:txBody>
      </p:sp>
      <p:sp>
        <p:nvSpPr>
          <p:cNvPr id="14" name="Text 12"/>
          <p:cNvSpPr/>
          <p:nvPr/>
        </p:nvSpPr>
        <p:spPr>
          <a:xfrm>
            <a:off x="7086600" y="4828032"/>
            <a:ext cx="429768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ERRORE INCONTRATO IN FASE DI SVILUPPO</a:t>
            </a:r>
            <a:endParaRPr lang="en-US" sz="1300" dirty="0"/>
          </a:p>
        </p:txBody>
      </p:sp>
      <p:sp>
        <p:nvSpPr>
          <p:cNvPr id="15" name="Text 13"/>
          <p:cNvSpPr/>
          <p:nvPr/>
        </p:nvSpPr>
        <p:spPr>
          <a:xfrm>
            <a:off x="7086600" y="5166360"/>
            <a:ext cx="4297680" cy="50292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lark.exceptions.GrammarError: Rules defined twice — risolto separando elif_clause/for_init come regole indipendenti.</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GRAMMATICA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ESTENSIONE NON PREVISTA DALLA SPECIFICA</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L'operatore &amp; per l'input (scanef)</a:t>
            </a:r>
            <a:endParaRPr lang="en-US" sz="2800" dirty="0"/>
          </a:p>
        </p:txBody>
      </p:sp>
      <p:sp>
        <p:nvSpPr>
          <p:cNvPr id="9" name="Shape 7"/>
          <p:cNvSpPr/>
          <p:nvPr/>
        </p:nvSpPr>
        <p:spPr>
          <a:xfrm>
            <a:off x="548640" y="1463040"/>
            <a:ext cx="6035040" cy="3383280"/>
          </a:xfrm>
          <a:prstGeom prst="roundRect">
            <a:avLst>
              <a:gd name="adj" fmla="val 2162"/>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5778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139, 401, 906</a:t>
            </a:r>
            <a:endParaRPr lang="en-US" sz="1000" dirty="0"/>
          </a:p>
        </p:txBody>
      </p:sp>
      <p:sp>
        <p:nvSpPr>
          <p:cNvPr id="11" name="Text 9"/>
          <p:cNvSpPr/>
          <p:nvPr/>
        </p:nvSpPr>
        <p:spPr>
          <a:xfrm>
            <a:off x="777240" y="1874520"/>
            <a:ext cx="5577840" cy="2788920"/>
          </a:xfrm>
          <a:prstGeom prst="rect">
            <a:avLst/>
          </a:prstGeom>
          <a:noFill/>
          <a:ln/>
        </p:spPr>
        <p:txBody>
          <a:bodyPr wrap="square" lIns="0" tIns="0" rIns="0" bIns="0" rtlCol="0" anchor="t"/>
          <a:lstStyle/>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unary_expr: "non" unary_expr -&gt; not_expr</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 "-"  unary_expr -&gt; neg_expr</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 "&amp;"  ID         -&gt; addr_of</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 primary_expr</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a:t>
            </a:r>
            <a:endParaRPr lang="en-US" sz="1350" dirty="0"/>
          </a:p>
          <a:p>
            <a:pPr marL="0" indent="0">
              <a:lnSpc>
                <a:spcPct val="112000"/>
              </a:lnSpc>
              <a:buNone/>
            </a:pPr>
            <a:r>
              <a:rPr lang="en-US" sz="1350" i="1" dirty="0">
                <a:solidFill>
                  <a:srgbClr val="8B9AAE"/>
                </a:solidFill>
                <a:latin typeface="Courier New" pitchFamily="34" charset="0"/>
                <a:ea typeface="Courier New" pitchFamily="34" charset="-122"/>
                <a:cs typeface="Courier New" pitchFamily="34" charset="-120"/>
              </a:rPr>
              <a:t># Transformer</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def addr_of(self, items):</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return AddrOfNode(str(items[0]))</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a:t>
            </a:r>
            <a:endParaRPr lang="en-US" sz="1350" dirty="0"/>
          </a:p>
          <a:p>
            <a:pPr marL="0" indent="0">
              <a:lnSpc>
                <a:spcPct val="112000"/>
              </a:lnSpc>
              <a:buNone/>
            </a:pPr>
            <a:r>
              <a:rPr lang="en-US" sz="1350" i="1" dirty="0">
                <a:solidFill>
                  <a:srgbClr val="8B9AAE"/>
                </a:solidFill>
                <a:latin typeface="Courier New" pitchFamily="34" charset="0"/>
                <a:ea typeface="Courier New" pitchFamily="34" charset="-122"/>
                <a:cs typeface="Courier New" pitchFamily="34" charset="-120"/>
              </a:rPr>
              <a:t># CodeGenerator</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def _v_AddrOfNode(self, n):</a:t>
            </a:r>
            <a:endParaRPr lang="en-US" sz="1350" dirty="0"/>
          </a:p>
          <a:p>
            <a:pPr marL="0" indent="0">
              <a:lnSpc>
                <a:spcPct val="112000"/>
              </a:lnSpc>
              <a:buNone/>
            </a:pPr>
            <a:r>
              <a:rPr lang="en-US" sz="1350" dirty="0">
                <a:solidFill>
                  <a:srgbClr val="D7FCEF"/>
                </a:solidFill>
                <a:latin typeface="Courier New" pitchFamily="34" charset="0"/>
                <a:ea typeface="Courier New" pitchFamily="34" charset="-122"/>
                <a:cs typeface="Courier New" pitchFamily="34" charset="-120"/>
              </a:rPr>
              <a:t>    return f"&amp;{n.name}"</a:t>
            </a:r>
            <a:endParaRPr lang="en-US" sz="1350" dirty="0"/>
          </a:p>
        </p:txBody>
      </p:sp>
      <p:sp>
        <p:nvSpPr>
          <p:cNvPr id="12" name="Text 10"/>
          <p:cNvSpPr/>
          <p:nvPr/>
        </p:nvSpPr>
        <p:spPr>
          <a:xfrm>
            <a:off x="6858000" y="1554480"/>
            <a:ext cx="4754880" cy="32918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61B26"/>
                </a:solidFill>
                <a:latin typeface="Calibri" pitchFamily="34" charset="0"/>
                <a:ea typeface="Calibri" pitchFamily="34" charset="-122"/>
                <a:cs typeface="Calibri" pitchFamily="34" charset="-120"/>
              </a:rPr>
              <a:t>La specifica </a:t>
            </a:r>
            <a:r>
              <a:rPr lang="en-US" sz="1350" dirty="0" err="1">
                <a:solidFill>
                  <a:srgbClr val="161B26"/>
                </a:solidFill>
                <a:latin typeface="Calibri" pitchFamily="34" charset="0"/>
                <a:ea typeface="Calibri" pitchFamily="34" charset="-122"/>
                <a:cs typeface="Calibri" pitchFamily="34" charset="-120"/>
              </a:rPr>
              <a:t>originale</a:t>
            </a:r>
            <a:r>
              <a:rPr lang="en-US" sz="1350" dirty="0">
                <a:solidFill>
                  <a:srgbClr val="161B26"/>
                </a:solidFill>
                <a:latin typeface="Calibri" pitchFamily="34" charset="0"/>
                <a:ea typeface="Calibri" pitchFamily="34" charset="-122"/>
                <a:cs typeface="Calibri" pitchFamily="34" charset="-120"/>
              </a:rPr>
              <a:t> non prevedeva un operatore di indirizzo</a:t>
            </a:r>
            <a:endParaRPr lang="en-US" sz="1350" dirty="0"/>
          </a:p>
          <a:p>
            <a:pPr marL="342900" indent="-342900">
              <a:spcAft>
                <a:spcPts val="1200"/>
              </a:spcAft>
              <a:buSzPct val="100000"/>
              <a:buChar char="•"/>
            </a:pPr>
            <a:r>
              <a:rPr lang="en-US" sz="1350" dirty="0">
                <a:solidFill>
                  <a:srgbClr val="161B26"/>
                </a:solidFill>
                <a:latin typeface="Calibri" pitchFamily="34" charset="0"/>
                <a:ea typeface="Calibri" pitchFamily="34" charset="-122"/>
                <a:cs typeface="Calibri" pitchFamily="34" charset="-120"/>
              </a:rPr>
              <a:t>scanef mappa direttamente su scanf del C, che richiede il passaggio per indirizzo della variabile di destinazione: scanf("%d", &amp;x)</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Senza &amp; non sarebbe stato possibile scrivere un programma C-ro che legge davvero input utente — necessario per il programma </a:t>
            </a:r>
            <a:r>
              <a:rPr lang="en-US" sz="1350" dirty="0" err="1">
                <a:solidFill>
                  <a:srgbClr val="161B26"/>
                </a:solidFill>
                <a:latin typeface="Calibri" pitchFamily="34" charset="0"/>
                <a:ea typeface="Calibri" pitchFamily="34" charset="-122"/>
                <a:cs typeface="Calibri" pitchFamily="34" charset="-120"/>
              </a:rPr>
              <a:t>calcolatrice</a:t>
            </a:r>
            <a:r>
              <a:rPr lang="en-US" sz="1350" dirty="0">
                <a:solidFill>
                  <a:srgbClr val="161B26"/>
                </a:solidFill>
                <a:latin typeface="Calibri" pitchFamily="34" charset="0"/>
                <a:ea typeface="Calibri" pitchFamily="34" charset="-122"/>
                <a:cs typeface="Calibri" pitchFamily="34" charset="-120"/>
              </a:rPr>
              <a:t> </a:t>
            </a:r>
            <a:r>
              <a:rPr lang="en-US" sz="1350" dirty="0" err="1">
                <a:solidFill>
                  <a:srgbClr val="161B26"/>
                </a:solidFill>
                <a:latin typeface="Calibri" pitchFamily="34" charset="0"/>
                <a:ea typeface="Calibri" pitchFamily="34" charset="-122"/>
                <a:cs typeface="Calibri" pitchFamily="34" charset="-120"/>
              </a:rPr>
              <a:t>obbligatorio</a:t>
            </a:r>
            <a:endParaRPr lang="en-US" sz="1350" dirty="0">
              <a:solidFill>
                <a:srgbClr val="161B26"/>
              </a:solidFill>
              <a:latin typeface="Calibri" pitchFamily="34" charset="0"/>
              <a:ea typeface="Calibri" pitchFamily="34" charset="-122"/>
              <a:cs typeface="Calibri" pitchFamily="34" charset="-120"/>
            </a:endParaRPr>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def: genera </a:t>
            </a:r>
            <a:r>
              <a:rPr lang="en-US" sz="1350" dirty="0" err="1">
                <a:solidFill>
                  <a:srgbClr val="161B26"/>
                </a:solidFill>
                <a:latin typeface="Calibri" pitchFamily="34" charset="0"/>
                <a:ea typeface="Calibri" pitchFamily="34" charset="-122"/>
                <a:cs typeface="Calibri" pitchFamily="34" charset="-120"/>
              </a:rPr>
              <a:t>un’albero</a:t>
            </a:r>
            <a:r>
              <a:rPr lang="en-US" sz="1350" dirty="0">
                <a:solidFill>
                  <a:srgbClr val="161B26"/>
                </a:solidFill>
                <a:latin typeface="Calibri" pitchFamily="34" charset="0"/>
                <a:ea typeface="Calibri" pitchFamily="34" charset="-122"/>
                <a:cs typeface="Calibri" pitchFamily="34" charset="-120"/>
              </a:rPr>
              <a:t> con </a:t>
            </a:r>
            <a:r>
              <a:rPr lang="en-US" sz="1350" dirty="0" err="1">
                <a:solidFill>
                  <a:srgbClr val="161B26"/>
                </a:solidFill>
                <a:latin typeface="Calibri" pitchFamily="34" charset="0"/>
                <a:ea typeface="Calibri" pitchFamily="34" charset="-122"/>
                <a:cs typeface="Calibri" pitchFamily="34" charset="-120"/>
              </a:rPr>
              <a:t>nodo</a:t>
            </a:r>
            <a:r>
              <a:rPr lang="en-US" sz="1350" dirty="0">
                <a:solidFill>
                  <a:srgbClr val="161B26"/>
                </a:solidFill>
                <a:latin typeface="Calibri" pitchFamily="34" charset="0"/>
                <a:ea typeface="Calibri" pitchFamily="34" charset="-122"/>
                <a:cs typeface="Calibri" pitchFamily="34" charset="-120"/>
              </a:rPr>
              <a:t> </a:t>
            </a:r>
            <a:r>
              <a:rPr lang="en-US" sz="1350" dirty="0" err="1">
                <a:solidFill>
                  <a:srgbClr val="161B26"/>
                </a:solidFill>
                <a:latin typeface="Calibri" pitchFamily="34" charset="0"/>
                <a:ea typeface="Calibri" pitchFamily="34" charset="-122"/>
                <a:cs typeface="Calibri" pitchFamily="34" charset="-120"/>
              </a:rPr>
              <a:t>astratto</a:t>
            </a:r>
            <a:r>
              <a:rPr lang="en-US" sz="1350" dirty="0">
                <a:solidFill>
                  <a:srgbClr val="161B26"/>
                </a:solidFill>
                <a:latin typeface="Calibri" pitchFamily="34" charset="0"/>
                <a:ea typeface="Calibri" pitchFamily="34" charset="-122"/>
                <a:cs typeface="Calibri" pitchFamily="34" charset="-120"/>
              </a:rPr>
              <a:t> </a:t>
            </a:r>
            <a:r>
              <a:rPr lang="en-US" sz="1350" dirty="0" err="1">
                <a:solidFill>
                  <a:srgbClr val="161B26"/>
                </a:solidFill>
                <a:latin typeface="Calibri" pitchFamily="34" charset="0"/>
                <a:ea typeface="Calibri" pitchFamily="34" charset="-122"/>
                <a:cs typeface="Calibri" pitchFamily="34" charset="-120"/>
              </a:rPr>
              <a:t>addrofnode</a:t>
            </a:r>
            <a:r>
              <a:rPr lang="en-US" sz="1350" dirty="0">
                <a:solidFill>
                  <a:srgbClr val="161B26"/>
                </a:solidFill>
                <a:latin typeface="Calibri" pitchFamily="34" charset="0"/>
                <a:ea typeface="Calibri" pitchFamily="34" charset="-122"/>
                <a:cs typeface="Calibri" pitchFamily="34" charset="-120"/>
              </a:rPr>
              <a:t> ed </a:t>
            </a:r>
            <a:r>
              <a:rPr lang="en-US" sz="1350" dirty="0" err="1">
                <a:solidFill>
                  <a:srgbClr val="161B26"/>
                </a:solidFill>
                <a:latin typeface="Calibri" pitchFamily="34" charset="0"/>
                <a:ea typeface="Calibri" pitchFamily="34" charset="-122"/>
                <a:cs typeface="Calibri" pitchFamily="34" charset="-120"/>
              </a:rPr>
              <a:t>emette</a:t>
            </a:r>
            <a:r>
              <a:rPr lang="en-US" sz="1350" dirty="0">
                <a:solidFill>
                  <a:srgbClr val="161B26"/>
                </a:solidFill>
                <a:latin typeface="Calibri" pitchFamily="34" charset="0"/>
                <a:ea typeface="Calibri" pitchFamily="34" charset="-122"/>
                <a:cs typeface="Calibri" pitchFamily="34" charset="-120"/>
              </a:rPr>
              <a:t> il </a:t>
            </a:r>
            <a:r>
              <a:rPr lang="en-US" sz="1350" dirty="0" err="1">
                <a:solidFill>
                  <a:srgbClr val="161B26"/>
                </a:solidFill>
                <a:latin typeface="Calibri" pitchFamily="34" charset="0"/>
                <a:ea typeface="Calibri" pitchFamily="34" charset="-122"/>
                <a:cs typeface="Calibri" pitchFamily="34" charset="-120"/>
              </a:rPr>
              <a:t>programma</a:t>
            </a:r>
            <a:r>
              <a:rPr lang="en-US" sz="1350" dirty="0">
                <a:solidFill>
                  <a:srgbClr val="161B26"/>
                </a:solidFill>
                <a:latin typeface="Calibri" pitchFamily="34" charset="0"/>
                <a:ea typeface="Calibri" pitchFamily="34" charset="-122"/>
                <a:cs typeface="Calibri" pitchFamily="34" charset="-120"/>
              </a:rPr>
              <a:t> c </a:t>
            </a:r>
            <a:r>
              <a:rPr lang="en-US" sz="1350" dirty="0" err="1">
                <a:solidFill>
                  <a:srgbClr val="161B26"/>
                </a:solidFill>
                <a:latin typeface="Calibri" pitchFamily="34" charset="0"/>
                <a:ea typeface="Calibri" pitchFamily="34" charset="-122"/>
                <a:cs typeface="Calibri" pitchFamily="34" charset="-120"/>
              </a:rPr>
              <a:t>corrispondente</a:t>
            </a:r>
            <a:endParaRPr lang="en-US" sz="1350" dirty="0">
              <a:solidFill>
                <a:srgbClr val="161B26"/>
              </a:solidFill>
              <a:latin typeface="Calibri" pitchFamily="34" charset="0"/>
              <a:ea typeface="Calibri" pitchFamily="34" charset="-122"/>
              <a:cs typeface="Calibri" pitchFamily="34" charset="-120"/>
            </a:endParaRPr>
          </a:p>
        </p:txBody>
      </p:sp>
      <p:sp>
        <p:nvSpPr>
          <p:cNvPr id="13" name="Shape 11"/>
          <p:cNvSpPr/>
          <p:nvPr/>
        </p:nvSpPr>
        <p:spPr>
          <a:xfrm>
            <a:off x="548640" y="5029200"/>
            <a:ext cx="11064240" cy="914400"/>
          </a:xfrm>
          <a:prstGeom prst="roundRect">
            <a:avLst>
              <a:gd name="adj" fmla="val 8000"/>
            </a:avLst>
          </a:prstGeom>
          <a:solidFill>
            <a:srgbClr val="CFFAF3"/>
          </a:solidFill>
          <a:ln/>
        </p:spPr>
        <p:txBody>
          <a:bodyPr/>
          <a:lstStyle/>
          <a:p>
            <a:endParaRPr lang="en-GB"/>
          </a:p>
        </p:txBody>
      </p:sp>
      <p:sp>
        <p:nvSpPr>
          <p:cNvPr id="14" name="Text 12"/>
          <p:cNvSpPr/>
          <p:nvPr/>
        </p:nvSpPr>
        <p:spPr>
          <a:xfrm>
            <a:off x="777240" y="5193792"/>
            <a:ext cx="1060704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VINCOLI SEMANTICI AGGIUNTIVI (Sezione 4)</a:t>
            </a:r>
            <a:endParaRPr lang="en-US" sz="1300" dirty="0"/>
          </a:p>
        </p:txBody>
      </p:sp>
      <p:sp>
        <p:nvSpPr>
          <p:cNvPr id="15" name="Text 13"/>
          <p:cNvSpPr/>
          <p:nvPr/>
        </p:nvSpPr>
        <p:spPr>
          <a:xfrm>
            <a:off x="777240" y="5532120"/>
            <a:ext cx="10607040" cy="22860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&amp; applicabile solo a un identificatore dichiarato e non costante; gli argomenti di scanef oltre alla format string devono essere &amp;variabile.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1371600" y="4114800"/>
            <a:ext cx="3657600" cy="3657600"/>
          </a:xfrm>
          <a:prstGeom prst="ellipse">
            <a:avLst/>
          </a:prstGeom>
          <a:solidFill>
            <a:srgbClr val="1F2937"/>
          </a:solidFill>
          <a:ln/>
        </p:spPr>
        <p:txBody>
          <a:bodyPr/>
          <a:lstStyle/>
          <a:p>
            <a:endParaRPr lang="en-GB"/>
          </a:p>
        </p:txBody>
      </p:sp>
      <p:sp>
        <p:nvSpPr>
          <p:cNvPr id="3" name="Text 1"/>
          <p:cNvSpPr/>
          <p:nvPr/>
        </p:nvSpPr>
        <p:spPr>
          <a:xfrm>
            <a:off x="822960" y="2286000"/>
            <a:ext cx="2743200" cy="1371600"/>
          </a:xfrm>
          <a:prstGeom prst="rect">
            <a:avLst/>
          </a:prstGeom>
          <a:noFill/>
          <a:ln/>
        </p:spPr>
        <p:txBody>
          <a:bodyPr wrap="square" lIns="0" tIns="0" rIns="0" bIns="0" rtlCol="0" anchor="ctr"/>
          <a:lstStyle/>
          <a:p>
            <a:pPr marL="0" indent="0">
              <a:buNone/>
            </a:pPr>
            <a:r>
              <a:rPr lang="en-US" sz="8000" b="1" dirty="0">
                <a:solidFill>
                  <a:srgbClr val="2DD4BF"/>
                </a:solidFill>
                <a:latin typeface="Cambria" pitchFamily="34" charset="0"/>
                <a:ea typeface="Cambria" pitchFamily="34" charset="-122"/>
                <a:cs typeface="Cambria" pitchFamily="34" charset="-120"/>
              </a:rPr>
              <a:t>02</a:t>
            </a:r>
            <a:endParaRPr lang="en-US" sz="8000" dirty="0"/>
          </a:p>
        </p:txBody>
      </p:sp>
      <p:sp>
        <p:nvSpPr>
          <p:cNvPr id="4" name="Text 2"/>
          <p:cNvSpPr/>
          <p:nvPr/>
        </p:nvSpPr>
        <p:spPr>
          <a:xfrm>
            <a:off x="3108960" y="2560320"/>
            <a:ext cx="7772400" cy="11887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AST e Transformer</a:t>
            </a:r>
            <a:endParaRPr lang="en-US" sz="3800" dirty="0"/>
          </a:p>
        </p:txBody>
      </p:sp>
      <p:sp>
        <p:nvSpPr>
          <p:cNvPr id="5" name="Text 3"/>
          <p:cNvSpPr/>
          <p:nvPr/>
        </p:nvSpPr>
        <p:spPr>
          <a:xfrm>
            <a:off x="3154680" y="3657600"/>
            <a:ext cx="5486400" cy="365760"/>
          </a:xfrm>
          <a:prstGeom prst="rect">
            <a:avLst/>
          </a:prstGeom>
          <a:noFill/>
          <a:ln/>
        </p:spPr>
        <p:txBody>
          <a:bodyPr wrap="square" lIns="0" tIns="0" rIns="0" bIns="0" rtlCol="0" anchor="ctr"/>
          <a:lstStyle/>
          <a:p>
            <a:pPr marL="0" indent="0">
              <a:buNone/>
            </a:pPr>
            <a:r>
              <a:rPr lang="en-US" sz="1300" dirty="0">
                <a:solidFill>
                  <a:srgbClr val="8B96A8"/>
                </a:solidFill>
                <a:latin typeface="Courier New" pitchFamily="34" charset="0"/>
                <a:ea typeface="Courier New" pitchFamily="34" charset="-122"/>
                <a:cs typeface="Courier New" pitchFamily="34" charset="-120"/>
              </a:rPr>
              <a:t>compilatore_cro.py — righe 187–510</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2</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AST</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RAPPRESENTAZIONE DEI NODI</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Nodi AST come dataclass Python</a:t>
            </a:r>
            <a:endParaRPr lang="en-US" sz="2800" dirty="0"/>
          </a:p>
        </p:txBody>
      </p:sp>
      <p:sp>
        <p:nvSpPr>
          <p:cNvPr id="9" name="Shape 7"/>
          <p:cNvSpPr/>
          <p:nvPr/>
        </p:nvSpPr>
        <p:spPr>
          <a:xfrm>
            <a:off x="548640" y="1417320"/>
            <a:ext cx="6035040" cy="4617720"/>
          </a:xfrm>
          <a:prstGeom prst="roundRect">
            <a:avLst>
              <a:gd name="adj" fmla="val 1584"/>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27048"/>
            <a:ext cx="55778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226–232, 283–288, 309–313</a:t>
            </a:r>
            <a:endParaRPr lang="en-US" sz="1000" dirty="0"/>
          </a:p>
        </p:txBody>
      </p:sp>
      <p:sp>
        <p:nvSpPr>
          <p:cNvPr id="11" name="Text 9"/>
          <p:cNvSpPr/>
          <p:nvPr/>
        </p:nvSpPr>
        <p:spPr>
          <a:xfrm>
            <a:off x="777240" y="1828800"/>
            <a:ext cx="5577840" cy="4023360"/>
          </a:xfrm>
          <a:prstGeom prst="rect">
            <a:avLst/>
          </a:prstGeom>
          <a:noFill/>
          <a:ln/>
        </p:spPr>
        <p:txBody>
          <a:bodyPr wrap="square" lIns="0" tIns="0" rIns="0" bIns="0" rtlCol="0" anchor="t"/>
          <a:lstStyle/>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@dataclass</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class IfNode: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condition: Any</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then_branch: Any</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elif_clauses: List[tuple]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else_branch: Optional[Any] = None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@dataclass</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class BinOpNode: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op: str</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left: Any</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right: Any</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@dataclass</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class AddrOfNode: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"""Operatore &amp;, usato come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argomento di scanef."""</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name: str</a:t>
            </a:r>
            <a:endParaRPr lang="en-US" sz="1250" dirty="0"/>
          </a:p>
        </p:txBody>
      </p:sp>
      <p:sp>
        <p:nvSpPr>
          <p:cNvPr id="12" name="Text 10"/>
          <p:cNvSpPr/>
          <p:nvPr/>
        </p:nvSpPr>
        <p:spPr>
          <a:xfrm>
            <a:off x="6858000" y="1554480"/>
            <a:ext cx="4754880" cy="43891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Ogni nodo è una dataclass: solo dati, nessuna logica — la logica vive nei Visitor (Analisi Semantica e Code Generator) per </a:t>
            </a:r>
            <a:r>
              <a:rPr lang="en-US" sz="1350" dirty="0" err="1">
                <a:solidFill>
                  <a:srgbClr val="161B26"/>
                </a:solidFill>
                <a:latin typeface="Calibri" pitchFamily="34" charset="0"/>
                <a:ea typeface="Calibri" pitchFamily="34" charset="-122"/>
                <a:cs typeface="Calibri" pitchFamily="34" charset="-120"/>
              </a:rPr>
              <a:t>facilitare</a:t>
            </a:r>
            <a:r>
              <a:rPr lang="en-US" sz="1350" dirty="0">
                <a:solidFill>
                  <a:srgbClr val="161B26"/>
                </a:solidFill>
                <a:latin typeface="Calibri" pitchFamily="34" charset="0"/>
                <a:ea typeface="Calibri" pitchFamily="34" charset="-122"/>
                <a:cs typeface="Calibri" pitchFamily="34" charset="-120"/>
              </a:rPr>
              <a:t> le </a:t>
            </a:r>
            <a:r>
              <a:rPr lang="en-US" sz="1350" dirty="0" err="1">
                <a:solidFill>
                  <a:srgbClr val="161B26"/>
                </a:solidFill>
                <a:latin typeface="Calibri" pitchFamily="34" charset="0"/>
                <a:ea typeface="Calibri" pitchFamily="34" charset="-122"/>
                <a:cs typeface="Calibri" pitchFamily="34" charset="-120"/>
              </a:rPr>
              <a:t>aggiunte</a:t>
            </a:r>
            <a:r>
              <a:rPr lang="en-US" sz="1350" dirty="0">
                <a:solidFill>
                  <a:srgbClr val="161B26"/>
                </a:solidFill>
                <a:latin typeface="Calibri" pitchFamily="34" charset="0"/>
                <a:ea typeface="Calibri" pitchFamily="34" charset="-122"/>
                <a:cs typeface="Calibri" pitchFamily="34" charset="-120"/>
              </a:rPr>
              <a:t> future</a:t>
            </a:r>
            <a:endParaRPr lang="en-US" sz="1350" dirty="0"/>
          </a:p>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Scelta rispetto allo scheletro di esempio della specifica (classi con __init__ manuale): dataclass riduce il boilerplate (costruttore, __repr__, __eq__ generati automaticamente)</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16 tipi di nodo in totale: dichiarazioni (ProgramNode, VarDeclNode, FunctionDeclNode...), istruzioni (IfNode, WhileNode, ForNode, SwitchNode...), espressioni (BinOpNode, UnOpNode, FunctionCallNode, AddrOfNode...)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2</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AST</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DAL TREE DI LARK ALL'AST</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CroTransformer: visita bottom-up</a:t>
            </a:r>
            <a:endParaRPr lang="en-US" sz="2800" dirty="0"/>
          </a:p>
        </p:txBody>
      </p:sp>
      <p:sp>
        <p:nvSpPr>
          <p:cNvPr id="9" name="Shape 7"/>
          <p:cNvSpPr/>
          <p:nvPr/>
        </p:nvSpPr>
        <p:spPr>
          <a:xfrm>
            <a:off x="548640" y="1463040"/>
            <a:ext cx="6492240" cy="4480560"/>
          </a:xfrm>
          <a:prstGeom prst="roundRect">
            <a:avLst>
              <a:gd name="adj" fmla="val 1633"/>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60350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compilatore_cro.py · righe 340–365</a:t>
            </a:r>
            <a:endParaRPr lang="en-US" sz="1000" dirty="0"/>
          </a:p>
        </p:txBody>
      </p:sp>
      <p:sp>
        <p:nvSpPr>
          <p:cNvPr id="11" name="Text 9"/>
          <p:cNvSpPr/>
          <p:nvPr/>
        </p:nvSpPr>
        <p:spPr>
          <a:xfrm>
            <a:off x="777240" y="1874520"/>
            <a:ext cx="6035040" cy="3886200"/>
          </a:xfrm>
          <a:prstGeom prst="rect">
            <a:avLst/>
          </a:prstGeom>
          <a:noFill/>
          <a:ln/>
        </p:spPr>
        <p:txBody>
          <a:bodyPr wrap="square" lIns="0" tIns="0" rIns="0" bIns="0" rtlCol="0" anchor="t"/>
          <a:lstStyle/>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class CroTransformer(Transformer):</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def var_decl_init(self, items):</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return VarDeclNode(</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var_type=items[0],</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name=str(items[1]),</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init_expr=items[2],</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def function_decl(self, items):</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ret_type = items[0]</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name = str(items[1])</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if isinstance(items[2], list):</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params, body = items[2], items[3]</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else:</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params, body = [], items[2]</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return FunctionDeclNode(...)</a:t>
            </a:r>
            <a:endParaRPr lang="en-US" sz="1200" dirty="0"/>
          </a:p>
        </p:txBody>
      </p:sp>
      <p:sp>
        <p:nvSpPr>
          <p:cNvPr id="12" name="Text 10"/>
          <p:cNvSpPr/>
          <p:nvPr/>
        </p:nvSpPr>
        <p:spPr>
          <a:xfrm>
            <a:off x="7269480" y="1554480"/>
            <a:ext cx="4343400" cy="43891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Lark visita l'albero bottom-up: i figli sono già trasformati in nodi AST quando il metodo del padre viene chiamato</a:t>
            </a:r>
            <a:endParaRPr lang="en-US" sz="1350" dirty="0"/>
          </a:p>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Il nome del metodo deve coincidere con la regola o con l'alias -&gt; nome</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function_decl gestisce due forme con/senza parametri ispezionando il tipo di items[2] (list = ci sono parametri)</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2</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AST</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CASI ARTICOLATI DEL TRANSFORMER</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Fold e interleaving per gli operatori binari</a:t>
            </a:r>
            <a:endParaRPr lang="en-US" sz="2800" dirty="0"/>
          </a:p>
        </p:txBody>
      </p:sp>
      <p:sp>
        <p:nvSpPr>
          <p:cNvPr id="9" name="Shape 7"/>
          <p:cNvSpPr/>
          <p:nvPr/>
        </p:nvSpPr>
        <p:spPr>
          <a:xfrm>
            <a:off x="548640" y="1463040"/>
            <a:ext cx="6766560" cy="3611880"/>
          </a:xfrm>
          <a:prstGeom prst="roundRect">
            <a:avLst>
              <a:gd name="adj" fmla="val 2025"/>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630936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421–457 (condensato)</a:t>
            </a:r>
            <a:endParaRPr lang="en-US" sz="1000" dirty="0"/>
          </a:p>
        </p:txBody>
      </p:sp>
      <p:sp>
        <p:nvSpPr>
          <p:cNvPr id="11" name="Text 9"/>
          <p:cNvSpPr/>
          <p:nvPr/>
        </p:nvSpPr>
        <p:spPr>
          <a:xfrm>
            <a:off x="777240" y="1874520"/>
            <a:ext cx="6309360" cy="3017520"/>
          </a:xfrm>
          <a:prstGeom prst="rect">
            <a:avLst/>
          </a:prstGeom>
          <a:noFill/>
          <a:ln/>
        </p:spPr>
        <p:txBody>
          <a:bodyPr wrap="square" lIns="0" tIns="0" rIns="0" bIns="0" rtlCol="0" anchor="t"/>
          <a:lstStyle/>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def or_expr(self, items):</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self._left_fold(items,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def _left_fold(self, items, op):</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result = items[0]</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for right in items[1:]:</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result = BinOpNode(op, result, right)</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result</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def _interleaved(self, items):</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result = items[0]; i = 1</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while i &lt; len(items):</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op = str(items[i])</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result = BinOpNode(op, result, items[i+1])</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i += 2</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result</a:t>
            </a:r>
            <a:endParaRPr lang="en-US" sz="1150" dirty="0"/>
          </a:p>
        </p:txBody>
      </p:sp>
      <p:sp>
        <p:nvSpPr>
          <p:cNvPr id="12" name="Text 10"/>
          <p:cNvSpPr/>
          <p:nvPr/>
        </p:nvSpPr>
        <p:spPr>
          <a:xfrm>
            <a:off x="7452360" y="1554480"/>
            <a:ext cx="4160520" cy="438912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61B26"/>
                </a:solidFill>
                <a:latin typeface="Calibri" pitchFamily="34" charset="0"/>
                <a:ea typeface="Calibri" pitchFamily="34" charset="-122"/>
                <a:cs typeface="Calibri" pitchFamily="34" charset="-120"/>
              </a:rPr>
              <a:t>Bug reale incontrato: 'e'/'o' (parole chiave letterali) vengono filtrati dall'albero da Lark, mentre operatori come RELOP (terminali con nome) restano visibili</a:t>
            </a:r>
            <a:endParaRPr lang="en-US" sz="1300" dirty="0"/>
          </a:p>
          <a:p>
            <a:pPr marL="342900" indent="-342900">
              <a:spcAft>
                <a:spcPts val="1200"/>
              </a:spcAft>
              <a:buSzPct val="100000"/>
              <a:buChar char="•"/>
            </a:pPr>
            <a:r>
              <a:rPr lang="en-US" sz="1300" dirty="0">
                <a:solidFill>
                  <a:srgbClr val="161B26"/>
                </a:solidFill>
                <a:latin typeface="Calibri" pitchFamily="34" charset="0"/>
                <a:ea typeface="Calibri" pitchFamily="34" charset="-122"/>
                <a:cs typeface="Calibri" pitchFamily="34" charset="-120"/>
              </a:rPr>
              <a:t>Serve quindi DUE strategie diverse: _left_fold per gli operatori-parola (e/o), _interleaved per gli operatori-simbolo (==, &lt;, +, *)</a:t>
            </a:r>
            <a:endParaRPr lang="en-US" sz="1300" dirty="0"/>
          </a:p>
          <a:p>
            <a:pPr marL="342900" indent="-342900">
              <a:buSzPct val="100000"/>
              <a:buChar char="•"/>
            </a:pPr>
            <a:r>
              <a:rPr lang="en-US" sz="1300" dirty="0">
                <a:solidFill>
                  <a:srgbClr val="161B26"/>
                </a:solidFill>
                <a:latin typeface="Calibri" pitchFamily="34" charset="0"/>
                <a:ea typeface="Calibri" pitchFamily="34" charset="-122"/>
                <a:cs typeface="Calibri" pitchFamily="34" charset="-120"/>
              </a:rPr>
              <a:t>Entrambe costruiscono un albero sinistra-associativo (es. 10-3-2 → (10-3)-2)</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1371600" y="4114800"/>
            <a:ext cx="3657600" cy="3657600"/>
          </a:xfrm>
          <a:prstGeom prst="ellipse">
            <a:avLst/>
          </a:prstGeom>
          <a:solidFill>
            <a:srgbClr val="1F2937"/>
          </a:solidFill>
          <a:ln/>
        </p:spPr>
        <p:txBody>
          <a:bodyPr/>
          <a:lstStyle/>
          <a:p>
            <a:endParaRPr lang="en-GB"/>
          </a:p>
        </p:txBody>
      </p:sp>
      <p:sp>
        <p:nvSpPr>
          <p:cNvPr id="3" name="Text 1"/>
          <p:cNvSpPr/>
          <p:nvPr/>
        </p:nvSpPr>
        <p:spPr>
          <a:xfrm>
            <a:off x="822960" y="2286000"/>
            <a:ext cx="2743200" cy="1371600"/>
          </a:xfrm>
          <a:prstGeom prst="rect">
            <a:avLst/>
          </a:prstGeom>
          <a:noFill/>
          <a:ln/>
        </p:spPr>
        <p:txBody>
          <a:bodyPr wrap="square" lIns="0" tIns="0" rIns="0" bIns="0" rtlCol="0" anchor="ctr"/>
          <a:lstStyle/>
          <a:p>
            <a:pPr marL="0" indent="0">
              <a:buNone/>
            </a:pPr>
            <a:r>
              <a:rPr lang="en-US" sz="8000" b="1" dirty="0">
                <a:solidFill>
                  <a:srgbClr val="2DD4BF"/>
                </a:solidFill>
                <a:latin typeface="Cambria" pitchFamily="34" charset="0"/>
                <a:ea typeface="Cambria" pitchFamily="34" charset="-122"/>
                <a:cs typeface="Cambria" pitchFamily="34" charset="-120"/>
              </a:rPr>
              <a:t>03</a:t>
            </a:r>
            <a:endParaRPr lang="en-US" sz="8000" dirty="0"/>
          </a:p>
        </p:txBody>
      </p:sp>
      <p:sp>
        <p:nvSpPr>
          <p:cNvPr id="4" name="Text 2"/>
          <p:cNvSpPr/>
          <p:nvPr/>
        </p:nvSpPr>
        <p:spPr>
          <a:xfrm>
            <a:off x="3108960" y="2560320"/>
            <a:ext cx="7772400" cy="11887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Analisi Semantica</a:t>
            </a:r>
            <a:endParaRPr lang="en-US" sz="3800" dirty="0"/>
          </a:p>
        </p:txBody>
      </p:sp>
      <p:sp>
        <p:nvSpPr>
          <p:cNvPr id="5" name="Text 3"/>
          <p:cNvSpPr/>
          <p:nvPr/>
        </p:nvSpPr>
        <p:spPr>
          <a:xfrm>
            <a:off x="3154680" y="3657600"/>
            <a:ext cx="5486400" cy="365760"/>
          </a:xfrm>
          <a:prstGeom prst="rect">
            <a:avLst/>
          </a:prstGeom>
          <a:noFill/>
          <a:ln/>
        </p:spPr>
        <p:txBody>
          <a:bodyPr wrap="square" lIns="0" tIns="0" rIns="0" bIns="0" rtlCol="0" anchor="ctr"/>
          <a:lstStyle/>
          <a:p>
            <a:pPr marL="0" indent="0">
              <a:buNone/>
            </a:pPr>
            <a:r>
              <a:rPr lang="en-US" sz="1300" dirty="0">
                <a:solidFill>
                  <a:srgbClr val="8B96A8"/>
                </a:solidFill>
                <a:latin typeface="Courier New" pitchFamily="34" charset="0"/>
                <a:ea typeface="Courier New" pitchFamily="34" charset="-122"/>
                <a:cs typeface="Courier New" pitchFamily="34" charset="-120"/>
              </a:rPr>
              <a:t>compilatore_cro.py — righe 511–785</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3</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SEMANTICA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20</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GESTIONE DELLO SCOPING</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SymbolTable a catena di parent</a:t>
            </a:r>
            <a:endParaRPr lang="en-US" sz="2800" dirty="0"/>
          </a:p>
        </p:txBody>
      </p:sp>
      <p:sp>
        <p:nvSpPr>
          <p:cNvPr id="9" name="Shape 7"/>
          <p:cNvSpPr/>
          <p:nvPr/>
        </p:nvSpPr>
        <p:spPr>
          <a:xfrm>
            <a:off x="548640" y="1417320"/>
            <a:ext cx="6309360" cy="4617720"/>
          </a:xfrm>
          <a:prstGeom prst="roundRect">
            <a:avLst>
              <a:gd name="adj" fmla="val 1584"/>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27048"/>
            <a:ext cx="585216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518–533</a:t>
            </a:r>
            <a:endParaRPr lang="en-US" sz="1000" dirty="0"/>
          </a:p>
        </p:txBody>
      </p:sp>
      <p:sp>
        <p:nvSpPr>
          <p:cNvPr id="11" name="Text 9"/>
          <p:cNvSpPr/>
          <p:nvPr/>
        </p:nvSpPr>
        <p:spPr>
          <a:xfrm>
            <a:off x="777240" y="1828800"/>
            <a:ext cx="5852160" cy="4023360"/>
          </a:xfrm>
          <a:prstGeom prst="rect">
            <a:avLst/>
          </a:prstGeom>
          <a:noFill/>
          <a:ln/>
        </p:spPr>
        <p:txBody>
          <a:bodyPr wrap="square" lIns="0" tIns="0" rIns="0" bIns="0" rtlCol="0" anchor="t"/>
          <a:lstStyle/>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class SymbolTable: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def __init__(self, parent=None,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scope_name='global'):</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self.symbols: dict = {}</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self.parent = parent</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self.scope_name = scope_name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def define(self, name, info):</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if name in self.symbols:</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raise SemanticError(</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f"'{name}' già dichiarato "</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f"nello scope '{self.scope_name}'.")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self.symbols[name] = info</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def lookup(self, name):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if name in self.symbols:</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return self.symbols[name]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return (self.parent.lookup(name)</a:t>
            </a:r>
            <a:endParaRPr lang="en-US" sz="1180" dirty="0"/>
          </a:p>
          <a:p>
            <a:pPr marL="0" indent="0">
              <a:lnSpc>
                <a:spcPct val="112000"/>
              </a:lnSpc>
              <a:buNone/>
            </a:pPr>
            <a:r>
              <a:rPr lang="en-US" sz="1180" dirty="0">
                <a:solidFill>
                  <a:srgbClr val="D7FCEF"/>
                </a:solidFill>
                <a:latin typeface="Courier New" pitchFamily="34" charset="0"/>
                <a:ea typeface="Courier New" pitchFamily="34" charset="-122"/>
                <a:cs typeface="Courier New" pitchFamily="34" charset="-120"/>
              </a:rPr>
              <a:t>                if self.parent else None)</a:t>
            </a:r>
            <a:endParaRPr lang="en-US" sz="1180" dirty="0"/>
          </a:p>
        </p:txBody>
      </p:sp>
      <p:sp>
        <p:nvSpPr>
          <p:cNvPr id="12" name="Text 10"/>
          <p:cNvSpPr/>
          <p:nvPr/>
        </p:nvSpPr>
        <p:spPr>
          <a:xfrm>
            <a:off x="7086600" y="1554480"/>
            <a:ext cx="4526280" cy="43891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Non hash table su stack: ogni SymbolTable mantiene un riferimento esplicito al proprio parent (lista concatenata di scope)</a:t>
            </a:r>
            <a:endParaRPr lang="en-US" sz="1350" dirty="0"/>
          </a:p>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lookup() risale ricorsivamente la catena fino allo scope globale</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define() solleva SemanticError se l'identificatore esiste già nello scope CORRENTE (non in quelli superiori — lo shadowing è permesso)</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3</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SEMANTICA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21</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DEVIAZIONE DALLA SPECIFICA</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Quando si apre un nuovo scope?</a:t>
            </a:r>
            <a:endParaRPr lang="en-US" sz="2800" dirty="0"/>
          </a:p>
        </p:txBody>
      </p:sp>
      <p:sp>
        <p:nvSpPr>
          <p:cNvPr id="9" name="Shape 7"/>
          <p:cNvSpPr/>
          <p:nvPr/>
        </p:nvSpPr>
        <p:spPr>
          <a:xfrm>
            <a:off x="548640" y="1463040"/>
            <a:ext cx="5349240" cy="2057400"/>
          </a:xfrm>
          <a:prstGeom prst="roundRect">
            <a:avLst>
              <a:gd name="adj" fmla="val 3556"/>
            </a:avLst>
          </a:prstGeom>
          <a:solidFill>
            <a:srgbClr val="EDF1F5"/>
          </a:solidFill>
          <a:ln/>
        </p:spPr>
        <p:txBody>
          <a:bodyPr/>
          <a:lstStyle/>
          <a:p>
            <a:endParaRPr lang="en-GB"/>
          </a:p>
        </p:txBody>
      </p:sp>
      <p:sp>
        <p:nvSpPr>
          <p:cNvPr id="10" name="Text 8"/>
          <p:cNvSpPr/>
          <p:nvPr/>
        </p:nvSpPr>
        <p:spPr>
          <a:xfrm>
            <a:off x="777240" y="1627632"/>
            <a:ext cx="4892040" cy="320040"/>
          </a:xfrm>
          <a:prstGeom prst="rect">
            <a:avLst/>
          </a:prstGeom>
          <a:noFill/>
          <a:ln/>
        </p:spPr>
        <p:txBody>
          <a:bodyPr wrap="square" lIns="0" tIns="0" rIns="0" bIns="0" rtlCol="0" anchor="ctr"/>
          <a:lstStyle/>
          <a:p>
            <a:pPr marL="0" indent="0">
              <a:buNone/>
            </a:pPr>
            <a:r>
              <a:rPr lang="en-US" sz="1300" b="1" dirty="0">
                <a:solidFill>
                  <a:srgbClr val="5B6472"/>
                </a:solidFill>
                <a:latin typeface="Calibri" pitchFamily="34" charset="0"/>
                <a:ea typeface="Calibri" pitchFamily="34" charset="-122"/>
                <a:cs typeface="Calibri" pitchFamily="34" charset="-120"/>
              </a:rPr>
              <a:t>SPECIFICA ORIGINALE (EILP §4.1)</a:t>
            </a:r>
            <a:endParaRPr lang="en-US" sz="1300" dirty="0"/>
          </a:p>
        </p:txBody>
      </p:sp>
      <p:sp>
        <p:nvSpPr>
          <p:cNvPr id="11" name="Text 9"/>
          <p:cNvSpPr/>
          <p:nvPr/>
        </p:nvSpPr>
        <p:spPr>
          <a:xfrm>
            <a:off x="777240" y="1965960"/>
            <a:ext cx="4892040" cy="137160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Apre un nuovo scope SOLO: capo, funzion, trament/ppe, if/facimm — un elenco chiuso di costrutti specifici.</a:t>
            </a:r>
            <a:endParaRPr lang="en-US" sz="1250" dirty="0"/>
          </a:p>
        </p:txBody>
      </p:sp>
      <p:sp>
        <p:nvSpPr>
          <p:cNvPr id="12" name="Shape 10"/>
          <p:cNvSpPr/>
          <p:nvPr/>
        </p:nvSpPr>
        <p:spPr>
          <a:xfrm>
            <a:off x="6035040" y="1463040"/>
            <a:ext cx="5577840" cy="2057400"/>
          </a:xfrm>
          <a:prstGeom prst="roundRect">
            <a:avLst>
              <a:gd name="adj" fmla="val 3556"/>
            </a:avLst>
          </a:prstGeom>
          <a:solidFill>
            <a:srgbClr val="FDECC8"/>
          </a:solidFill>
          <a:ln/>
        </p:spPr>
        <p:txBody>
          <a:bodyPr/>
          <a:lstStyle/>
          <a:p>
            <a:endParaRPr lang="en-GB"/>
          </a:p>
        </p:txBody>
      </p:sp>
      <p:sp>
        <p:nvSpPr>
          <p:cNvPr id="13" name="Text 11"/>
          <p:cNvSpPr/>
          <p:nvPr/>
        </p:nvSpPr>
        <p:spPr>
          <a:xfrm>
            <a:off x="6263640" y="1627632"/>
            <a:ext cx="512064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IMPLEMENTAZIONE REALE</a:t>
            </a:r>
            <a:endParaRPr lang="en-US" sz="1300" dirty="0"/>
          </a:p>
        </p:txBody>
      </p:sp>
      <p:sp>
        <p:nvSpPr>
          <p:cNvPr id="14" name="Text 12"/>
          <p:cNvSpPr/>
          <p:nvPr/>
        </p:nvSpPr>
        <p:spPr>
          <a:xfrm>
            <a:off x="6263640" y="1965960"/>
            <a:ext cx="5120640" cy="137160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OGNI BlockNode ({ }) apre un nuovo scope, indipendentemente dal costrutto che lo contiene — generalizzazione coerente con la semantica del C standard, dove anche un blocco “nudo” introduce visibilità locale.</a:t>
            </a:r>
            <a:endParaRPr lang="en-US" sz="1250" dirty="0"/>
          </a:p>
        </p:txBody>
      </p:sp>
      <p:sp>
        <p:nvSpPr>
          <p:cNvPr id="15" name="Shape 13"/>
          <p:cNvSpPr/>
          <p:nvPr/>
        </p:nvSpPr>
        <p:spPr>
          <a:xfrm>
            <a:off x="548640" y="3794760"/>
            <a:ext cx="11064240" cy="2377440"/>
          </a:xfrm>
          <a:prstGeom prst="roundRect">
            <a:avLst>
              <a:gd name="adj" fmla="val 3077"/>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6" name="Text 14"/>
          <p:cNvSpPr/>
          <p:nvPr/>
        </p:nvSpPr>
        <p:spPr>
          <a:xfrm>
            <a:off x="777240" y="3904488"/>
            <a:ext cx="106070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565–584</a:t>
            </a:r>
            <a:endParaRPr lang="en-US" sz="1000" dirty="0"/>
          </a:p>
        </p:txBody>
      </p:sp>
      <p:sp>
        <p:nvSpPr>
          <p:cNvPr id="17" name="Text 15"/>
          <p:cNvSpPr/>
          <p:nvPr/>
        </p:nvSpPr>
        <p:spPr>
          <a:xfrm>
            <a:off x="777240" y="4206240"/>
            <a:ext cx="10607040" cy="1783080"/>
          </a:xfrm>
          <a:prstGeom prst="rect">
            <a:avLst/>
          </a:prstGeom>
          <a:noFill/>
          <a:ln/>
        </p:spPr>
        <p:txBody>
          <a:bodyPr wrap="square" lIns="0" tIns="0" rIns="0" bIns="0" rtlCol="0" anchor="t"/>
          <a:lstStyle/>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def _v_FunctionDeclNode(self, 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self.current_table = SymbolTable(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parent=prev_table,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scope_name=f'fun:{node.name}')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for p in node.params:</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self.current_table.define(p.name, ...)</a:t>
            </a:r>
            <a:endParaRPr lang="en-US" sz="1250" dirty="0"/>
          </a:p>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    # scope GIA' aperto: non aprirne un altro</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self._v_BlockNode(node.body,</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new_scope=False)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3</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SEMANTICA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22</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TYPE CHECKING</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Compatibilità e promozione di tipo</a:t>
            </a:r>
            <a:endParaRPr lang="en-US" sz="2800" dirty="0"/>
          </a:p>
        </p:txBody>
      </p:sp>
      <p:sp>
        <p:nvSpPr>
          <p:cNvPr id="9" name="Shape 7"/>
          <p:cNvSpPr/>
          <p:nvPr/>
        </p:nvSpPr>
        <p:spPr>
          <a:xfrm>
            <a:off x="548640" y="1463040"/>
            <a:ext cx="5852160" cy="2926080"/>
          </a:xfrm>
          <a:prstGeom prst="roundRect">
            <a:avLst>
              <a:gd name="adj" fmla="val 2500"/>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39496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552–558</a:t>
            </a:r>
            <a:endParaRPr lang="en-US" sz="1000" dirty="0"/>
          </a:p>
        </p:txBody>
      </p:sp>
      <p:sp>
        <p:nvSpPr>
          <p:cNvPr id="11" name="Text 9"/>
          <p:cNvSpPr/>
          <p:nvPr/>
        </p:nvSpPr>
        <p:spPr>
          <a:xfrm>
            <a:off x="777240" y="1874520"/>
            <a:ext cx="5394960" cy="2331720"/>
          </a:xfrm>
          <a:prstGeom prst="rect">
            <a:avLst/>
          </a:prstGeom>
          <a:noFill/>
          <a:ln/>
        </p:spPr>
        <p:txBody>
          <a:bodyPr wrap="square" lIns="0" tIns="0" rIns="0" bIns="0" rtlCol="0" anchor="t"/>
          <a:lstStyle/>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def _compatible(self, t1, t2) -&gt; bool:</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numeric = {'int', 'float'}</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if t1 == t2:</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True</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if t1 in numeric and t2 in numeric:</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True</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False</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def _result_type(self, t1, t2) -&gt; str:</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return 'float' if 'float' in (t1, t2)</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else t1</a:t>
            </a:r>
            <a:endParaRPr lang="en-US" sz="1150" dirty="0"/>
          </a:p>
        </p:txBody>
      </p:sp>
      <p:sp>
        <p:nvSpPr>
          <p:cNvPr id="12" name="Text 10"/>
          <p:cNvSpPr/>
          <p:nvPr/>
        </p:nvSpPr>
        <p:spPr>
          <a:xfrm>
            <a:off x="6583680" y="1554480"/>
            <a:ext cx="5029200" cy="246888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61B26"/>
                </a:solidFill>
                <a:latin typeface="Calibri" pitchFamily="34" charset="0"/>
                <a:ea typeface="Calibri" pitchFamily="34" charset="-122"/>
                <a:cs typeface="Calibri" pitchFamily="34" charset="-120"/>
              </a:rPr>
              <a:t>nummero (int) e comm (float) sono mutuamente compatibili: nummero + comm è valido, con promozione del risultato a comm</a:t>
            </a:r>
            <a:endParaRPr lang="en-US" sz="1350" dirty="0"/>
          </a:p>
          <a:p>
            <a:pPr marL="342900" indent="-342900">
              <a:spcAft>
                <a:spcPts val="1200"/>
              </a:spcAft>
              <a:buSzPct val="100000"/>
              <a:buChar char="•"/>
            </a:pPr>
            <a:r>
              <a:rPr lang="en-US" sz="1350" dirty="0">
                <a:solidFill>
                  <a:srgbClr val="161B26"/>
                </a:solidFill>
                <a:latin typeface="Calibri" pitchFamily="34" charset="0"/>
                <a:ea typeface="Calibri" pitchFamily="34" charset="-122"/>
                <a:cs typeface="Calibri" pitchFamily="34" charset="-120"/>
              </a:rPr>
              <a:t>bull (bool) NON è compatibile con i tipi numerici: nummero + bull è un errore di tipo</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Applicato uniformemente a: assegnazioni, operatori aritmetici, argomenti di funzione, valori di ritorno</a:t>
            </a:r>
            <a:endParaRPr lang="en-US" sz="1350" dirty="0"/>
          </a:p>
        </p:txBody>
      </p:sp>
      <p:sp>
        <p:nvSpPr>
          <p:cNvPr id="13" name="Shape 11"/>
          <p:cNvSpPr/>
          <p:nvPr/>
        </p:nvSpPr>
        <p:spPr>
          <a:xfrm>
            <a:off x="548640" y="4434840"/>
            <a:ext cx="11064240" cy="1828800"/>
          </a:xfrm>
          <a:prstGeom prst="roundRect">
            <a:avLst>
              <a:gd name="adj" fmla="val 4000"/>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4" name="Text 12"/>
          <p:cNvSpPr/>
          <p:nvPr/>
        </p:nvSpPr>
        <p:spPr>
          <a:xfrm>
            <a:off x="777240" y="4544568"/>
            <a:ext cx="106070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661–678 (estratto)</a:t>
            </a:r>
            <a:endParaRPr lang="en-US" sz="1000" dirty="0"/>
          </a:p>
        </p:txBody>
      </p:sp>
      <p:sp>
        <p:nvSpPr>
          <p:cNvPr id="15" name="Text 13"/>
          <p:cNvSpPr/>
          <p:nvPr/>
        </p:nvSpPr>
        <p:spPr>
          <a:xfrm>
            <a:off x="777240" y="4846320"/>
            <a:ext cx="10607040" cy="1234440"/>
          </a:xfrm>
          <a:prstGeom prst="rect">
            <a:avLst/>
          </a:prstGeom>
          <a:noFill/>
          <a:ln/>
        </p:spPr>
        <p:txBody>
          <a:bodyPr wrap="square" lIns="0" tIns="0" rIns="0" bIns="0" rtlCol="0" anchor="t"/>
          <a:lstStyle/>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def _v_BinOpNode(self, node):  # estratto</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lt, rt = self._visit(node.left), self._visit(node.right)</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if node.op in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if not self._compatible(lt, rt):</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self._err("tipi incompatibili..."); return None</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return self._result_type(lt, rt)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3</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SEMANTICA</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23</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STRATEGIA DI ERROR REPORTING</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Accumulo di tutti gli errori, non stop al primo</a:t>
            </a:r>
            <a:endParaRPr lang="en-US" sz="2800" dirty="0"/>
          </a:p>
        </p:txBody>
      </p:sp>
      <p:sp>
        <p:nvSpPr>
          <p:cNvPr id="9" name="Shape 7"/>
          <p:cNvSpPr/>
          <p:nvPr/>
        </p:nvSpPr>
        <p:spPr>
          <a:xfrm>
            <a:off x="548640" y="1463040"/>
            <a:ext cx="5943600" cy="2606040"/>
          </a:xfrm>
          <a:prstGeom prst="roundRect">
            <a:avLst>
              <a:gd name="adj" fmla="val 2807"/>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48640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535–548</a:t>
            </a:r>
            <a:endParaRPr lang="en-US" sz="1000" dirty="0"/>
          </a:p>
        </p:txBody>
      </p:sp>
      <p:sp>
        <p:nvSpPr>
          <p:cNvPr id="11" name="Text 9"/>
          <p:cNvSpPr/>
          <p:nvPr/>
        </p:nvSpPr>
        <p:spPr>
          <a:xfrm>
            <a:off x="777240" y="1874520"/>
            <a:ext cx="5486400" cy="2011680"/>
          </a:xfrm>
          <a:prstGeom prst="rect">
            <a:avLst/>
          </a:prstGeom>
          <a:noFill/>
          <a:ln/>
        </p:spPr>
        <p:txBody>
          <a:bodyPr wrap="square" lIns="0" tIns="0" rIns="0" bIns="0" rtlCol="0" anchor="t"/>
          <a:lstStyle/>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class SemanticAnalyzer:</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def __init__(self):</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self.errors: List[str] =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def _err(self, msg: str):</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self.errors.append(msg)</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def analyze(self, node) -&gt; bool:</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self._visit(node)</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return len(self.errors) == 0</a:t>
            </a:r>
            <a:endParaRPr lang="en-US" sz="1200" dirty="0"/>
          </a:p>
        </p:txBody>
      </p:sp>
      <p:sp>
        <p:nvSpPr>
          <p:cNvPr id="12" name="Text 10"/>
          <p:cNvSpPr/>
          <p:nvPr/>
        </p:nvSpPr>
        <p:spPr>
          <a:xfrm>
            <a:off x="6675120" y="1554480"/>
            <a:ext cx="4937760" cy="237744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161B26"/>
                </a:solidFill>
                <a:latin typeface="Calibri" pitchFamily="34" charset="0"/>
                <a:ea typeface="Calibri" pitchFamily="34" charset="-122"/>
                <a:cs typeface="Calibri" pitchFamily="34" charset="-120"/>
              </a:rPr>
              <a:t>Ogni controllo semantico fallito chiama self._err(...), che accumula il messaggio invece di interrompere la visita</a:t>
            </a:r>
            <a:endParaRPr lang="en-US" sz="1350" dirty="0"/>
          </a:p>
          <a:p>
            <a:pPr marL="342900" indent="-342900">
              <a:spcAft>
                <a:spcPts val="1200"/>
              </a:spcAft>
              <a:buSzPct val="100000"/>
              <a:buChar char="•"/>
            </a:pPr>
            <a:r>
              <a:rPr lang="en-US" sz="1350" dirty="0">
                <a:solidFill>
                  <a:srgbClr val="161B26"/>
                </a:solidFill>
                <a:latin typeface="Calibri" pitchFamily="34" charset="0"/>
                <a:ea typeface="Calibri" pitchFamily="34" charset="-122"/>
                <a:cs typeface="Calibri" pitchFamily="34" charset="-120"/>
              </a:rPr>
              <a:t>Al termine, compile_cro() solleva ValueError con TUTTI gli errori concatenati</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Comportamento allineato ai compilatori di produzione (gcc), che tipicamente non si fermano al primo errore</a:t>
            </a:r>
            <a:endParaRPr lang="en-US" sz="1350" dirty="0"/>
          </a:p>
        </p:txBody>
      </p:sp>
      <p:sp>
        <p:nvSpPr>
          <p:cNvPr id="13" name="Shape 11"/>
          <p:cNvSpPr/>
          <p:nvPr/>
        </p:nvSpPr>
        <p:spPr>
          <a:xfrm>
            <a:off x="548640" y="4251960"/>
            <a:ext cx="11064240" cy="2103120"/>
          </a:xfrm>
          <a:prstGeom prst="roundRect">
            <a:avLst>
              <a:gd name="adj" fmla="val 3478"/>
            </a:avLst>
          </a:prstGeom>
          <a:solidFill>
            <a:srgbClr val="CFFAF3"/>
          </a:solidFill>
          <a:ln/>
        </p:spPr>
        <p:txBody>
          <a:bodyPr/>
          <a:lstStyle/>
          <a:p>
            <a:endParaRPr lang="en-GB"/>
          </a:p>
        </p:txBody>
      </p:sp>
      <p:sp>
        <p:nvSpPr>
          <p:cNvPr id="14" name="Text 12"/>
          <p:cNvSpPr/>
          <p:nvPr/>
        </p:nvSpPr>
        <p:spPr>
          <a:xfrm>
            <a:off x="777240" y="4416552"/>
            <a:ext cx="1060704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PROVA DIRETTA: errore.cro → 9 errori, UNA passata</a:t>
            </a:r>
            <a:endParaRPr lang="en-US" sz="1300" dirty="0"/>
          </a:p>
        </p:txBody>
      </p:sp>
      <p:sp>
        <p:nvSpPr>
          <p:cNvPr id="15" name="Text 13"/>
          <p:cNvSpPr/>
          <p:nvPr/>
        </p:nvSpPr>
        <p:spPr>
          <a:xfrm>
            <a:off x="777240" y="4754880"/>
            <a:ext cx="10607040" cy="141732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Identificatore non dichiarato: 'valore_fantasma'.   •   'x' già dichiarato nello scope 'fun:main'.</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Assegnazione a costante: 'MAX'.   •   Condizione 'if' non booleana (trovato 'int').</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Aritmetica '+': tipi incompatibili 'int' e 'bool'.   •   'somma': attesi 2 arg, dati 1.</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...e altri 4 errori (numero argomenti, funzione ignota, scanef senza &amp;, &amp; su costante) — vedi Sezione 6.</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1371600" y="4114800"/>
            <a:ext cx="3657600" cy="3657600"/>
          </a:xfrm>
          <a:prstGeom prst="ellipse">
            <a:avLst/>
          </a:prstGeom>
          <a:solidFill>
            <a:srgbClr val="1F2937"/>
          </a:solidFill>
          <a:ln/>
        </p:spPr>
        <p:txBody>
          <a:bodyPr/>
          <a:lstStyle/>
          <a:p>
            <a:endParaRPr lang="en-GB"/>
          </a:p>
        </p:txBody>
      </p:sp>
      <p:sp>
        <p:nvSpPr>
          <p:cNvPr id="3" name="Text 1"/>
          <p:cNvSpPr/>
          <p:nvPr/>
        </p:nvSpPr>
        <p:spPr>
          <a:xfrm>
            <a:off x="822960" y="2286000"/>
            <a:ext cx="2743200" cy="1371600"/>
          </a:xfrm>
          <a:prstGeom prst="rect">
            <a:avLst/>
          </a:prstGeom>
          <a:noFill/>
          <a:ln/>
        </p:spPr>
        <p:txBody>
          <a:bodyPr wrap="square" lIns="0" tIns="0" rIns="0" bIns="0" rtlCol="0" anchor="ctr"/>
          <a:lstStyle/>
          <a:p>
            <a:pPr marL="0" indent="0">
              <a:buNone/>
            </a:pPr>
            <a:r>
              <a:rPr lang="en-US" sz="8000" b="1" dirty="0">
                <a:solidFill>
                  <a:srgbClr val="2DD4BF"/>
                </a:solidFill>
                <a:latin typeface="Cambria" pitchFamily="34" charset="0"/>
                <a:ea typeface="Cambria" pitchFamily="34" charset="-122"/>
                <a:cs typeface="Cambria" pitchFamily="34" charset="-120"/>
              </a:rPr>
              <a:t>04</a:t>
            </a:r>
            <a:endParaRPr lang="en-US" sz="8000" dirty="0"/>
          </a:p>
        </p:txBody>
      </p:sp>
      <p:sp>
        <p:nvSpPr>
          <p:cNvPr id="4" name="Text 2"/>
          <p:cNvSpPr/>
          <p:nvPr/>
        </p:nvSpPr>
        <p:spPr>
          <a:xfrm>
            <a:off x="3108960" y="2560320"/>
            <a:ext cx="7772400" cy="11887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Generazione del Codice</a:t>
            </a:r>
            <a:endParaRPr lang="en-US" sz="3600" dirty="0"/>
          </a:p>
        </p:txBody>
      </p:sp>
      <p:sp>
        <p:nvSpPr>
          <p:cNvPr id="5" name="Text 3"/>
          <p:cNvSpPr/>
          <p:nvPr/>
        </p:nvSpPr>
        <p:spPr>
          <a:xfrm>
            <a:off x="3154680" y="3657600"/>
            <a:ext cx="5486400" cy="365760"/>
          </a:xfrm>
          <a:prstGeom prst="rect">
            <a:avLst/>
          </a:prstGeom>
          <a:noFill/>
          <a:ln/>
        </p:spPr>
        <p:txBody>
          <a:bodyPr wrap="square" lIns="0" tIns="0" rIns="0" bIns="0" rtlCol="0" anchor="ctr"/>
          <a:lstStyle/>
          <a:p>
            <a:pPr marL="0" indent="0">
              <a:buNone/>
            </a:pPr>
            <a:r>
              <a:rPr lang="en-US" sz="1300" dirty="0">
                <a:solidFill>
                  <a:srgbClr val="8B96A8"/>
                </a:solidFill>
                <a:latin typeface="Courier New" pitchFamily="34" charset="0"/>
                <a:ea typeface="Courier New" pitchFamily="34" charset="-122"/>
                <a:cs typeface="Courier New" pitchFamily="34" charset="-120"/>
              </a:rPr>
              <a:t>compilatore_cro.py — righe 786–916</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4</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CODE GEN</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25</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PATTERN ARCHITETTURALE</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Visitor con riflessione (getattr)</a:t>
            </a:r>
            <a:endParaRPr lang="en-US" sz="2800" dirty="0"/>
          </a:p>
        </p:txBody>
      </p:sp>
      <p:sp>
        <p:nvSpPr>
          <p:cNvPr id="9" name="Shape 7"/>
          <p:cNvSpPr/>
          <p:nvPr/>
        </p:nvSpPr>
        <p:spPr>
          <a:xfrm>
            <a:off x="548640" y="1463040"/>
            <a:ext cx="6309360" cy="4480560"/>
          </a:xfrm>
          <a:prstGeom prst="roundRect">
            <a:avLst>
              <a:gd name="adj" fmla="val 1633"/>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85216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798–805, 906–908 (estratto)</a:t>
            </a:r>
            <a:endParaRPr lang="en-US" sz="1000" dirty="0"/>
          </a:p>
        </p:txBody>
      </p:sp>
      <p:sp>
        <p:nvSpPr>
          <p:cNvPr id="11" name="Text 9"/>
          <p:cNvSpPr/>
          <p:nvPr/>
        </p:nvSpPr>
        <p:spPr>
          <a:xfrm>
            <a:off x="777240" y="1874520"/>
            <a:ext cx="5852160" cy="3886200"/>
          </a:xfrm>
          <a:prstGeom prst="rect">
            <a:avLst/>
          </a:prstGeom>
          <a:noFill/>
          <a:ln/>
        </p:spPr>
        <p:txBody>
          <a:bodyPr wrap="square" lIns="0" tIns="0" rIns="0" bIns="0" rtlCol="0" anchor="t"/>
          <a:lstStyle/>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class CodeGenerator:</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def generate(self, 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self._v(node)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def _v(self, node) -&gt; str:</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method = getattr(</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self,</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f'_v_{node.__class__.__name__}',</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self._generic)</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method(node)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def _v_BinOpNode(self, node):</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(f"({self._v(node.left)}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f"{node.op}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f"{self._v(node.right)})")</a:t>
            </a:r>
            <a:endParaRPr lang="en-US" sz="1250" dirty="0"/>
          </a:p>
        </p:txBody>
      </p:sp>
      <p:sp>
        <p:nvSpPr>
          <p:cNvPr id="12" name="Text 10"/>
          <p:cNvSpPr/>
          <p:nvPr/>
        </p:nvSpPr>
        <p:spPr>
          <a:xfrm>
            <a:off x="7086600" y="1554480"/>
            <a:ext cx="4526280" cy="4389120"/>
          </a:xfrm>
          <a:prstGeom prst="rect">
            <a:avLst/>
          </a:prstGeom>
          <a:noFill/>
          <a:ln/>
        </p:spPr>
        <p:txBody>
          <a:bodyPr wrap="square" lIns="0" tIns="0" rIns="0" bIns="0" rtlCol="0" anchor="t"/>
          <a:lstStyle/>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Stesso pattern usato in SemanticAnalyzer (metodi _v_*) e — come da esempio nella specifica — nel CodeGeneratorVisitor di riferimento (EILP §5.2)</a:t>
            </a:r>
            <a:endParaRPr lang="en-US" sz="1350" dirty="0"/>
          </a:p>
          <a:p>
            <a:pPr marL="342900" indent="-342900">
              <a:spcAft>
                <a:spcPts val="1400"/>
              </a:spcAft>
              <a:buSzPct val="100000"/>
              <a:buChar char="•"/>
            </a:pPr>
            <a:r>
              <a:rPr lang="en-US" sz="1350" dirty="0">
                <a:solidFill>
                  <a:srgbClr val="161B26"/>
                </a:solidFill>
                <a:latin typeface="Calibri" pitchFamily="34" charset="0"/>
                <a:ea typeface="Calibri" pitchFamily="34" charset="-122"/>
                <a:cs typeface="Calibri" pitchFamily="34" charset="-120"/>
              </a:rPr>
              <a:t>Nessun double dispatch né metodo accept() nei nodi: i nodi restano contenitori di dati puri (vedi Sezione 2)</a:t>
            </a:r>
            <a:endParaRPr lang="en-US" sz="1350" dirty="0"/>
          </a:p>
          <a:p>
            <a:pPr marL="342900" indent="-342900">
              <a:buSzPct val="100000"/>
              <a:buChar char="•"/>
            </a:pPr>
            <a:r>
              <a:rPr lang="en-US" sz="1350" dirty="0">
                <a:solidFill>
                  <a:srgbClr val="161B26"/>
                </a:solidFill>
                <a:latin typeface="Calibri" pitchFamily="34" charset="0"/>
                <a:ea typeface="Calibri" pitchFamily="34" charset="-122"/>
                <a:cs typeface="Calibri" pitchFamily="34" charset="-120"/>
              </a:rPr>
              <a:t>Aggiungere un nuovo costrutto richiede un solo nuovo metodo _v_NuovoNodo, senza toccare gli altri</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4</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CODE GEN</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26</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BUG EVITATO IN FASE DI SVILUPPO</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Indentazione relativa, non un contatore globale</a:t>
            </a:r>
            <a:endParaRPr lang="en-US" sz="2800" dirty="0"/>
          </a:p>
        </p:txBody>
      </p:sp>
      <p:sp>
        <p:nvSpPr>
          <p:cNvPr id="9" name="Shape 7"/>
          <p:cNvSpPr/>
          <p:nvPr/>
        </p:nvSpPr>
        <p:spPr>
          <a:xfrm>
            <a:off x="548640" y="1463040"/>
            <a:ext cx="6400800" cy="3063240"/>
          </a:xfrm>
          <a:prstGeom prst="roundRect">
            <a:avLst>
              <a:gd name="adj" fmla="val 2388"/>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94360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righe 813–823 (estratto)</a:t>
            </a:r>
            <a:endParaRPr lang="en-US" sz="1000" dirty="0"/>
          </a:p>
        </p:txBody>
      </p:sp>
      <p:sp>
        <p:nvSpPr>
          <p:cNvPr id="11" name="Text 9"/>
          <p:cNvSpPr/>
          <p:nvPr/>
        </p:nvSpPr>
        <p:spPr>
          <a:xfrm>
            <a:off x="777240" y="1874520"/>
            <a:ext cx="5943600" cy="2468880"/>
          </a:xfrm>
          <a:prstGeom prst="rect">
            <a:avLst/>
          </a:prstGeom>
          <a:noFill/>
          <a:ln/>
        </p:spPr>
        <p:txBody>
          <a:bodyPr wrap="square" lIns="0" tIns="0" rIns="0" bIns="0" rtlCol="0" anchor="t"/>
          <a:lstStyle/>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@staticmethod</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def _indent_lines(text, levels=1):</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prefix = '    ' * levels</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return '\n'.join(</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(prefix+l) if l.strip() else l</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for l in text.splitlines())</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def _v_BlockNode(self, node):</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stmts = '\n'.join(</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self._indent_lines(self._v(s))</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for s in node.statements)</a:t>
            </a:r>
            <a:endParaRPr lang="en-US" sz="1200" dirty="0"/>
          </a:p>
          <a:p>
            <a:pPr marL="0" indent="0">
              <a:lnSpc>
                <a:spcPct val="112000"/>
              </a:lnSpc>
              <a:buNone/>
            </a:pPr>
            <a:r>
              <a:rPr lang="en-US" sz="1200" dirty="0">
                <a:solidFill>
                  <a:srgbClr val="D7FCEF"/>
                </a:solidFill>
                <a:latin typeface="Courier New" pitchFamily="34" charset="0"/>
                <a:ea typeface="Courier New" pitchFamily="34" charset="-122"/>
                <a:cs typeface="Courier New" pitchFamily="34" charset="-120"/>
              </a:rPr>
              <a:t>    return '{'+'\n'+stmts+'\n'+'}'</a:t>
            </a:r>
            <a:endParaRPr lang="en-US" sz="1200" dirty="0"/>
          </a:p>
        </p:txBody>
      </p:sp>
      <p:sp>
        <p:nvSpPr>
          <p:cNvPr id="12" name="Text 10"/>
          <p:cNvSpPr/>
          <p:nvPr/>
        </p:nvSpPr>
        <p:spPr>
          <a:xfrm>
            <a:off x="7178040" y="1554480"/>
            <a:ext cx="4434840" cy="30175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61B26"/>
                </a:solidFill>
                <a:latin typeface="Calibri" pitchFamily="34" charset="0"/>
                <a:ea typeface="Calibri" pitchFamily="34" charset="-122"/>
                <a:cs typeface="Calibri" pitchFamily="34" charset="-120"/>
              </a:rPr>
              <a:t>Ogni metodo _v_* restituisce una stringa con la PRIMA riga a colonna 0</a:t>
            </a:r>
            <a:endParaRPr lang="en-US" sz="1300" dirty="0"/>
          </a:p>
          <a:p>
            <a:pPr marL="342900" indent="-342900">
              <a:spcAft>
                <a:spcPts val="1000"/>
              </a:spcAft>
              <a:buSzPct val="100000"/>
              <a:buChar char="•"/>
            </a:pPr>
            <a:r>
              <a:rPr lang="en-US" sz="1300" dirty="0">
                <a:solidFill>
                  <a:srgbClr val="161B26"/>
                </a:solidFill>
                <a:latin typeface="Calibri" pitchFamily="34" charset="0"/>
                <a:ea typeface="Calibri" pitchFamily="34" charset="-122"/>
                <a:cs typeface="Calibri" pitchFamily="34" charset="-120"/>
              </a:rPr>
              <a:t>Il contenuto interno è indentato di un livello relativo dal metodo stesso</a:t>
            </a:r>
            <a:endParaRPr lang="en-US" sz="1300" dirty="0"/>
          </a:p>
          <a:p>
            <a:pPr marL="342900" indent="-342900">
              <a:buSzPct val="100000"/>
              <a:buChar char="•"/>
            </a:pPr>
            <a:r>
              <a:rPr lang="en-US" sz="1300" dirty="0">
                <a:solidFill>
                  <a:srgbClr val="161B26"/>
                </a:solidFill>
                <a:latin typeface="Calibri" pitchFamily="34" charset="0"/>
                <a:ea typeface="Calibri" pitchFamily="34" charset="-122"/>
                <a:cs typeface="Calibri" pitchFamily="34" charset="-120"/>
              </a:rPr>
              <a:t>Quando il chiamante inserisce questa stringa in un contesto già indentato, l'INTERO blocco si sposta uniformemente</a:t>
            </a:r>
            <a:endParaRPr lang="en-US" sz="1300" dirty="0"/>
          </a:p>
        </p:txBody>
      </p:sp>
      <p:sp>
        <p:nvSpPr>
          <p:cNvPr id="13" name="Shape 11"/>
          <p:cNvSpPr/>
          <p:nvPr/>
        </p:nvSpPr>
        <p:spPr>
          <a:xfrm>
            <a:off x="548640" y="4663440"/>
            <a:ext cx="11064240" cy="1280160"/>
          </a:xfrm>
          <a:prstGeom prst="roundRect">
            <a:avLst>
              <a:gd name="adj" fmla="val 5714"/>
            </a:avLst>
          </a:prstGeom>
          <a:solidFill>
            <a:srgbClr val="FDECC8"/>
          </a:solidFill>
          <a:ln/>
        </p:spPr>
        <p:txBody>
          <a:bodyPr/>
          <a:lstStyle/>
          <a:p>
            <a:endParaRPr lang="en-GB"/>
          </a:p>
        </p:txBody>
      </p:sp>
      <p:sp>
        <p:nvSpPr>
          <p:cNvPr id="14" name="Text 12"/>
          <p:cNvSpPr/>
          <p:nvPr/>
        </p:nvSpPr>
        <p:spPr>
          <a:xfrm>
            <a:off x="777240" y="4828032"/>
            <a:ext cx="10607040" cy="32004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PERCHÉ NON UN self._indent +=1 / -=1 GLOBALE</a:t>
            </a:r>
            <a:endParaRPr lang="en-US" sz="1300" dirty="0"/>
          </a:p>
        </p:txBody>
      </p:sp>
      <p:sp>
        <p:nvSpPr>
          <p:cNvPr id="15" name="Text 13"/>
          <p:cNvSpPr/>
          <p:nvPr/>
        </p:nvSpPr>
        <p:spPr>
          <a:xfrm>
            <a:off x="777240" y="5166360"/>
            <a:ext cx="10607040" cy="59436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Una prima versione usava un contatore di profondità condiviso, che raddoppiava l'indentazione nei costrutti annidati su più livelli (es. uno switch dentro un for dentro capo). Lo schema relativo elimina il problema per costruzione. Documentato in EILP.tex §6.6.</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4</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CODE GEN</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27</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ESEMPIO END-TO-END</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Da sorgente C-ro a C standard</a:t>
            </a:r>
            <a:endParaRPr lang="en-US" sz="2800" dirty="0"/>
          </a:p>
        </p:txBody>
      </p:sp>
      <p:sp>
        <p:nvSpPr>
          <p:cNvPr id="9" name="Shape 7"/>
          <p:cNvSpPr/>
          <p:nvPr/>
        </p:nvSpPr>
        <p:spPr>
          <a:xfrm>
            <a:off x="548640" y="1554480"/>
            <a:ext cx="5394960" cy="3200400"/>
          </a:xfrm>
          <a:prstGeom prst="roundRect">
            <a:avLst>
              <a:gd name="adj" fmla="val 2286"/>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664208"/>
            <a:ext cx="493776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input — sorgente .cro</a:t>
            </a:r>
            <a:endParaRPr lang="en-US" sz="1000" dirty="0"/>
          </a:p>
        </p:txBody>
      </p:sp>
      <p:sp>
        <p:nvSpPr>
          <p:cNvPr id="11" name="Text 9"/>
          <p:cNvSpPr/>
          <p:nvPr/>
        </p:nvSpPr>
        <p:spPr>
          <a:xfrm>
            <a:off x="777240" y="1965960"/>
            <a:ext cx="4937760" cy="2606040"/>
          </a:xfrm>
          <a:prstGeom prst="rect">
            <a:avLst/>
          </a:prstGeom>
          <a:noFill/>
          <a:ln/>
        </p:spPr>
        <p:txBody>
          <a:bodyPr wrap="square" lIns="0" tIns="0" rIns="0" bIns="0" rtlCol="0" anchor="t"/>
          <a:lstStyle/>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funzion nummero doppio(nummero x) {</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torn x + x;</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nummero capo() {</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nummero r = doppio(5);</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stambf("%d\n", r);</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    torn 0;</a:t>
            </a:r>
            <a:endParaRPr lang="en-US" sz="1400" dirty="0"/>
          </a:p>
          <a:p>
            <a:pPr marL="0" indent="0">
              <a:lnSpc>
                <a:spcPct val="112000"/>
              </a:lnSpc>
              <a:buNone/>
            </a:pPr>
            <a:r>
              <a:rPr lang="en-US" sz="1400" dirty="0">
                <a:solidFill>
                  <a:srgbClr val="D7FCEF"/>
                </a:solidFill>
                <a:latin typeface="Courier New" pitchFamily="34" charset="0"/>
                <a:ea typeface="Courier New" pitchFamily="34" charset="-122"/>
                <a:cs typeface="Courier New" pitchFamily="34" charset="-120"/>
              </a:rPr>
              <a:t>}</a:t>
            </a:r>
            <a:endParaRPr lang="en-US" sz="1400" dirty="0"/>
          </a:p>
        </p:txBody>
      </p:sp>
      <p:sp>
        <p:nvSpPr>
          <p:cNvPr id="12" name="Text 10"/>
          <p:cNvSpPr/>
          <p:nvPr/>
        </p:nvSpPr>
        <p:spPr>
          <a:xfrm>
            <a:off x="5989320" y="2743200"/>
            <a:ext cx="640080" cy="914400"/>
          </a:xfrm>
          <a:prstGeom prst="rect">
            <a:avLst/>
          </a:prstGeom>
          <a:noFill/>
          <a:ln/>
        </p:spPr>
        <p:txBody>
          <a:bodyPr wrap="square" lIns="0" tIns="0" rIns="0" bIns="0" rtlCol="0" anchor="ctr"/>
          <a:lstStyle/>
          <a:p>
            <a:pPr marL="0" indent="0" algn="ctr">
              <a:buNone/>
            </a:pPr>
            <a:r>
              <a:rPr lang="en-US" sz="2800" b="1" dirty="0">
                <a:solidFill>
                  <a:srgbClr val="2DD4BF"/>
                </a:solidFill>
                <a:latin typeface="Calibri" pitchFamily="34" charset="0"/>
                <a:ea typeface="Calibri" pitchFamily="34" charset="-122"/>
                <a:cs typeface="Calibri" pitchFamily="34" charset="-120"/>
              </a:rPr>
              <a:t>→</a:t>
            </a:r>
            <a:endParaRPr lang="en-US" sz="2800" dirty="0"/>
          </a:p>
        </p:txBody>
      </p:sp>
      <p:sp>
        <p:nvSpPr>
          <p:cNvPr id="13" name="Shape 11"/>
          <p:cNvSpPr/>
          <p:nvPr/>
        </p:nvSpPr>
        <p:spPr>
          <a:xfrm>
            <a:off x="6675120" y="1554480"/>
            <a:ext cx="4937760" cy="3200400"/>
          </a:xfrm>
          <a:prstGeom prst="roundRect">
            <a:avLst>
              <a:gd name="adj" fmla="val 2286"/>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4" name="Text 12"/>
          <p:cNvSpPr/>
          <p:nvPr/>
        </p:nvSpPr>
        <p:spPr>
          <a:xfrm>
            <a:off x="6903720" y="1664208"/>
            <a:ext cx="448056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output — compilabile con gcc</a:t>
            </a:r>
            <a:endParaRPr lang="en-US" sz="1000" dirty="0"/>
          </a:p>
        </p:txBody>
      </p:sp>
      <p:sp>
        <p:nvSpPr>
          <p:cNvPr id="15" name="Text 13"/>
          <p:cNvSpPr/>
          <p:nvPr/>
        </p:nvSpPr>
        <p:spPr>
          <a:xfrm>
            <a:off x="6903720" y="1965960"/>
            <a:ext cx="4480560" cy="2606040"/>
          </a:xfrm>
          <a:prstGeom prst="rect">
            <a:avLst/>
          </a:prstGeom>
          <a:noFill/>
          <a:ln/>
        </p:spPr>
        <p:txBody>
          <a:bodyPr wrap="square" lIns="0" tIns="0" rIns="0" bIns="0" rtlCol="0" anchor="t"/>
          <a:lstStyle/>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#include &lt;stdio.h&gt;</a:t>
            </a:r>
            <a:endParaRPr lang="en-US" sz="1250" dirty="0"/>
          </a:p>
          <a:p>
            <a:pPr marL="0" indent="0">
              <a:lnSpc>
                <a:spcPct val="112000"/>
              </a:lnSpc>
              <a:buNone/>
            </a:pPr>
            <a:r>
              <a:rPr lang="en-US" sz="1250" i="1" dirty="0">
                <a:solidFill>
                  <a:srgbClr val="8B9AAE"/>
                </a:solidFill>
                <a:latin typeface="Courier New" pitchFamily="34" charset="0"/>
                <a:ea typeface="Courier New" pitchFamily="34" charset="-122"/>
                <a:cs typeface="Courier New" pitchFamily="34" charset="-120"/>
              </a:rPr>
              <a:t>#include &lt;stdbool.h&gt;</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int doppio(int x)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(x + x);</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int main(void) {</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int r = doppio(5);</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printf("%d\n", r);</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return 0;</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a:t>
            </a:r>
            <a:endParaRPr lang="en-US" sz="1250" dirty="0"/>
          </a:p>
        </p:txBody>
      </p:sp>
      <p:sp>
        <p:nvSpPr>
          <p:cNvPr id="16" name="Shape 14"/>
          <p:cNvSpPr/>
          <p:nvPr/>
        </p:nvSpPr>
        <p:spPr>
          <a:xfrm>
            <a:off x="548640" y="4937760"/>
            <a:ext cx="11064240" cy="1188720"/>
          </a:xfrm>
          <a:prstGeom prst="roundRect">
            <a:avLst>
              <a:gd name="adj" fmla="val 6154"/>
            </a:avLst>
          </a:prstGeom>
          <a:solidFill>
            <a:srgbClr val="CFFAF3"/>
          </a:solidFill>
          <a:ln/>
        </p:spPr>
        <p:txBody>
          <a:bodyPr/>
          <a:lstStyle/>
          <a:p>
            <a:endParaRPr lang="en-GB"/>
          </a:p>
        </p:txBody>
      </p:sp>
      <p:sp>
        <p:nvSpPr>
          <p:cNvPr id="17" name="Text 15"/>
          <p:cNvSpPr/>
          <p:nvPr/>
        </p:nvSpPr>
        <p:spPr>
          <a:xfrm>
            <a:off x="777240" y="5102352"/>
            <a:ext cx="1060704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VERIFICATO REALMENTE, NON SOLO GENERATO</a:t>
            </a:r>
            <a:endParaRPr lang="en-US" sz="1300" dirty="0"/>
          </a:p>
        </p:txBody>
      </p:sp>
      <p:sp>
        <p:nvSpPr>
          <p:cNvPr id="18" name="Text 16"/>
          <p:cNvSpPr/>
          <p:nvPr/>
        </p:nvSpPr>
        <p:spPr>
          <a:xfrm>
            <a:off x="777240" y="5440680"/>
            <a:ext cx="10607040" cy="50292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gcc -Wall -Wextra -o doppio doppio.c → ZERO warning. Eseguito: stampa correttamente "10". Stessa verifica applicata a tutti i 43 test della suite (Sezione 6).</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1371600" y="4114800"/>
            <a:ext cx="3657600" cy="3657600"/>
          </a:xfrm>
          <a:prstGeom prst="ellipse">
            <a:avLst/>
          </a:prstGeom>
          <a:solidFill>
            <a:srgbClr val="1F2937"/>
          </a:solidFill>
          <a:ln/>
        </p:spPr>
        <p:txBody>
          <a:bodyPr/>
          <a:lstStyle/>
          <a:p>
            <a:endParaRPr lang="en-GB"/>
          </a:p>
        </p:txBody>
      </p:sp>
      <p:sp>
        <p:nvSpPr>
          <p:cNvPr id="3" name="Text 1"/>
          <p:cNvSpPr/>
          <p:nvPr/>
        </p:nvSpPr>
        <p:spPr>
          <a:xfrm>
            <a:off x="822960" y="2286000"/>
            <a:ext cx="2743200" cy="1371600"/>
          </a:xfrm>
          <a:prstGeom prst="rect">
            <a:avLst/>
          </a:prstGeom>
          <a:noFill/>
          <a:ln/>
        </p:spPr>
        <p:txBody>
          <a:bodyPr wrap="square" lIns="0" tIns="0" rIns="0" bIns="0" rtlCol="0" anchor="ctr"/>
          <a:lstStyle/>
          <a:p>
            <a:pPr marL="0" indent="0">
              <a:buNone/>
            </a:pPr>
            <a:r>
              <a:rPr lang="en-US" sz="8000" b="1" dirty="0">
                <a:solidFill>
                  <a:srgbClr val="2DD4BF"/>
                </a:solidFill>
                <a:latin typeface="Cambria" pitchFamily="34" charset="0"/>
                <a:ea typeface="Cambria" pitchFamily="34" charset="-122"/>
                <a:cs typeface="Cambria" pitchFamily="34" charset="-120"/>
              </a:rPr>
              <a:t>05</a:t>
            </a:r>
            <a:endParaRPr lang="en-US" sz="8000" dirty="0"/>
          </a:p>
        </p:txBody>
      </p:sp>
      <p:sp>
        <p:nvSpPr>
          <p:cNvPr id="4" name="Text 2"/>
          <p:cNvSpPr/>
          <p:nvPr/>
        </p:nvSpPr>
        <p:spPr>
          <a:xfrm>
            <a:off x="3108960" y="2286000"/>
            <a:ext cx="7772400" cy="164592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Test e Programmi</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Dimostrativi</a:t>
            </a:r>
            <a:endParaRPr lang="en-US" sz="3600" dirty="0"/>
          </a:p>
        </p:txBody>
      </p:sp>
      <p:sp>
        <p:nvSpPr>
          <p:cNvPr id="5" name="Text 3"/>
          <p:cNvSpPr/>
          <p:nvPr/>
        </p:nvSpPr>
        <p:spPr>
          <a:xfrm>
            <a:off x="3154680" y="3840480"/>
            <a:ext cx="7315200" cy="365760"/>
          </a:xfrm>
          <a:prstGeom prst="rect">
            <a:avLst/>
          </a:prstGeom>
          <a:noFill/>
          <a:ln/>
        </p:spPr>
        <p:txBody>
          <a:bodyPr wrap="square" lIns="0" tIns="0" rIns="0" bIns="0" rtlCol="0" anchor="ctr"/>
          <a:lstStyle/>
          <a:p>
            <a:pPr marL="0" indent="0">
              <a:buNone/>
            </a:pPr>
            <a:r>
              <a:rPr lang="en-US" sz="1300" dirty="0">
                <a:solidFill>
                  <a:srgbClr val="8B96A8"/>
                </a:solidFill>
                <a:latin typeface="Courier New" pitchFamily="34" charset="0"/>
                <a:ea typeface="Courier New" pitchFamily="34" charset="-122"/>
                <a:cs typeface="Courier New" pitchFamily="34" charset="-120"/>
              </a:rPr>
              <a:t>test_suite.py · calcolatrice.cro · errore.cro</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5</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TEST</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29</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VALIDAZIONE AUTOMATIZZATA</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43 test in due livelli</a:t>
            </a:r>
            <a:endParaRPr lang="en-US" sz="2800" dirty="0"/>
          </a:p>
        </p:txBody>
      </p:sp>
      <p:sp>
        <p:nvSpPr>
          <p:cNvPr id="9" name="Shape 7"/>
          <p:cNvSpPr/>
          <p:nvPr/>
        </p:nvSpPr>
        <p:spPr>
          <a:xfrm>
            <a:off x="548640" y="1600200"/>
            <a:ext cx="3520440" cy="1920240"/>
          </a:xfrm>
          <a:prstGeom prst="roundRect">
            <a:avLst>
              <a:gd name="adj" fmla="val 4762"/>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548640" y="1737360"/>
            <a:ext cx="3520440" cy="914400"/>
          </a:xfrm>
          <a:prstGeom prst="rect">
            <a:avLst/>
          </a:prstGeom>
          <a:noFill/>
          <a:ln/>
        </p:spPr>
        <p:txBody>
          <a:bodyPr wrap="square" lIns="0" tIns="0" rIns="0" bIns="0" rtlCol="0" anchor="ctr"/>
          <a:lstStyle/>
          <a:p>
            <a:pPr marL="0" indent="0" algn="ctr">
              <a:buNone/>
            </a:pPr>
            <a:r>
              <a:rPr lang="en-US" sz="5200" b="1" dirty="0">
                <a:solidFill>
                  <a:srgbClr val="2DD4BF"/>
                </a:solidFill>
                <a:latin typeface="Cambria" pitchFamily="34" charset="0"/>
                <a:ea typeface="Cambria" pitchFamily="34" charset="-122"/>
                <a:cs typeface="Cambria" pitchFamily="34" charset="-120"/>
              </a:rPr>
              <a:t>10</a:t>
            </a:r>
            <a:endParaRPr lang="en-US" sz="5200" dirty="0"/>
          </a:p>
        </p:txBody>
      </p:sp>
      <p:sp>
        <p:nvSpPr>
          <p:cNvPr id="11" name="Text 9"/>
          <p:cNvSpPr/>
          <p:nvPr/>
        </p:nvSpPr>
        <p:spPr>
          <a:xfrm>
            <a:off x="731520" y="2651760"/>
            <a:ext cx="3154680" cy="365760"/>
          </a:xfrm>
          <a:prstGeom prst="rect">
            <a:avLst/>
          </a:prstGeom>
          <a:noFill/>
          <a:ln/>
        </p:spPr>
        <p:txBody>
          <a:bodyPr wrap="square" lIns="0" tIns="0" rIns="0" bIns="0" rtlCol="0" anchor="ctr"/>
          <a:lstStyle/>
          <a:p>
            <a:pPr marL="0" indent="0" algn="ctr">
              <a:buNone/>
            </a:pPr>
            <a:r>
              <a:rPr lang="en-US" sz="1400" b="1" dirty="0">
                <a:solidFill>
                  <a:srgbClr val="161B26"/>
                </a:solidFill>
                <a:latin typeface="Calibri" pitchFamily="34" charset="0"/>
                <a:ea typeface="Calibri" pitchFamily="34" charset="-122"/>
                <a:cs typeface="Calibri" pitchFamily="34" charset="-120"/>
              </a:rPr>
              <a:t>self-test integrato</a:t>
            </a:r>
            <a:endParaRPr lang="en-US" sz="1400" dirty="0"/>
          </a:p>
        </p:txBody>
      </p:sp>
      <p:sp>
        <p:nvSpPr>
          <p:cNvPr id="12" name="Text 10"/>
          <p:cNvSpPr/>
          <p:nvPr/>
        </p:nvSpPr>
        <p:spPr>
          <a:xfrm>
            <a:off x="731520" y="3017520"/>
            <a:ext cx="3154680" cy="411480"/>
          </a:xfrm>
          <a:prstGeom prst="rect">
            <a:avLst/>
          </a:prstGeom>
          <a:noFill/>
          <a:ln/>
        </p:spPr>
        <p:txBody>
          <a:bodyPr wrap="square" lIns="0" tIns="0" rIns="0" bIns="0" rtlCol="0" anchor="ctr"/>
          <a:lstStyle/>
          <a:p>
            <a:pPr marL="0" indent="0" algn="ctr">
              <a:buNone/>
            </a:pPr>
            <a:r>
              <a:rPr lang="en-US" sz="1050" dirty="0">
                <a:solidFill>
                  <a:srgbClr val="5B6472"/>
                </a:solidFill>
                <a:latin typeface="Calibri" pitchFamily="34" charset="0"/>
                <a:ea typeface="Calibri" pitchFamily="34" charset="-122"/>
                <a:cs typeface="Calibri" pitchFamily="34" charset="-120"/>
              </a:rPr>
              <a:t>compilatore_cro.py --self-test</a:t>
            </a:r>
            <a:endParaRPr lang="en-US" sz="1050" dirty="0"/>
          </a:p>
        </p:txBody>
      </p:sp>
      <p:sp>
        <p:nvSpPr>
          <p:cNvPr id="13" name="Shape 11"/>
          <p:cNvSpPr/>
          <p:nvPr/>
        </p:nvSpPr>
        <p:spPr>
          <a:xfrm>
            <a:off x="4343400" y="1600200"/>
            <a:ext cx="3520440" cy="1920240"/>
          </a:xfrm>
          <a:prstGeom prst="roundRect">
            <a:avLst>
              <a:gd name="adj" fmla="val 4762"/>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4" name="Text 12"/>
          <p:cNvSpPr/>
          <p:nvPr/>
        </p:nvSpPr>
        <p:spPr>
          <a:xfrm>
            <a:off x="4343400" y="1737360"/>
            <a:ext cx="3520440" cy="914400"/>
          </a:xfrm>
          <a:prstGeom prst="rect">
            <a:avLst/>
          </a:prstGeom>
          <a:noFill/>
          <a:ln/>
        </p:spPr>
        <p:txBody>
          <a:bodyPr wrap="square" lIns="0" tIns="0" rIns="0" bIns="0" rtlCol="0" anchor="ctr"/>
          <a:lstStyle/>
          <a:p>
            <a:pPr marL="0" indent="0" algn="ctr">
              <a:buNone/>
            </a:pPr>
            <a:r>
              <a:rPr lang="en-US" sz="5200" b="1" dirty="0">
                <a:solidFill>
                  <a:srgbClr val="2DD4BF"/>
                </a:solidFill>
                <a:latin typeface="Cambria" pitchFamily="34" charset="0"/>
                <a:ea typeface="Cambria" pitchFamily="34" charset="-122"/>
                <a:cs typeface="Cambria" pitchFamily="34" charset="-120"/>
              </a:rPr>
              <a:t>35</a:t>
            </a:r>
            <a:endParaRPr lang="en-US" sz="5200" dirty="0"/>
          </a:p>
        </p:txBody>
      </p:sp>
      <p:sp>
        <p:nvSpPr>
          <p:cNvPr id="15" name="Text 13"/>
          <p:cNvSpPr/>
          <p:nvPr/>
        </p:nvSpPr>
        <p:spPr>
          <a:xfrm>
            <a:off x="4526280" y="2651760"/>
            <a:ext cx="3154680" cy="365760"/>
          </a:xfrm>
          <a:prstGeom prst="rect">
            <a:avLst/>
          </a:prstGeom>
          <a:noFill/>
          <a:ln/>
        </p:spPr>
        <p:txBody>
          <a:bodyPr wrap="square" lIns="0" tIns="0" rIns="0" bIns="0" rtlCol="0" anchor="ctr"/>
          <a:lstStyle/>
          <a:p>
            <a:pPr marL="0" indent="0" algn="ctr">
              <a:buNone/>
            </a:pPr>
            <a:r>
              <a:rPr lang="en-US" sz="1400" b="1" dirty="0">
                <a:solidFill>
                  <a:srgbClr val="161B26"/>
                </a:solidFill>
                <a:latin typeface="Calibri" pitchFamily="34" charset="0"/>
                <a:ea typeface="Calibri" pitchFamily="34" charset="-122"/>
                <a:cs typeface="Calibri" pitchFamily="34" charset="-120"/>
              </a:rPr>
              <a:t>test unitari</a:t>
            </a:r>
            <a:endParaRPr lang="en-US" sz="1400" dirty="0"/>
          </a:p>
        </p:txBody>
      </p:sp>
      <p:sp>
        <p:nvSpPr>
          <p:cNvPr id="16" name="Text 14"/>
          <p:cNvSpPr/>
          <p:nvPr/>
        </p:nvSpPr>
        <p:spPr>
          <a:xfrm>
            <a:off x="4526280" y="3017520"/>
            <a:ext cx="3154680" cy="411480"/>
          </a:xfrm>
          <a:prstGeom prst="rect">
            <a:avLst/>
          </a:prstGeom>
          <a:noFill/>
          <a:ln/>
        </p:spPr>
        <p:txBody>
          <a:bodyPr wrap="square" lIns="0" tIns="0" rIns="0" bIns="0" rtlCol="0" anchor="ctr"/>
          <a:lstStyle/>
          <a:p>
            <a:pPr marL="0" indent="0" algn="ctr">
              <a:buNone/>
            </a:pPr>
            <a:r>
              <a:rPr lang="en-US" sz="1050" dirty="0">
                <a:solidFill>
                  <a:srgbClr val="5B6472"/>
                </a:solidFill>
                <a:latin typeface="Calibri" pitchFamily="34" charset="0"/>
                <a:ea typeface="Calibri" pitchFamily="34" charset="-122"/>
                <a:cs typeface="Calibri" pitchFamily="34" charset="-120"/>
              </a:rPr>
              <a:t>1 per ogni costrutto del linguaggio</a:t>
            </a:r>
            <a:endParaRPr lang="en-US" sz="1050" dirty="0"/>
          </a:p>
        </p:txBody>
      </p:sp>
      <p:sp>
        <p:nvSpPr>
          <p:cNvPr id="17" name="Shape 15"/>
          <p:cNvSpPr/>
          <p:nvPr/>
        </p:nvSpPr>
        <p:spPr>
          <a:xfrm>
            <a:off x="8138160" y="1600200"/>
            <a:ext cx="3520440" cy="1920240"/>
          </a:xfrm>
          <a:prstGeom prst="roundRect">
            <a:avLst>
              <a:gd name="adj" fmla="val 4762"/>
            </a:avLst>
          </a:prstGeom>
          <a:solidFill>
            <a:srgbClr val="FFFFFF"/>
          </a:solidFill>
          <a:ln/>
          <a:effectLst>
            <a:outerShdw blurRad="101600" dist="38100" dir="5400000" algn="bl" rotWithShape="0">
              <a:srgbClr val="000000">
                <a:alpha val="18000"/>
              </a:srgbClr>
            </a:outerShdw>
          </a:effectLst>
        </p:spPr>
        <p:txBody>
          <a:bodyPr/>
          <a:lstStyle/>
          <a:p>
            <a:endParaRPr lang="en-GB"/>
          </a:p>
        </p:txBody>
      </p:sp>
      <p:sp>
        <p:nvSpPr>
          <p:cNvPr id="18" name="Text 16"/>
          <p:cNvSpPr/>
          <p:nvPr/>
        </p:nvSpPr>
        <p:spPr>
          <a:xfrm>
            <a:off x="8138160" y="1737360"/>
            <a:ext cx="3520440" cy="914400"/>
          </a:xfrm>
          <a:prstGeom prst="rect">
            <a:avLst/>
          </a:prstGeom>
          <a:noFill/>
          <a:ln/>
        </p:spPr>
        <p:txBody>
          <a:bodyPr wrap="square" lIns="0" tIns="0" rIns="0" bIns="0" rtlCol="0" anchor="ctr"/>
          <a:lstStyle/>
          <a:p>
            <a:pPr marL="0" indent="0" algn="ctr">
              <a:buNone/>
            </a:pPr>
            <a:r>
              <a:rPr lang="en-US" sz="5200" b="1" dirty="0">
                <a:solidFill>
                  <a:srgbClr val="2DD4BF"/>
                </a:solidFill>
                <a:latin typeface="Cambria" pitchFamily="34" charset="0"/>
                <a:ea typeface="Cambria" pitchFamily="34" charset="-122"/>
                <a:cs typeface="Cambria" pitchFamily="34" charset="-120"/>
              </a:rPr>
              <a:t>8</a:t>
            </a:r>
            <a:endParaRPr lang="en-US" sz="5200" dirty="0"/>
          </a:p>
        </p:txBody>
      </p:sp>
      <p:sp>
        <p:nvSpPr>
          <p:cNvPr id="19" name="Text 17"/>
          <p:cNvSpPr/>
          <p:nvPr/>
        </p:nvSpPr>
        <p:spPr>
          <a:xfrm>
            <a:off x="8321040" y="2651760"/>
            <a:ext cx="3154680" cy="365760"/>
          </a:xfrm>
          <a:prstGeom prst="rect">
            <a:avLst/>
          </a:prstGeom>
          <a:noFill/>
          <a:ln/>
        </p:spPr>
        <p:txBody>
          <a:bodyPr wrap="square" lIns="0" tIns="0" rIns="0" bIns="0" rtlCol="0" anchor="ctr"/>
          <a:lstStyle/>
          <a:p>
            <a:pPr marL="0" indent="0" algn="ctr">
              <a:buNone/>
            </a:pPr>
            <a:r>
              <a:rPr lang="en-US" sz="1400" b="1" dirty="0">
                <a:solidFill>
                  <a:srgbClr val="161B26"/>
                </a:solidFill>
                <a:latin typeface="Calibri" pitchFamily="34" charset="0"/>
                <a:ea typeface="Calibri" pitchFamily="34" charset="-122"/>
                <a:cs typeface="Calibri" pitchFamily="34" charset="-120"/>
              </a:rPr>
              <a:t>test di integrazione</a:t>
            </a:r>
            <a:endParaRPr lang="en-US" sz="1400" dirty="0"/>
          </a:p>
        </p:txBody>
      </p:sp>
      <p:sp>
        <p:nvSpPr>
          <p:cNvPr id="20" name="Text 18"/>
          <p:cNvSpPr/>
          <p:nvPr/>
        </p:nvSpPr>
        <p:spPr>
          <a:xfrm>
            <a:off x="8321040" y="3017520"/>
            <a:ext cx="3154680" cy="411480"/>
          </a:xfrm>
          <a:prstGeom prst="rect">
            <a:avLst/>
          </a:prstGeom>
          <a:noFill/>
          <a:ln/>
        </p:spPr>
        <p:txBody>
          <a:bodyPr wrap="square" lIns="0" tIns="0" rIns="0" bIns="0" rtlCol="0" anchor="ctr"/>
          <a:lstStyle/>
          <a:p>
            <a:pPr marL="0" indent="0" algn="ctr">
              <a:buNone/>
            </a:pPr>
            <a:r>
              <a:rPr lang="en-US" sz="1050" dirty="0">
                <a:solidFill>
                  <a:srgbClr val="5B6472"/>
                </a:solidFill>
                <a:latin typeface="Calibri" pitchFamily="34" charset="0"/>
                <a:ea typeface="Calibri" pitchFamily="34" charset="-122"/>
                <a:cs typeface="Calibri" pitchFamily="34" charset="-120"/>
              </a:rPr>
              <a:t>gcc + esecuzione reale con stdin</a:t>
            </a:r>
            <a:endParaRPr lang="en-US" sz="1050" dirty="0"/>
          </a:p>
        </p:txBody>
      </p:sp>
      <p:sp>
        <p:nvSpPr>
          <p:cNvPr id="21" name="Text 19"/>
          <p:cNvSpPr/>
          <p:nvPr/>
        </p:nvSpPr>
        <p:spPr>
          <a:xfrm>
            <a:off x="548640" y="3794760"/>
            <a:ext cx="11064240" cy="265176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161B26"/>
                </a:solidFill>
                <a:latin typeface="Calibri" pitchFamily="34" charset="0"/>
                <a:ea typeface="Calibri" pitchFamily="34" charset="-122"/>
                <a:cs typeface="Calibri" pitchFamily="34" charset="-120"/>
              </a:rPr>
              <a:t>Test unitari: dichiarazioni, tipi, costanti, funzioni/chiamate annidate, if/elseif/else, while/for/do-while, switch/case, tutti gli operatori, scoping, scanef/&amp;, errori sintattici (LarkError) e semantici (ValueError) attesi</a:t>
            </a:r>
            <a:endParaRPr lang="en-US" sz="1350" dirty="0"/>
          </a:p>
          <a:p>
            <a:pPr marL="342900" indent="-342900">
              <a:spcAft>
                <a:spcPts val="1000"/>
              </a:spcAft>
              <a:buSzPct val="100000"/>
              <a:buChar char="•"/>
            </a:pPr>
            <a:r>
              <a:rPr lang="en-US" sz="1350" dirty="0">
                <a:solidFill>
                  <a:srgbClr val="161B26"/>
                </a:solidFill>
                <a:latin typeface="Calibri" pitchFamily="34" charset="0"/>
                <a:ea typeface="Calibri" pitchFamily="34" charset="-122"/>
                <a:cs typeface="Calibri" pitchFamily="34" charset="-120"/>
              </a:rPr>
              <a:t>Test di integrazione: compilano il C generato con gcc -Wall -Wextra, eseguono il binario con input simulato su stdin (subprocess), verificano l'OUTPUT REALE — non solo che il C 'sembri giusto'</a:t>
            </a:r>
            <a:endParaRPr lang="en-US" sz="1350" dirty="0"/>
          </a:p>
          <a:p>
            <a:pPr marL="342900" indent="-342900">
              <a:buSzPct val="100000"/>
              <a:buChar char="•"/>
            </a:pPr>
            <a:r>
              <a:rPr lang="en-US" sz="1350" b="1" dirty="0">
                <a:solidFill>
                  <a:srgbClr val="161B26"/>
                </a:solidFill>
                <a:latin typeface="Calibri" pitchFamily="34" charset="0"/>
                <a:ea typeface="Calibri" pitchFamily="34" charset="-122"/>
                <a:cs typeface="Calibri" pitchFamily="34" charset="-120"/>
              </a:rPr>
              <a:t>Risultato: Ran 43 tests ... OK</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5</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DEMO</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30</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PROGRAMMA OBBLIGATORIO</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calcolatrice.cro</a:t>
            </a:r>
            <a:endParaRPr lang="en-US" sz="2800" dirty="0"/>
          </a:p>
        </p:txBody>
      </p:sp>
      <p:sp>
        <p:nvSpPr>
          <p:cNvPr id="9" name="Shape 7"/>
          <p:cNvSpPr/>
          <p:nvPr/>
        </p:nvSpPr>
        <p:spPr>
          <a:xfrm>
            <a:off x="548640" y="1463040"/>
            <a:ext cx="5943600" cy="4480560"/>
          </a:xfrm>
          <a:prstGeom prst="roundRect">
            <a:avLst>
              <a:gd name="adj" fmla="val 1633"/>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10" name="Text 8"/>
          <p:cNvSpPr/>
          <p:nvPr/>
        </p:nvSpPr>
        <p:spPr>
          <a:xfrm>
            <a:off x="777240" y="1572768"/>
            <a:ext cx="548640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calcolatrice.cro · estratto</a:t>
            </a:r>
            <a:endParaRPr lang="en-US" sz="1000" dirty="0"/>
          </a:p>
        </p:txBody>
      </p:sp>
      <p:sp>
        <p:nvSpPr>
          <p:cNvPr id="11" name="Text 9"/>
          <p:cNvSpPr/>
          <p:nvPr/>
        </p:nvSpPr>
        <p:spPr>
          <a:xfrm>
            <a:off x="777240" y="1874520"/>
            <a:ext cx="5486400" cy="3886200"/>
          </a:xfrm>
          <a:prstGeom prst="rect">
            <a:avLst/>
          </a:prstGeom>
          <a:noFill/>
          <a:ln/>
        </p:spPr>
        <p:txBody>
          <a:bodyPr wrap="square" lIns="0" tIns="0" rIns="0" bIns="0" rtlCol="0" anchor="t"/>
          <a:lstStyle/>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trament (continua == CONTINUA)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stambf("Scegli operazione (1-4):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scanef("%d", &amp;scelta);</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if (non scelta_valida(scelta))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stambf("Scelta non valida...\n");</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 else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scanef("%f", &amp;x);</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scanef("%f", &amp;y);</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facimm (scelta)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cas 1: risultato = somma(x,y);</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spacc;</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cas 4: risultato=divisione(x,y);</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spacc;</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default: stambf("sconosciuta");</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    scanef("%d", &amp;continua);</a:t>
            </a:r>
            <a:endParaRPr lang="en-US" sz="1150" dirty="0"/>
          </a:p>
          <a:p>
            <a:pPr marL="0" indent="0">
              <a:lnSpc>
                <a:spcPct val="112000"/>
              </a:lnSpc>
              <a:buNone/>
            </a:pPr>
            <a:r>
              <a:rPr lang="en-US" sz="1150" dirty="0">
                <a:solidFill>
                  <a:srgbClr val="D7FCEF"/>
                </a:solidFill>
                <a:latin typeface="Courier New" pitchFamily="34" charset="0"/>
                <a:ea typeface="Courier New" pitchFamily="34" charset="-122"/>
                <a:cs typeface="Courier New" pitchFamily="34" charset="-120"/>
              </a:rPr>
              <a:t>}</a:t>
            </a:r>
            <a:endParaRPr lang="en-US" sz="1150" dirty="0"/>
          </a:p>
        </p:txBody>
      </p:sp>
      <p:sp>
        <p:nvSpPr>
          <p:cNvPr id="12" name="Text 10"/>
          <p:cNvSpPr/>
          <p:nvPr/>
        </p:nvSpPr>
        <p:spPr>
          <a:xfrm>
            <a:off x="6720840" y="1554480"/>
            <a:ext cx="4892040" cy="4480560"/>
          </a:xfrm>
          <a:prstGeom prst="rect">
            <a:avLst/>
          </a:prstGeom>
          <a:noFill/>
          <a:ln/>
        </p:spPr>
        <p:txBody>
          <a:bodyPr wrap="square" lIns="0" tIns="0" rIns="0" bIns="0" rtlCol="0" anchor="t"/>
          <a:lstStyle/>
          <a:p>
            <a:pPr marL="342900" indent="-342900">
              <a:spcAft>
                <a:spcPts val="1000"/>
              </a:spcAft>
              <a:buSzPct val="100000"/>
              <a:buChar char="•"/>
            </a:pPr>
            <a:r>
              <a:rPr lang="en-US" sz="1280" dirty="0">
                <a:solidFill>
                  <a:srgbClr val="161B26"/>
                </a:solidFill>
                <a:latin typeface="Calibri" pitchFamily="34" charset="0"/>
                <a:ea typeface="Calibri" pitchFamily="34" charset="-122"/>
                <a:cs typeface="Calibri" pitchFamily="34" charset="-120"/>
              </a:rPr>
              <a:t>5 funzioni: somma, sottrazione, moltiplicazione, divisione, scelta_valida</a:t>
            </a:r>
            <a:endParaRPr lang="en-US" sz="1280" dirty="0"/>
          </a:p>
          <a:p>
            <a:pPr marL="342900" indent="-342900">
              <a:spcAft>
                <a:spcPts val="1000"/>
              </a:spcAft>
              <a:buSzPct val="100000"/>
              <a:buChar char="•"/>
            </a:pPr>
            <a:r>
              <a:rPr lang="en-US" sz="1280" dirty="0">
                <a:solidFill>
                  <a:srgbClr val="161B26"/>
                </a:solidFill>
                <a:latin typeface="Calibri" pitchFamily="34" charset="0"/>
                <a:ea typeface="Calibri" pitchFamily="34" charset="-122"/>
                <a:cs typeface="Calibri" pitchFamily="34" charset="-120"/>
              </a:rPr>
              <a:t>Gestione divisione per zero dentro la funzione divisione (if/else)</a:t>
            </a:r>
            <a:endParaRPr lang="en-US" sz="1280" dirty="0"/>
          </a:p>
          <a:p>
            <a:pPr marL="342900" indent="-342900">
              <a:spcAft>
                <a:spcPts val="1000"/>
              </a:spcAft>
              <a:buSzPct val="100000"/>
              <a:buChar char="•"/>
            </a:pPr>
            <a:r>
              <a:rPr lang="en-US" sz="1280" dirty="0">
                <a:solidFill>
                  <a:srgbClr val="161B26"/>
                </a:solidFill>
                <a:latin typeface="Calibri" pitchFamily="34" charset="0"/>
                <a:ea typeface="Calibri" pitchFamily="34" charset="-122"/>
                <a:cs typeface="Calibri" pitchFamily="34" charset="-120"/>
              </a:rPr>
              <a:t>Validazione input con operatori logici/relazionali combinati: (scelta&gt;=1) e (scelta&lt;=4)</a:t>
            </a:r>
            <a:endParaRPr lang="en-US" sz="1280" dirty="0"/>
          </a:p>
          <a:p>
            <a:pPr marL="342900" indent="-342900">
              <a:spcAft>
                <a:spcPts val="1000"/>
              </a:spcAft>
              <a:buSzPct val="100000"/>
              <a:buChar char="•"/>
            </a:pPr>
            <a:r>
              <a:rPr lang="en-US" sz="1280" dirty="0">
                <a:solidFill>
                  <a:srgbClr val="161B26"/>
                </a:solidFill>
                <a:latin typeface="Calibri" pitchFamily="34" charset="0"/>
                <a:ea typeface="Calibri" pitchFamily="34" charset="-122"/>
                <a:cs typeface="Calibri" pitchFamily="34" charset="-120"/>
              </a:rPr>
              <a:t>const per ESCI/CONTINUA, trament per il loop, facimm per il menu, &amp; per ogni scanef</a:t>
            </a:r>
            <a:endParaRPr lang="en-US" sz="1280" dirty="0"/>
          </a:p>
          <a:p>
            <a:pPr marL="342900" indent="-342900">
              <a:buSzPct val="100000"/>
              <a:buChar char="•"/>
            </a:pPr>
            <a:r>
              <a:rPr lang="en-US" sz="1280" dirty="0">
                <a:solidFill>
                  <a:srgbClr val="161B26"/>
                </a:solidFill>
                <a:latin typeface="Calibri" pitchFamily="34" charset="0"/>
                <a:ea typeface="Calibri" pitchFamily="34" charset="-122"/>
                <a:cs typeface="Calibri" pitchFamily="34" charset="-120"/>
              </a:rPr>
              <a:t>Verificato con gcc -Wall -Wextra: zero warning, eseguito con più sessioni di input simulate (addizione, sottrazione, moltiplicazione, divisione, divisione per zero, scelta invalida)</a:t>
            </a:r>
            <a:endParaRPr lang="en-US" sz="12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11109960" y="347472"/>
            <a:ext cx="457200" cy="457200"/>
          </a:xfrm>
          <a:prstGeom prst="ellipse">
            <a:avLst/>
          </a:prstGeom>
          <a:solidFill>
            <a:srgbClr val="2DD4BF"/>
          </a:solidFill>
          <a:ln/>
        </p:spPr>
        <p:txBody>
          <a:bodyPr/>
          <a:lstStyle/>
          <a:p>
            <a:endParaRPr lang="en-GB"/>
          </a:p>
        </p:txBody>
      </p:sp>
      <p:sp>
        <p:nvSpPr>
          <p:cNvPr id="3" name="Text 1"/>
          <p:cNvSpPr/>
          <p:nvPr/>
        </p:nvSpPr>
        <p:spPr>
          <a:xfrm>
            <a:off x="11109960" y="347472"/>
            <a:ext cx="457200" cy="457200"/>
          </a:xfrm>
          <a:prstGeom prst="rect">
            <a:avLst/>
          </a:prstGeom>
          <a:noFill/>
          <a:ln/>
        </p:spPr>
        <p:txBody>
          <a:bodyPr wrap="square" lIns="0" tIns="0" rIns="0" bIns="0" rtlCol="0" anchor="ctr"/>
          <a:lstStyle/>
          <a:p>
            <a:pPr marL="0" indent="0" algn="ctr">
              <a:buNone/>
            </a:pPr>
            <a:r>
              <a:rPr lang="en-US" sz="1800" b="1" dirty="0">
                <a:solidFill>
                  <a:srgbClr val="161B26"/>
                </a:solidFill>
                <a:latin typeface="Cambria" pitchFamily="34" charset="0"/>
                <a:ea typeface="Cambria" pitchFamily="34" charset="-122"/>
                <a:cs typeface="Cambria" pitchFamily="34" charset="-120"/>
              </a:rPr>
              <a:t>5</a:t>
            </a:r>
            <a:endParaRPr lang="en-US" sz="1800" dirty="0"/>
          </a:p>
        </p:txBody>
      </p:sp>
      <p:sp>
        <p:nvSpPr>
          <p:cNvPr id="4" name="Text 2"/>
          <p:cNvSpPr/>
          <p:nvPr/>
        </p:nvSpPr>
        <p:spPr>
          <a:xfrm>
            <a:off x="7863840" y="457200"/>
            <a:ext cx="3108960" cy="274320"/>
          </a:xfrm>
          <a:prstGeom prst="rect">
            <a:avLst/>
          </a:prstGeom>
          <a:noFill/>
          <a:ln/>
        </p:spPr>
        <p:txBody>
          <a:bodyPr wrap="square" lIns="0" tIns="0" rIns="0" bIns="0" rtlCol="0" anchor="ctr"/>
          <a:lstStyle/>
          <a:p>
            <a:pPr marL="0" indent="0" algn="r">
              <a:buNone/>
            </a:pPr>
            <a:r>
              <a:rPr lang="en-US" sz="1050" b="1" kern="0" spc="200" dirty="0">
                <a:solidFill>
                  <a:srgbClr val="5B6472"/>
                </a:solidFill>
                <a:latin typeface="Calibri" pitchFamily="34" charset="0"/>
                <a:ea typeface="Calibri" pitchFamily="34" charset="-122"/>
                <a:cs typeface="Calibri" pitchFamily="34" charset="-120"/>
              </a:rPr>
              <a:t>DEMO</a:t>
            </a:r>
            <a:endParaRPr lang="en-US" sz="1050" dirty="0"/>
          </a:p>
        </p:txBody>
      </p:sp>
      <p:sp>
        <p:nvSpPr>
          <p:cNvPr id="5" name="Text 3"/>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31</a:t>
            </a:r>
            <a:endParaRPr lang="en-US" sz="900" dirty="0"/>
          </a:p>
        </p:txBody>
      </p:sp>
      <p:sp>
        <p:nvSpPr>
          <p:cNvPr id="7" name="Text 5"/>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TEST NEGATIVO</a:t>
            </a:r>
            <a:endParaRPr lang="en-US" sz="1150" dirty="0"/>
          </a:p>
        </p:txBody>
      </p:sp>
      <p:sp>
        <p:nvSpPr>
          <p:cNvPr id="8" name="Text 6"/>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errore.cro — 9 errori, 9 categorie</a:t>
            </a:r>
            <a:endParaRPr lang="en-US" sz="2800" dirty="0"/>
          </a:p>
        </p:txBody>
      </p:sp>
      <p:sp>
        <p:nvSpPr>
          <p:cNvPr id="9" name="Shape 7"/>
          <p:cNvSpPr/>
          <p:nvPr/>
        </p:nvSpPr>
        <p:spPr>
          <a:xfrm>
            <a:off x="548640" y="1417320"/>
            <a:ext cx="5349240" cy="384048"/>
          </a:xfrm>
          <a:prstGeom prst="rect">
            <a:avLst/>
          </a:prstGeom>
          <a:solidFill>
            <a:srgbClr val="FBE2E1"/>
          </a:solidFill>
          <a:ln/>
        </p:spPr>
        <p:txBody>
          <a:bodyPr/>
          <a:lstStyle/>
          <a:p>
            <a:endParaRPr lang="en-GB"/>
          </a:p>
        </p:txBody>
      </p:sp>
      <p:sp>
        <p:nvSpPr>
          <p:cNvPr id="10" name="Text 8"/>
          <p:cNvSpPr/>
          <p:nvPr/>
        </p:nvSpPr>
        <p:spPr>
          <a:xfrm>
            <a:off x="731520" y="1417320"/>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1. Identificatore non dichiarato</a:t>
            </a:r>
            <a:endParaRPr lang="en-US" sz="1250" dirty="0"/>
          </a:p>
        </p:txBody>
      </p:sp>
      <p:sp>
        <p:nvSpPr>
          <p:cNvPr id="11" name="Shape 9"/>
          <p:cNvSpPr/>
          <p:nvPr/>
        </p:nvSpPr>
        <p:spPr>
          <a:xfrm>
            <a:off x="6172200" y="1417320"/>
            <a:ext cx="5349240" cy="384048"/>
          </a:xfrm>
          <a:prstGeom prst="rect">
            <a:avLst/>
          </a:prstGeom>
          <a:solidFill>
            <a:srgbClr val="FBE2E1"/>
          </a:solidFill>
          <a:ln/>
        </p:spPr>
        <p:txBody>
          <a:bodyPr/>
          <a:lstStyle/>
          <a:p>
            <a:endParaRPr lang="en-GB"/>
          </a:p>
        </p:txBody>
      </p:sp>
      <p:sp>
        <p:nvSpPr>
          <p:cNvPr id="12" name="Text 10"/>
          <p:cNvSpPr/>
          <p:nvPr/>
        </p:nvSpPr>
        <p:spPr>
          <a:xfrm>
            <a:off x="6355080" y="1417320"/>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2. Dichiarazione multipla nello stesso scope</a:t>
            </a:r>
            <a:endParaRPr lang="en-US" sz="1250" dirty="0"/>
          </a:p>
        </p:txBody>
      </p:sp>
      <p:sp>
        <p:nvSpPr>
          <p:cNvPr id="13" name="Shape 11"/>
          <p:cNvSpPr/>
          <p:nvPr/>
        </p:nvSpPr>
        <p:spPr>
          <a:xfrm>
            <a:off x="548640" y="1947672"/>
            <a:ext cx="5349240" cy="384048"/>
          </a:xfrm>
          <a:prstGeom prst="rect">
            <a:avLst/>
          </a:prstGeom>
          <a:solidFill>
            <a:srgbClr val="FBE2E1"/>
          </a:solidFill>
          <a:ln/>
        </p:spPr>
        <p:txBody>
          <a:bodyPr/>
          <a:lstStyle/>
          <a:p>
            <a:endParaRPr lang="en-GB"/>
          </a:p>
        </p:txBody>
      </p:sp>
      <p:sp>
        <p:nvSpPr>
          <p:cNvPr id="14" name="Text 12"/>
          <p:cNvSpPr/>
          <p:nvPr/>
        </p:nvSpPr>
        <p:spPr>
          <a:xfrm>
            <a:off x="731520" y="1947672"/>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3. Assegnazione a una costante</a:t>
            </a:r>
            <a:endParaRPr lang="en-US" sz="1250" dirty="0"/>
          </a:p>
        </p:txBody>
      </p:sp>
      <p:sp>
        <p:nvSpPr>
          <p:cNvPr id="15" name="Shape 13"/>
          <p:cNvSpPr/>
          <p:nvPr/>
        </p:nvSpPr>
        <p:spPr>
          <a:xfrm>
            <a:off x="6172200" y="1947672"/>
            <a:ext cx="5349240" cy="384048"/>
          </a:xfrm>
          <a:prstGeom prst="rect">
            <a:avLst/>
          </a:prstGeom>
          <a:solidFill>
            <a:srgbClr val="FBE2E1"/>
          </a:solidFill>
          <a:ln/>
        </p:spPr>
        <p:txBody>
          <a:bodyPr/>
          <a:lstStyle/>
          <a:p>
            <a:endParaRPr lang="en-GB"/>
          </a:p>
        </p:txBody>
      </p:sp>
      <p:sp>
        <p:nvSpPr>
          <p:cNvPr id="16" name="Text 14"/>
          <p:cNvSpPr/>
          <p:nvPr/>
        </p:nvSpPr>
        <p:spPr>
          <a:xfrm>
            <a:off x="6355080" y="1947672"/>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4. Condizione if non booleana</a:t>
            </a:r>
            <a:endParaRPr lang="en-US" sz="1250" dirty="0"/>
          </a:p>
        </p:txBody>
      </p:sp>
      <p:sp>
        <p:nvSpPr>
          <p:cNvPr id="17" name="Shape 15"/>
          <p:cNvSpPr/>
          <p:nvPr/>
        </p:nvSpPr>
        <p:spPr>
          <a:xfrm>
            <a:off x="548640" y="2478024"/>
            <a:ext cx="5349240" cy="384048"/>
          </a:xfrm>
          <a:prstGeom prst="rect">
            <a:avLst/>
          </a:prstGeom>
          <a:solidFill>
            <a:srgbClr val="FBE2E1"/>
          </a:solidFill>
          <a:ln/>
        </p:spPr>
        <p:txBody>
          <a:bodyPr/>
          <a:lstStyle/>
          <a:p>
            <a:endParaRPr lang="en-GB"/>
          </a:p>
        </p:txBody>
      </p:sp>
      <p:sp>
        <p:nvSpPr>
          <p:cNvPr id="18" name="Text 16"/>
          <p:cNvSpPr/>
          <p:nvPr/>
        </p:nvSpPr>
        <p:spPr>
          <a:xfrm>
            <a:off x="731520" y="2478024"/>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5. Tipi incompatibili (int + bool)</a:t>
            </a:r>
            <a:endParaRPr lang="en-US" sz="1250" dirty="0"/>
          </a:p>
        </p:txBody>
      </p:sp>
      <p:sp>
        <p:nvSpPr>
          <p:cNvPr id="19" name="Shape 17"/>
          <p:cNvSpPr/>
          <p:nvPr/>
        </p:nvSpPr>
        <p:spPr>
          <a:xfrm>
            <a:off x="6172200" y="2478024"/>
            <a:ext cx="5349240" cy="384048"/>
          </a:xfrm>
          <a:prstGeom prst="rect">
            <a:avLst/>
          </a:prstGeom>
          <a:solidFill>
            <a:srgbClr val="FBE2E1"/>
          </a:solidFill>
          <a:ln/>
        </p:spPr>
        <p:txBody>
          <a:bodyPr/>
          <a:lstStyle/>
          <a:p>
            <a:endParaRPr lang="en-GB"/>
          </a:p>
        </p:txBody>
      </p:sp>
      <p:sp>
        <p:nvSpPr>
          <p:cNvPr id="20" name="Text 18"/>
          <p:cNvSpPr/>
          <p:nvPr/>
        </p:nvSpPr>
        <p:spPr>
          <a:xfrm>
            <a:off x="6355080" y="2478024"/>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6. Numero di argomenti errato</a:t>
            </a:r>
            <a:endParaRPr lang="en-US" sz="1250" dirty="0"/>
          </a:p>
        </p:txBody>
      </p:sp>
      <p:sp>
        <p:nvSpPr>
          <p:cNvPr id="21" name="Shape 19"/>
          <p:cNvSpPr/>
          <p:nvPr/>
        </p:nvSpPr>
        <p:spPr>
          <a:xfrm>
            <a:off x="548640" y="3008376"/>
            <a:ext cx="5349240" cy="384048"/>
          </a:xfrm>
          <a:prstGeom prst="rect">
            <a:avLst/>
          </a:prstGeom>
          <a:solidFill>
            <a:srgbClr val="FBE2E1"/>
          </a:solidFill>
          <a:ln/>
        </p:spPr>
        <p:txBody>
          <a:bodyPr/>
          <a:lstStyle/>
          <a:p>
            <a:endParaRPr lang="en-GB"/>
          </a:p>
        </p:txBody>
      </p:sp>
      <p:sp>
        <p:nvSpPr>
          <p:cNvPr id="22" name="Text 20"/>
          <p:cNvSpPr/>
          <p:nvPr/>
        </p:nvSpPr>
        <p:spPr>
          <a:xfrm>
            <a:off x="731520" y="3008376"/>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7. Funzione mai dichiarata</a:t>
            </a:r>
            <a:endParaRPr lang="en-US" sz="1250" dirty="0"/>
          </a:p>
        </p:txBody>
      </p:sp>
      <p:sp>
        <p:nvSpPr>
          <p:cNvPr id="23" name="Shape 21"/>
          <p:cNvSpPr/>
          <p:nvPr/>
        </p:nvSpPr>
        <p:spPr>
          <a:xfrm>
            <a:off x="6172200" y="3008376"/>
            <a:ext cx="5349240" cy="384048"/>
          </a:xfrm>
          <a:prstGeom prst="rect">
            <a:avLst/>
          </a:prstGeom>
          <a:solidFill>
            <a:srgbClr val="FBE2E1"/>
          </a:solidFill>
          <a:ln/>
        </p:spPr>
        <p:txBody>
          <a:bodyPr/>
          <a:lstStyle/>
          <a:p>
            <a:endParaRPr lang="en-GB"/>
          </a:p>
        </p:txBody>
      </p:sp>
      <p:sp>
        <p:nvSpPr>
          <p:cNvPr id="24" name="Text 22"/>
          <p:cNvSpPr/>
          <p:nvPr/>
        </p:nvSpPr>
        <p:spPr>
          <a:xfrm>
            <a:off x="6355080" y="3008376"/>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8. scanef senza operatore &amp;</a:t>
            </a:r>
            <a:endParaRPr lang="en-US" sz="1250" dirty="0"/>
          </a:p>
        </p:txBody>
      </p:sp>
      <p:sp>
        <p:nvSpPr>
          <p:cNvPr id="25" name="Shape 23"/>
          <p:cNvSpPr/>
          <p:nvPr/>
        </p:nvSpPr>
        <p:spPr>
          <a:xfrm>
            <a:off x="548640" y="3538728"/>
            <a:ext cx="5349240" cy="384048"/>
          </a:xfrm>
          <a:prstGeom prst="rect">
            <a:avLst/>
          </a:prstGeom>
          <a:solidFill>
            <a:srgbClr val="FBE2E1"/>
          </a:solidFill>
          <a:ln/>
        </p:spPr>
        <p:txBody>
          <a:bodyPr/>
          <a:lstStyle/>
          <a:p>
            <a:endParaRPr lang="en-GB"/>
          </a:p>
        </p:txBody>
      </p:sp>
      <p:sp>
        <p:nvSpPr>
          <p:cNvPr id="26" name="Text 24"/>
          <p:cNvSpPr/>
          <p:nvPr/>
        </p:nvSpPr>
        <p:spPr>
          <a:xfrm>
            <a:off x="731520" y="3538728"/>
            <a:ext cx="4983480" cy="384048"/>
          </a:xfrm>
          <a:prstGeom prst="rect">
            <a:avLst/>
          </a:prstGeom>
          <a:noFill/>
          <a:ln/>
        </p:spPr>
        <p:txBody>
          <a:bodyPr wrap="square" lIns="0" tIns="0" rIns="0" bIns="0" rtlCol="0" anchor="ctr"/>
          <a:lstStyle/>
          <a:p>
            <a:pPr marL="0" indent="0">
              <a:buNone/>
            </a:pPr>
            <a:r>
              <a:rPr lang="en-US" sz="1250" dirty="0">
                <a:solidFill>
                  <a:srgbClr val="161B26"/>
                </a:solidFill>
                <a:latin typeface="Calibri" pitchFamily="34" charset="0"/>
                <a:ea typeface="Calibri" pitchFamily="34" charset="-122"/>
                <a:cs typeface="Calibri" pitchFamily="34" charset="-120"/>
              </a:rPr>
              <a:t>9. &amp; applicato a una costante</a:t>
            </a:r>
            <a:endParaRPr lang="en-US" sz="1250" dirty="0"/>
          </a:p>
        </p:txBody>
      </p:sp>
      <p:sp>
        <p:nvSpPr>
          <p:cNvPr id="27" name="Shape 25"/>
          <p:cNvSpPr/>
          <p:nvPr/>
        </p:nvSpPr>
        <p:spPr>
          <a:xfrm>
            <a:off x="548640" y="4160520"/>
            <a:ext cx="11064240" cy="1874520"/>
          </a:xfrm>
          <a:prstGeom prst="roundRect">
            <a:avLst>
              <a:gd name="adj" fmla="val 3902"/>
            </a:avLst>
          </a:prstGeom>
          <a:solidFill>
            <a:srgbClr val="0E1320"/>
          </a:solidFill>
          <a:ln/>
          <a:effectLst>
            <a:outerShdw blurRad="101600" dist="38100" dir="5400000" algn="bl" rotWithShape="0">
              <a:srgbClr val="000000">
                <a:alpha val="18000"/>
              </a:srgbClr>
            </a:outerShdw>
          </a:effectLst>
        </p:spPr>
        <p:txBody>
          <a:bodyPr/>
          <a:lstStyle/>
          <a:p>
            <a:endParaRPr lang="en-GB"/>
          </a:p>
        </p:txBody>
      </p:sp>
      <p:sp>
        <p:nvSpPr>
          <p:cNvPr id="28" name="Text 26"/>
          <p:cNvSpPr/>
          <p:nvPr/>
        </p:nvSpPr>
        <p:spPr>
          <a:xfrm>
            <a:off x="777240" y="4270248"/>
            <a:ext cx="10607040" cy="274320"/>
          </a:xfrm>
          <a:prstGeom prst="rect">
            <a:avLst/>
          </a:prstGeom>
          <a:noFill/>
          <a:ln/>
        </p:spPr>
        <p:txBody>
          <a:bodyPr wrap="square" lIns="0" tIns="0" rIns="0" bIns="0" rtlCol="0" anchor="ctr"/>
          <a:lstStyle/>
          <a:p>
            <a:pPr marL="0" indent="0">
              <a:buNone/>
            </a:pPr>
            <a:r>
              <a:rPr lang="en-US" sz="1000" dirty="0">
                <a:solidFill>
                  <a:srgbClr val="8B9AAE"/>
                </a:solidFill>
                <a:latin typeface="Courier New" pitchFamily="34" charset="0"/>
                <a:ea typeface="Courier New" pitchFamily="34" charset="-122"/>
                <a:cs typeface="Courier New" pitchFamily="34" charset="-120"/>
              </a:rPr>
              <a:t>output reale del compilatore</a:t>
            </a:r>
            <a:endParaRPr lang="en-US" sz="1000" dirty="0"/>
          </a:p>
        </p:txBody>
      </p:sp>
      <p:sp>
        <p:nvSpPr>
          <p:cNvPr id="29" name="Text 27"/>
          <p:cNvSpPr/>
          <p:nvPr/>
        </p:nvSpPr>
        <p:spPr>
          <a:xfrm>
            <a:off x="777240" y="4572000"/>
            <a:ext cx="10607040" cy="1280160"/>
          </a:xfrm>
          <a:prstGeom prst="rect">
            <a:avLst/>
          </a:prstGeom>
          <a:noFill/>
          <a:ln/>
        </p:spPr>
        <p:txBody>
          <a:bodyPr wrap="square" lIns="0" tIns="0" rIns="0" bIns="0" rtlCol="0" anchor="t"/>
          <a:lstStyle/>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python compilatore_cro.py errore.cro</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Errore di compilazione: Errori semantici:</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 Identificatore non dichiarato: 'valore_fantasma'.</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 'x' già dichiarato nello scope 'fun:main'.</a:t>
            </a:r>
            <a:endParaRPr lang="en-US" sz="1250" dirty="0"/>
          </a:p>
          <a:p>
            <a:pPr marL="0" indent="0">
              <a:lnSpc>
                <a:spcPct val="112000"/>
              </a:lnSpc>
              <a:buNone/>
            </a:pPr>
            <a:r>
              <a:rPr lang="en-US" sz="1250" dirty="0">
                <a:solidFill>
                  <a:srgbClr val="D7FCEF"/>
                </a:solidFill>
                <a:latin typeface="Courier New" pitchFamily="34" charset="0"/>
                <a:ea typeface="Courier New" pitchFamily="34" charset="-122"/>
                <a:cs typeface="Courier New" pitchFamily="34" charset="-120"/>
              </a:rPr>
              <a:t>  ... (9 errori totali, uno per categoria — vedi sopra)</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Compilatore C-ro · Progetto EILP 2025/26</a:t>
            </a:r>
            <a:endParaRPr lang="en-US" sz="900" dirty="0"/>
          </a:p>
        </p:txBody>
      </p:sp>
      <p:sp>
        <p:nvSpPr>
          <p:cNvPr id="3" name="Text 1"/>
          <p:cNvSpPr/>
          <p:nvPr/>
        </p:nvSpPr>
        <p:spPr>
          <a:xfrm>
            <a:off x="11247120" y="6473952"/>
            <a:ext cx="457200" cy="274320"/>
          </a:xfrm>
          <a:prstGeom prst="rect">
            <a:avLst/>
          </a:prstGeom>
          <a:noFill/>
          <a:ln/>
        </p:spPr>
        <p:txBody>
          <a:bodyPr wrap="square" lIns="0" tIns="0" rIns="0" bIns="0" rtlCol="0" anchor="ctr"/>
          <a:lstStyle/>
          <a:p>
            <a:pPr marL="0" indent="0" algn="r">
              <a:buNone/>
            </a:pPr>
            <a:r>
              <a:rPr lang="en-US" sz="900" dirty="0">
                <a:solidFill>
                  <a:srgbClr val="5B6472"/>
                </a:solidFill>
                <a:latin typeface="Calibri" pitchFamily="34" charset="0"/>
                <a:ea typeface="Calibri" pitchFamily="34" charset="-122"/>
                <a:cs typeface="Calibri" pitchFamily="34" charset="-120"/>
              </a:rPr>
              <a:t>32</a:t>
            </a:r>
            <a:endParaRPr lang="en-US" sz="900" dirty="0"/>
          </a:p>
        </p:txBody>
      </p:sp>
      <p:sp>
        <p:nvSpPr>
          <p:cNvPr id="4" name="Text 2"/>
          <p:cNvSpPr/>
          <p:nvPr/>
        </p:nvSpPr>
        <p:spPr>
          <a:xfrm>
            <a:off x="548640" y="384048"/>
            <a:ext cx="6400800" cy="274320"/>
          </a:xfrm>
          <a:prstGeom prst="rect">
            <a:avLst/>
          </a:prstGeom>
          <a:noFill/>
          <a:ln/>
        </p:spPr>
        <p:txBody>
          <a:bodyPr wrap="square" lIns="0" tIns="0" rIns="0" bIns="0" rtlCol="0" anchor="ctr"/>
          <a:lstStyle/>
          <a:p>
            <a:pPr marL="0" indent="0">
              <a:buNone/>
            </a:pPr>
            <a:r>
              <a:rPr lang="en-US" sz="1150" b="1" kern="0" spc="200" dirty="0">
                <a:solidFill>
                  <a:srgbClr val="2DD4BF"/>
                </a:solidFill>
                <a:latin typeface="Calibri" pitchFamily="34" charset="0"/>
                <a:ea typeface="Calibri" pitchFamily="34" charset="-122"/>
                <a:cs typeface="Calibri" pitchFamily="34" charset="-120"/>
              </a:rPr>
              <a:t>CHIUSURA</a:t>
            </a:r>
            <a:endParaRPr lang="en-US" sz="1150" dirty="0"/>
          </a:p>
        </p:txBody>
      </p:sp>
      <p:sp>
        <p:nvSpPr>
          <p:cNvPr id="5" name="Text 3"/>
          <p:cNvSpPr/>
          <p:nvPr/>
        </p:nvSpPr>
        <p:spPr>
          <a:xfrm>
            <a:off x="548640" y="621792"/>
            <a:ext cx="10607040" cy="640080"/>
          </a:xfrm>
          <a:prstGeom prst="rect">
            <a:avLst/>
          </a:prstGeom>
          <a:noFill/>
          <a:ln/>
        </p:spPr>
        <p:txBody>
          <a:bodyPr wrap="square" lIns="0" tIns="0" rIns="0" bIns="0" rtlCol="0" anchor="ctr"/>
          <a:lstStyle/>
          <a:p>
            <a:pPr marL="0" indent="0">
              <a:buNone/>
            </a:pPr>
            <a:r>
              <a:rPr lang="en-US" sz="2800" b="1" dirty="0">
                <a:solidFill>
                  <a:srgbClr val="161B26"/>
                </a:solidFill>
                <a:latin typeface="Cambria" pitchFamily="34" charset="0"/>
                <a:ea typeface="Cambria" pitchFamily="34" charset="-122"/>
                <a:cs typeface="Cambria" pitchFamily="34" charset="-120"/>
              </a:rPr>
              <a:t>Limitazioni note e possibili estensioni</a:t>
            </a:r>
            <a:endParaRPr lang="en-US" sz="2800" dirty="0"/>
          </a:p>
        </p:txBody>
      </p:sp>
      <p:sp>
        <p:nvSpPr>
          <p:cNvPr id="6" name="Shape 4"/>
          <p:cNvSpPr/>
          <p:nvPr/>
        </p:nvSpPr>
        <p:spPr>
          <a:xfrm>
            <a:off x="548640" y="1508760"/>
            <a:ext cx="5394960" cy="4206240"/>
          </a:xfrm>
          <a:prstGeom prst="roundRect">
            <a:avLst>
              <a:gd name="adj" fmla="val 1739"/>
            </a:avLst>
          </a:prstGeom>
          <a:solidFill>
            <a:srgbClr val="FBE2E1"/>
          </a:solidFill>
          <a:ln/>
        </p:spPr>
        <p:txBody>
          <a:bodyPr/>
          <a:lstStyle/>
          <a:p>
            <a:endParaRPr lang="en-GB"/>
          </a:p>
        </p:txBody>
      </p:sp>
      <p:sp>
        <p:nvSpPr>
          <p:cNvPr id="7" name="Text 5"/>
          <p:cNvSpPr/>
          <p:nvPr/>
        </p:nvSpPr>
        <p:spPr>
          <a:xfrm>
            <a:off x="777240" y="1673352"/>
            <a:ext cx="4937760" cy="32004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LIMITAZIONI NOTE (EILP §6.9)</a:t>
            </a:r>
            <a:endParaRPr lang="en-US" sz="1300" dirty="0"/>
          </a:p>
        </p:txBody>
      </p:sp>
      <p:sp>
        <p:nvSpPr>
          <p:cNvPr id="8" name="Text 6"/>
          <p:cNvSpPr/>
          <p:nvPr/>
        </p:nvSpPr>
        <p:spPr>
          <a:xfrm>
            <a:off x="777240" y="2011680"/>
            <a:ext cx="4937760" cy="352044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Nessun array, struct, o gestione esplicita della memoria dinamica</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Nessun puntatore generico: &amp; è utilizzabile esclusivamente come argomento di scanef</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Ogni funzione restituisce un singolo valore (coerente con la semantica nativa del C target, a differenza di altri linguaggi del corso con ritorni multipli)</a:t>
            </a:r>
            <a:endParaRPr lang="en-US" sz="1250" dirty="0"/>
          </a:p>
        </p:txBody>
      </p:sp>
      <p:sp>
        <p:nvSpPr>
          <p:cNvPr id="9" name="Shape 7"/>
          <p:cNvSpPr/>
          <p:nvPr/>
        </p:nvSpPr>
        <p:spPr>
          <a:xfrm>
            <a:off x="6126480" y="1508760"/>
            <a:ext cx="5486400" cy="4206240"/>
          </a:xfrm>
          <a:prstGeom prst="roundRect">
            <a:avLst>
              <a:gd name="adj" fmla="val 1739"/>
            </a:avLst>
          </a:prstGeom>
          <a:solidFill>
            <a:srgbClr val="CFFAF3"/>
          </a:solidFill>
          <a:ln/>
        </p:spPr>
        <p:txBody>
          <a:bodyPr/>
          <a:lstStyle/>
          <a:p>
            <a:endParaRPr lang="en-GB"/>
          </a:p>
        </p:txBody>
      </p:sp>
      <p:sp>
        <p:nvSpPr>
          <p:cNvPr id="10" name="Text 8"/>
          <p:cNvSpPr/>
          <p:nvPr/>
        </p:nvSpPr>
        <p:spPr>
          <a:xfrm>
            <a:off x="6355080" y="1673352"/>
            <a:ext cx="5029200" cy="320040"/>
          </a:xfrm>
          <a:prstGeom prst="rect">
            <a:avLst/>
          </a:prstGeom>
          <a:noFill/>
          <a:ln/>
        </p:spPr>
        <p:txBody>
          <a:bodyPr wrap="square" lIns="0" tIns="0" rIns="0" bIns="0" rtlCol="0" anchor="ctr"/>
          <a:lstStyle/>
          <a:p>
            <a:pPr marL="0" indent="0">
              <a:buNone/>
            </a:pPr>
            <a:r>
              <a:rPr lang="en-US" sz="1300" b="1" dirty="0">
                <a:solidFill>
                  <a:srgbClr val="161B26"/>
                </a:solidFill>
                <a:latin typeface="Calibri" pitchFamily="34" charset="0"/>
                <a:ea typeface="Calibri" pitchFamily="34" charset="-122"/>
                <a:cs typeface="Calibri" pitchFamily="34" charset="-120"/>
              </a:rPr>
              <a:t>POSSIBILI ESTENSIONI FUTURE</a:t>
            </a:r>
            <a:endParaRPr lang="en-US" sz="1300" dirty="0"/>
          </a:p>
        </p:txBody>
      </p:sp>
      <p:sp>
        <p:nvSpPr>
          <p:cNvPr id="11" name="Text 9"/>
          <p:cNvSpPr/>
          <p:nvPr/>
        </p:nvSpPr>
        <p:spPr>
          <a:xfrm>
            <a:off x="6355080" y="2011680"/>
            <a:ext cx="5029200" cy="3520440"/>
          </a:xfrm>
          <a:prstGeom prst="rect">
            <a:avLst/>
          </a:prstGeom>
          <a:noFill/>
          <a:ln/>
        </p:spPr>
        <p:txBody>
          <a:bodyPr wrap="square" lIns="0" tIns="0" rIns="0" bIns="0" rtlCol="0" anchor="t"/>
          <a:lstStyle/>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Array monodimensionali (nuovo nodo ArrayDeclNode + indicizzazione)</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Inferenza di tipo per dichiarazioni senza tipo esplicito (come var x ^= 10 in Toy2)</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Static checker dedicato per ottimizzazioni sul C generato</a:t>
            </a:r>
            <a:endParaRPr lang="en-US" sz="1250" dirty="0"/>
          </a:p>
          <a:p>
            <a:pPr marL="0" indent="0">
              <a:lnSpc>
                <a:spcPct val="115000"/>
              </a:lnSpc>
              <a:buNone/>
            </a:pPr>
            <a:r>
              <a:rPr lang="en-US" sz="1250" dirty="0">
                <a:solidFill>
                  <a:srgbClr val="161B26"/>
                </a:solidFill>
                <a:latin typeface="Calibri" pitchFamily="34" charset="0"/>
                <a:ea typeface="Calibri" pitchFamily="34" charset="-122"/>
                <a:cs typeface="Calibri" pitchFamily="34" charset="-120"/>
              </a:rPr>
              <a:t>• Sinergia con Progetto B (generatore LLM-based) riusando lexer/parser/semantica di questo compilatore, come suggerito dalla traccia</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1B26"/>
        </a:solidFill>
        <a:effectLst/>
      </p:bgPr>
    </p:bg>
    <p:spTree>
      <p:nvGrpSpPr>
        <p:cNvPr id="1" name=""/>
        <p:cNvGrpSpPr/>
        <p:nvPr/>
      </p:nvGrpSpPr>
      <p:grpSpPr>
        <a:xfrm>
          <a:off x="0" y="0"/>
          <a:ext cx="0" cy="0"/>
          <a:chOff x="0" y="0"/>
          <a:chExt cx="0" cy="0"/>
        </a:xfrm>
      </p:grpSpPr>
      <p:sp>
        <p:nvSpPr>
          <p:cNvPr id="2" name="Shape 0"/>
          <p:cNvSpPr/>
          <p:nvPr/>
        </p:nvSpPr>
        <p:spPr>
          <a:xfrm>
            <a:off x="9784080" y="-1097280"/>
            <a:ext cx="4114800" cy="4114800"/>
          </a:xfrm>
          <a:prstGeom prst="ellipse">
            <a:avLst/>
          </a:prstGeom>
          <a:solidFill>
            <a:srgbClr val="1F2937"/>
          </a:solidFill>
          <a:ln/>
        </p:spPr>
        <p:txBody>
          <a:bodyPr/>
          <a:lstStyle/>
          <a:p>
            <a:endParaRPr lang="en-GB"/>
          </a:p>
        </p:txBody>
      </p:sp>
      <p:sp>
        <p:nvSpPr>
          <p:cNvPr id="3" name="Text 1"/>
          <p:cNvSpPr/>
          <p:nvPr/>
        </p:nvSpPr>
        <p:spPr>
          <a:xfrm>
            <a:off x="822960" y="1371600"/>
            <a:ext cx="73152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Riepilogo</a:t>
            </a:r>
            <a:endParaRPr lang="en-US" sz="4000" dirty="0"/>
          </a:p>
        </p:txBody>
      </p:sp>
      <p:sp>
        <p:nvSpPr>
          <p:cNvPr id="4" name="Text 2"/>
          <p:cNvSpPr/>
          <p:nvPr/>
        </p:nvSpPr>
        <p:spPr>
          <a:xfrm>
            <a:off x="822960" y="2468880"/>
            <a:ext cx="2468880" cy="822960"/>
          </a:xfrm>
          <a:prstGeom prst="rect">
            <a:avLst/>
          </a:prstGeom>
          <a:noFill/>
          <a:ln/>
        </p:spPr>
        <p:txBody>
          <a:bodyPr wrap="square" lIns="0" tIns="0" rIns="0" bIns="0" rtlCol="0" anchor="ctr"/>
          <a:lstStyle/>
          <a:p>
            <a:pPr marL="0" indent="0" algn="l">
              <a:buNone/>
            </a:pPr>
            <a:r>
              <a:rPr lang="en-US" sz="4200" b="1" dirty="0">
                <a:solidFill>
                  <a:srgbClr val="2DD4BF"/>
                </a:solidFill>
                <a:latin typeface="Cambria" pitchFamily="34" charset="0"/>
                <a:ea typeface="Cambria" pitchFamily="34" charset="-122"/>
                <a:cs typeface="Cambria" pitchFamily="34" charset="-120"/>
              </a:rPr>
              <a:t>1130</a:t>
            </a:r>
            <a:endParaRPr lang="en-US" sz="4200" dirty="0"/>
          </a:p>
        </p:txBody>
      </p:sp>
      <p:sp>
        <p:nvSpPr>
          <p:cNvPr id="5" name="Text 3"/>
          <p:cNvSpPr/>
          <p:nvPr/>
        </p:nvSpPr>
        <p:spPr>
          <a:xfrm>
            <a:off x="822960" y="3337560"/>
            <a:ext cx="2468880" cy="548640"/>
          </a:xfrm>
          <a:prstGeom prst="rect">
            <a:avLst/>
          </a:prstGeom>
          <a:noFill/>
          <a:ln/>
        </p:spPr>
        <p:txBody>
          <a:bodyPr wrap="square" lIns="0" tIns="0" rIns="0" bIns="0" rtlCol="0" anchor="ctr"/>
          <a:lstStyle/>
          <a:p>
            <a:pPr marL="0" indent="0" algn="l">
              <a:buNone/>
            </a:pPr>
            <a:r>
              <a:rPr lang="en-US" sz="1250" dirty="0">
                <a:solidFill>
                  <a:srgbClr val="C9D2DE"/>
                </a:solidFill>
                <a:latin typeface="Calibri" pitchFamily="34" charset="0"/>
                <a:ea typeface="Calibri" pitchFamily="34" charset="-122"/>
                <a:cs typeface="Calibri" pitchFamily="34" charset="-120"/>
              </a:rPr>
              <a:t>righe nel compilatore</a:t>
            </a:r>
            <a:endParaRPr lang="en-US" sz="1250" dirty="0"/>
          </a:p>
        </p:txBody>
      </p:sp>
      <p:sp>
        <p:nvSpPr>
          <p:cNvPr id="6" name="Text 4"/>
          <p:cNvSpPr/>
          <p:nvPr/>
        </p:nvSpPr>
        <p:spPr>
          <a:xfrm>
            <a:off x="3566160" y="2468880"/>
            <a:ext cx="2468880" cy="822960"/>
          </a:xfrm>
          <a:prstGeom prst="rect">
            <a:avLst/>
          </a:prstGeom>
          <a:noFill/>
          <a:ln/>
        </p:spPr>
        <p:txBody>
          <a:bodyPr wrap="square" lIns="0" tIns="0" rIns="0" bIns="0" rtlCol="0" anchor="ctr"/>
          <a:lstStyle/>
          <a:p>
            <a:pPr marL="0" indent="0" algn="l">
              <a:buNone/>
            </a:pPr>
            <a:r>
              <a:rPr lang="en-US" sz="4200" b="1" dirty="0">
                <a:solidFill>
                  <a:srgbClr val="2DD4BF"/>
                </a:solidFill>
                <a:latin typeface="Cambria" pitchFamily="34" charset="0"/>
                <a:ea typeface="Cambria" pitchFamily="34" charset="-122"/>
                <a:cs typeface="Cambria" pitchFamily="34" charset="-120"/>
              </a:rPr>
              <a:t>8</a:t>
            </a:r>
            <a:endParaRPr lang="en-US" sz="4200" dirty="0"/>
          </a:p>
        </p:txBody>
      </p:sp>
      <p:sp>
        <p:nvSpPr>
          <p:cNvPr id="7" name="Text 5"/>
          <p:cNvSpPr/>
          <p:nvPr/>
        </p:nvSpPr>
        <p:spPr>
          <a:xfrm>
            <a:off x="3566160" y="3337560"/>
            <a:ext cx="2468880" cy="548640"/>
          </a:xfrm>
          <a:prstGeom prst="rect">
            <a:avLst/>
          </a:prstGeom>
          <a:noFill/>
          <a:ln/>
        </p:spPr>
        <p:txBody>
          <a:bodyPr wrap="square" lIns="0" tIns="0" rIns="0" bIns="0" rtlCol="0" anchor="ctr"/>
          <a:lstStyle/>
          <a:p>
            <a:pPr marL="0" indent="0" algn="l">
              <a:buNone/>
            </a:pPr>
            <a:r>
              <a:rPr lang="en-US" sz="1250" dirty="0">
                <a:solidFill>
                  <a:srgbClr val="C9D2DE"/>
                </a:solidFill>
                <a:latin typeface="Calibri" pitchFamily="34" charset="0"/>
                <a:ea typeface="Calibri" pitchFamily="34" charset="-122"/>
                <a:cs typeface="Calibri" pitchFamily="34" charset="-120"/>
              </a:rPr>
              <a:t>sezioni del codice</a:t>
            </a:r>
            <a:endParaRPr lang="en-US" sz="1250" dirty="0"/>
          </a:p>
        </p:txBody>
      </p:sp>
      <p:sp>
        <p:nvSpPr>
          <p:cNvPr id="8" name="Text 6"/>
          <p:cNvSpPr/>
          <p:nvPr/>
        </p:nvSpPr>
        <p:spPr>
          <a:xfrm>
            <a:off x="6309360" y="2468880"/>
            <a:ext cx="2468880" cy="822960"/>
          </a:xfrm>
          <a:prstGeom prst="rect">
            <a:avLst/>
          </a:prstGeom>
          <a:noFill/>
          <a:ln/>
        </p:spPr>
        <p:txBody>
          <a:bodyPr wrap="square" lIns="0" tIns="0" rIns="0" bIns="0" rtlCol="0" anchor="ctr"/>
          <a:lstStyle/>
          <a:p>
            <a:pPr marL="0" indent="0" algn="l">
              <a:buNone/>
            </a:pPr>
            <a:r>
              <a:rPr lang="en-US" sz="4200" b="1" dirty="0">
                <a:solidFill>
                  <a:srgbClr val="2DD4BF"/>
                </a:solidFill>
                <a:latin typeface="Cambria" pitchFamily="34" charset="0"/>
                <a:ea typeface="Cambria" pitchFamily="34" charset="-122"/>
                <a:cs typeface="Cambria" pitchFamily="34" charset="-120"/>
              </a:rPr>
              <a:t>43</a:t>
            </a:r>
            <a:endParaRPr lang="en-US" sz="4200" dirty="0"/>
          </a:p>
        </p:txBody>
      </p:sp>
      <p:sp>
        <p:nvSpPr>
          <p:cNvPr id="9" name="Text 7"/>
          <p:cNvSpPr/>
          <p:nvPr/>
        </p:nvSpPr>
        <p:spPr>
          <a:xfrm>
            <a:off x="6309360" y="3337560"/>
            <a:ext cx="2468880" cy="548640"/>
          </a:xfrm>
          <a:prstGeom prst="rect">
            <a:avLst/>
          </a:prstGeom>
          <a:noFill/>
          <a:ln/>
        </p:spPr>
        <p:txBody>
          <a:bodyPr wrap="square" lIns="0" tIns="0" rIns="0" bIns="0" rtlCol="0" anchor="ctr"/>
          <a:lstStyle/>
          <a:p>
            <a:pPr marL="0" indent="0" algn="l">
              <a:buNone/>
            </a:pPr>
            <a:r>
              <a:rPr lang="en-US" sz="1250" dirty="0">
                <a:solidFill>
                  <a:srgbClr val="C9D2DE"/>
                </a:solidFill>
                <a:latin typeface="Calibri" pitchFamily="34" charset="0"/>
                <a:ea typeface="Calibri" pitchFamily="34" charset="-122"/>
                <a:cs typeface="Calibri" pitchFamily="34" charset="-120"/>
              </a:rPr>
              <a:t>test automatizzati</a:t>
            </a:r>
            <a:endParaRPr lang="en-US" sz="1250" dirty="0"/>
          </a:p>
        </p:txBody>
      </p:sp>
      <p:sp>
        <p:nvSpPr>
          <p:cNvPr id="10" name="Text 8"/>
          <p:cNvSpPr/>
          <p:nvPr/>
        </p:nvSpPr>
        <p:spPr>
          <a:xfrm>
            <a:off x="9052560" y="2468880"/>
            <a:ext cx="2468880" cy="822960"/>
          </a:xfrm>
          <a:prstGeom prst="rect">
            <a:avLst/>
          </a:prstGeom>
          <a:noFill/>
          <a:ln/>
        </p:spPr>
        <p:txBody>
          <a:bodyPr wrap="square" lIns="0" tIns="0" rIns="0" bIns="0" rtlCol="0" anchor="ctr"/>
          <a:lstStyle/>
          <a:p>
            <a:pPr marL="0" indent="0" algn="l">
              <a:buNone/>
            </a:pPr>
            <a:r>
              <a:rPr lang="en-US" sz="4200" b="1" dirty="0">
                <a:solidFill>
                  <a:srgbClr val="2DD4BF"/>
                </a:solidFill>
                <a:latin typeface="Cambria" pitchFamily="34" charset="0"/>
                <a:ea typeface="Cambria" pitchFamily="34" charset="-122"/>
                <a:cs typeface="Cambria" pitchFamily="34" charset="-120"/>
              </a:rPr>
              <a:t>9</a:t>
            </a:r>
            <a:endParaRPr lang="en-US" sz="4200" dirty="0"/>
          </a:p>
        </p:txBody>
      </p:sp>
      <p:sp>
        <p:nvSpPr>
          <p:cNvPr id="11" name="Text 9"/>
          <p:cNvSpPr/>
          <p:nvPr/>
        </p:nvSpPr>
        <p:spPr>
          <a:xfrm>
            <a:off x="9052560" y="3337560"/>
            <a:ext cx="2468880" cy="548640"/>
          </a:xfrm>
          <a:prstGeom prst="rect">
            <a:avLst/>
          </a:prstGeom>
          <a:noFill/>
          <a:ln/>
        </p:spPr>
        <p:txBody>
          <a:bodyPr wrap="square" lIns="0" tIns="0" rIns="0" bIns="0" rtlCol="0" anchor="ctr"/>
          <a:lstStyle/>
          <a:p>
            <a:pPr marL="0" indent="0" algn="l">
              <a:buNone/>
            </a:pPr>
            <a:r>
              <a:rPr lang="en-US" sz="1250" dirty="0">
                <a:solidFill>
                  <a:srgbClr val="C9D2DE"/>
                </a:solidFill>
                <a:latin typeface="Calibri" pitchFamily="34" charset="0"/>
                <a:ea typeface="Calibri" pitchFamily="34" charset="-122"/>
                <a:cs typeface="Calibri" pitchFamily="34" charset="-120"/>
              </a:rPr>
              <a:t>errori semantici controllati</a:t>
            </a:r>
            <a:endParaRPr lang="en-US" sz="1250" dirty="0"/>
          </a:p>
        </p:txBody>
      </p:sp>
      <p:sp>
        <p:nvSpPr>
          <p:cNvPr id="12" name="Text 10"/>
          <p:cNvSpPr/>
          <p:nvPr/>
        </p:nvSpPr>
        <p:spPr>
          <a:xfrm>
            <a:off x="822960" y="4754880"/>
            <a:ext cx="10515600" cy="457200"/>
          </a:xfrm>
          <a:prstGeom prst="rect">
            <a:avLst/>
          </a:prstGeom>
          <a:noFill/>
          <a:ln/>
        </p:spPr>
        <p:txBody>
          <a:bodyPr wrap="square" lIns="0" tIns="0" rIns="0" bIns="0" rtlCol="0" anchor="ctr"/>
          <a:lstStyle/>
          <a:p>
            <a:pPr marL="0" indent="0">
              <a:buNone/>
            </a:pPr>
            <a:r>
              <a:rPr lang="en-US" sz="1350" dirty="0">
                <a:solidFill>
                  <a:srgbClr val="8B96A8"/>
                </a:solidFill>
                <a:latin typeface="Courier New" pitchFamily="34" charset="0"/>
                <a:ea typeface="Courier New" pitchFamily="34" charset="-122"/>
                <a:cs typeface="Courier New" pitchFamily="34" charset="-120"/>
              </a:rPr>
              <a:t>Sorgente .cro  →  Lexer/Parser (Lark)  →  AST  →  Analisi Semantica  →  Code Generator  →  C standard</a:t>
            </a:r>
            <a:endParaRPr lang="en-US" sz="1350" dirty="0"/>
          </a:p>
        </p:txBody>
      </p:sp>
      <p:sp>
        <p:nvSpPr>
          <p:cNvPr id="13" name="Text 11"/>
          <p:cNvSpPr/>
          <p:nvPr/>
        </p:nvSpPr>
        <p:spPr>
          <a:xfrm>
            <a:off x="822960" y="5577840"/>
            <a:ext cx="7315200" cy="548640"/>
          </a:xfrm>
          <a:prstGeom prst="rect">
            <a:avLst/>
          </a:prstGeom>
          <a:noFill/>
          <a:ln/>
        </p:spPr>
        <p:txBody>
          <a:bodyPr wrap="square" lIns="0" tIns="0" rIns="0" bIns="0"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Grazie — pronto per le domande.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6392</Words>
  <Application>Microsoft Office PowerPoint</Application>
  <PresentationFormat>Widescreen</PresentationFormat>
  <Paragraphs>758</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Compilatore C-ro — Discussione del Progetto</dc:title>
  <dc:subject>PptxGenJS Presentation</dc:subject>
  <dc:creator>Progetto EILP 2025/26</dc:creator>
  <cp:lastModifiedBy>ALBERTO RUSSO</cp:lastModifiedBy>
  <cp:revision>3</cp:revision>
  <dcterms:created xsi:type="dcterms:W3CDTF">2026-06-21T07:54:58Z</dcterms:created>
  <dcterms:modified xsi:type="dcterms:W3CDTF">2026-06-21T17:53:16Z</dcterms:modified>
</cp:coreProperties>
</file>